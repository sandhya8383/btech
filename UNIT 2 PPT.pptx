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308" r:id="rId4"/>
    <p:sldId id="309" r:id="rId5"/>
    <p:sldId id="310" r:id="rId6"/>
    <p:sldId id="311" r:id="rId7"/>
    <p:sldId id="264" r:id="rId8"/>
    <p:sldId id="265" r:id="rId9"/>
    <p:sldId id="266" r:id="rId10"/>
    <p:sldId id="306" r:id="rId11"/>
    <p:sldId id="307" r:id="rId12"/>
    <p:sldId id="269" r:id="rId13"/>
    <p:sldId id="273" r:id="rId14"/>
    <p:sldId id="275" r:id="rId15"/>
    <p:sldId id="274" r:id="rId16"/>
    <p:sldId id="277" r:id="rId17"/>
    <p:sldId id="317" r:id="rId18"/>
    <p:sldId id="286" r:id="rId19"/>
    <p:sldId id="312" r:id="rId20"/>
    <p:sldId id="313" r:id="rId21"/>
    <p:sldId id="290" r:id="rId22"/>
    <p:sldId id="291" r:id="rId23"/>
    <p:sldId id="292" r:id="rId24"/>
    <p:sldId id="293" r:id="rId25"/>
    <p:sldId id="294" r:id="rId26"/>
    <p:sldId id="295" r:id="rId27"/>
    <p:sldId id="297" r:id="rId28"/>
    <p:sldId id="298" r:id="rId29"/>
    <p:sldId id="299" r:id="rId30"/>
    <p:sldId id="300" r:id="rId31"/>
    <p:sldId id="301" r:id="rId32"/>
    <p:sldId id="302" r:id="rId33"/>
    <p:sldId id="314" r:id="rId34"/>
    <p:sldId id="315" r:id="rId35"/>
    <p:sldId id="305" r:id="rId36"/>
    <p:sldId id="316"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77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5616C-2E26-471C-BBBA-10B7DAC26F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01E8FED-F52A-4568-8B02-0E5B48AD2E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AE0E0BF-099C-4836-A129-7F81EA087A9E}"/>
              </a:ext>
            </a:extLst>
          </p:cNvPr>
          <p:cNvSpPr>
            <a:spLocks noGrp="1"/>
          </p:cNvSpPr>
          <p:nvPr>
            <p:ph type="dt" sz="half" idx="10"/>
          </p:nvPr>
        </p:nvSpPr>
        <p:spPr/>
        <p:txBody>
          <a:bodyPr/>
          <a:lstStyle/>
          <a:p>
            <a:fld id="{44EC2E29-D2E0-4F60-AE81-B09BB2BD08B0}" type="datetimeFigureOut">
              <a:rPr lang="en-IN" smtClean="0"/>
              <a:t>20-08-2025</a:t>
            </a:fld>
            <a:endParaRPr lang="en-IN"/>
          </a:p>
        </p:txBody>
      </p:sp>
      <p:sp>
        <p:nvSpPr>
          <p:cNvPr id="5" name="Footer Placeholder 4">
            <a:extLst>
              <a:ext uri="{FF2B5EF4-FFF2-40B4-BE49-F238E27FC236}">
                <a16:creationId xmlns:a16="http://schemas.microsoft.com/office/drawing/2014/main" id="{09E9BABE-CE9B-4415-BD72-A29042575A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CF3400-5D37-4989-BF70-9D3FB09A632E}"/>
              </a:ext>
            </a:extLst>
          </p:cNvPr>
          <p:cNvSpPr>
            <a:spLocks noGrp="1"/>
          </p:cNvSpPr>
          <p:nvPr>
            <p:ph type="sldNum" sz="quarter" idx="12"/>
          </p:nvPr>
        </p:nvSpPr>
        <p:spPr/>
        <p:txBody>
          <a:bodyPr/>
          <a:lstStyle/>
          <a:p>
            <a:fld id="{ED81C67D-A6DB-49ED-AE05-6A568B86E1FA}" type="slidenum">
              <a:rPr lang="en-IN" smtClean="0"/>
              <a:t>‹#›</a:t>
            </a:fld>
            <a:endParaRPr lang="en-IN"/>
          </a:p>
        </p:txBody>
      </p:sp>
    </p:spTree>
    <p:extLst>
      <p:ext uri="{BB962C8B-B14F-4D97-AF65-F5344CB8AC3E}">
        <p14:creationId xmlns:p14="http://schemas.microsoft.com/office/powerpoint/2010/main" val="1712733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6A987-06C0-41A7-AA64-658E7EE2ED4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77B93C4-E79F-4765-A9C2-DB4CB673C6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76B9B4-CB85-4094-B7A8-68C6CAC40720}"/>
              </a:ext>
            </a:extLst>
          </p:cNvPr>
          <p:cNvSpPr>
            <a:spLocks noGrp="1"/>
          </p:cNvSpPr>
          <p:nvPr>
            <p:ph type="dt" sz="half" idx="10"/>
          </p:nvPr>
        </p:nvSpPr>
        <p:spPr/>
        <p:txBody>
          <a:bodyPr/>
          <a:lstStyle/>
          <a:p>
            <a:fld id="{44EC2E29-D2E0-4F60-AE81-B09BB2BD08B0}" type="datetimeFigureOut">
              <a:rPr lang="en-IN" smtClean="0"/>
              <a:t>20-08-2025</a:t>
            </a:fld>
            <a:endParaRPr lang="en-IN"/>
          </a:p>
        </p:txBody>
      </p:sp>
      <p:sp>
        <p:nvSpPr>
          <p:cNvPr id="5" name="Footer Placeholder 4">
            <a:extLst>
              <a:ext uri="{FF2B5EF4-FFF2-40B4-BE49-F238E27FC236}">
                <a16:creationId xmlns:a16="http://schemas.microsoft.com/office/drawing/2014/main" id="{52C382CA-E809-47B2-8619-B952179C5C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8039B4-7970-4CD8-9F49-157E3CC77234}"/>
              </a:ext>
            </a:extLst>
          </p:cNvPr>
          <p:cNvSpPr>
            <a:spLocks noGrp="1"/>
          </p:cNvSpPr>
          <p:nvPr>
            <p:ph type="sldNum" sz="quarter" idx="12"/>
          </p:nvPr>
        </p:nvSpPr>
        <p:spPr/>
        <p:txBody>
          <a:bodyPr/>
          <a:lstStyle/>
          <a:p>
            <a:fld id="{ED81C67D-A6DB-49ED-AE05-6A568B86E1FA}" type="slidenum">
              <a:rPr lang="en-IN" smtClean="0"/>
              <a:t>‹#›</a:t>
            </a:fld>
            <a:endParaRPr lang="en-IN"/>
          </a:p>
        </p:txBody>
      </p:sp>
    </p:spTree>
    <p:extLst>
      <p:ext uri="{BB962C8B-B14F-4D97-AF65-F5344CB8AC3E}">
        <p14:creationId xmlns:p14="http://schemas.microsoft.com/office/powerpoint/2010/main" val="1920626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CAA50-EDE9-4CAF-A0B0-F78183CF7A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B211534-B478-4BD1-B545-5D1B3355D2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1591AF-87D5-4ABC-A6C0-D19B4433C8C4}"/>
              </a:ext>
            </a:extLst>
          </p:cNvPr>
          <p:cNvSpPr>
            <a:spLocks noGrp="1"/>
          </p:cNvSpPr>
          <p:nvPr>
            <p:ph type="dt" sz="half" idx="10"/>
          </p:nvPr>
        </p:nvSpPr>
        <p:spPr/>
        <p:txBody>
          <a:bodyPr/>
          <a:lstStyle/>
          <a:p>
            <a:fld id="{44EC2E29-D2E0-4F60-AE81-B09BB2BD08B0}" type="datetimeFigureOut">
              <a:rPr lang="en-IN" smtClean="0"/>
              <a:t>20-08-2025</a:t>
            </a:fld>
            <a:endParaRPr lang="en-IN"/>
          </a:p>
        </p:txBody>
      </p:sp>
      <p:sp>
        <p:nvSpPr>
          <p:cNvPr id="5" name="Footer Placeholder 4">
            <a:extLst>
              <a:ext uri="{FF2B5EF4-FFF2-40B4-BE49-F238E27FC236}">
                <a16:creationId xmlns:a16="http://schemas.microsoft.com/office/drawing/2014/main" id="{69A6C36C-69F1-468B-A59B-E95AAD7AF2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A7A3F3-A5A9-4C13-9C1C-4B3AE58E8F4C}"/>
              </a:ext>
            </a:extLst>
          </p:cNvPr>
          <p:cNvSpPr>
            <a:spLocks noGrp="1"/>
          </p:cNvSpPr>
          <p:nvPr>
            <p:ph type="sldNum" sz="quarter" idx="12"/>
          </p:nvPr>
        </p:nvSpPr>
        <p:spPr/>
        <p:txBody>
          <a:bodyPr/>
          <a:lstStyle/>
          <a:p>
            <a:fld id="{ED81C67D-A6DB-49ED-AE05-6A568B86E1FA}" type="slidenum">
              <a:rPr lang="en-IN" smtClean="0"/>
              <a:t>‹#›</a:t>
            </a:fld>
            <a:endParaRPr lang="en-IN"/>
          </a:p>
        </p:txBody>
      </p:sp>
    </p:spTree>
    <p:extLst>
      <p:ext uri="{BB962C8B-B14F-4D97-AF65-F5344CB8AC3E}">
        <p14:creationId xmlns:p14="http://schemas.microsoft.com/office/powerpoint/2010/main" val="1696131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45F26-FF7E-4A32-956E-0B32F94D87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1A422D1-34EF-4BA0-A8A6-85528C8775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5CCF625-89BF-4BB8-9AFC-D4A57BD518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B6A5CD3-BFF2-4B74-87F7-B98735F4FCD9}"/>
              </a:ext>
            </a:extLst>
          </p:cNvPr>
          <p:cNvSpPr>
            <a:spLocks noGrp="1"/>
          </p:cNvSpPr>
          <p:nvPr>
            <p:ph type="dt" sz="half" idx="10"/>
          </p:nvPr>
        </p:nvSpPr>
        <p:spPr/>
        <p:txBody>
          <a:bodyPr/>
          <a:lstStyle/>
          <a:p>
            <a:fld id="{44EC2E29-D2E0-4F60-AE81-B09BB2BD08B0}" type="datetimeFigureOut">
              <a:rPr lang="en-IN" smtClean="0"/>
              <a:t>20-08-2025</a:t>
            </a:fld>
            <a:endParaRPr lang="en-IN"/>
          </a:p>
        </p:txBody>
      </p:sp>
      <p:sp>
        <p:nvSpPr>
          <p:cNvPr id="6" name="Footer Placeholder 5">
            <a:extLst>
              <a:ext uri="{FF2B5EF4-FFF2-40B4-BE49-F238E27FC236}">
                <a16:creationId xmlns:a16="http://schemas.microsoft.com/office/drawing/2014/main" id="{5182475B-BC5B-471D-B414-F3CF9FB8F3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BEE2CA6-78DF-4436-B651-604EDC7883F6}"/>
              </a:ext>
            </a:extLst>
          </p:cNvPr>
          <p:cNvSpPr>
            <a:spLocks noGrp="1"/>
          </p:cNvSpPr>
          <p:nvPr>
            <p:ph type="sldNum" sz="quarter" idx="12"/>
          </p:nvPr>
        </p:nvSpPr>
        <p:spPr/>
        <p:txBody>
          <a:bodyPr/>
          <a:lstStyle/>
          <a:p>
            <a:fld id="{ED81C67D-A6DB-49ED-AE05-6A568B86E1FA}" type="slidenum">
              <a:rPr lang="en-IN" smtClean="0"/>
              <a:t>‹#›</a:t>
            </a:fld>
            <a:endParaRPr lang="en-IN"/>
          </a:p>
        </p:txBody>
      </p:sp>
    </p:spTree>
    <p:extLst>
      <p:ext uri="{BB962C8B-B14F-4D97-AF65-F5344CB8AC3E}">
        <p14:creationId xmlns:p14="http://schemas.microsoft.com/office/powerpoint/2010/main" val="1255160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A73A1-42C6-4EF4-A2EC-421D2F00447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766F7A-DAAB-40BE-8686-CD6F0B1000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9A9315-BF54-4F17-9B03-D588575796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1702903-9828-47A4-981F-4DA03390A2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021143-B136-41DE-BD62-809F7B7A2B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4819BAD-7ECE-4A4C-9BDA-1926E9A9A851}"/>
              </a:ext>
            </a:extLst>
          </p:cNvPr>
          <p:cNvSpPr>
            <a:spLocks noGrp="1"/>
          </p:cNvSpPr>
          <p:nvPr>
            <p:ph type="dt" sz="half" idx="10"/>
          </p:nvPr>
        </p:nvSpPr>
        <p:spPr/>
        <p:txBody>
          <a:bodyPr/>
          <a:lstStyle/>
          <a:p>
            <a:fld id="{44EC2E29-D2E0-4F60-AE81-B09BB2BD08B0}" type="datetimeFigureOut">
              <a:rPr lang="en-IN" smtClean="0"/>
              <a:t>20-08-2025</a:t>
            </a:fld>
            <a:endParaRPr lang="en-IN"/>
          </a:p>
        </p:txBody>
      </p:sp>
      <p:sp>
        <p:nvSpPr>
          <p:cNvPr id="8" name="Footer Placeholder 7">
            <a:extLst>
              <a:ext uri="{FF2B5EF4-FFF2-40B4-BE49-F238E27FC236}">
                <a16:creationId xmlns:a16="http://schemas.microsoft.com/office/drawing/2014/main" id="{7F5FBC86-14D9-4F4F-B95B-FD0E17A6DD2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7C88497-6F3F-4C9E-8B87-21371C6C7173}"/>
              </a:ext>
            </a:extLst>
          </p:cNvPr>
          <p:cNvSpPr>
            <a:spLocks noGrp="1"/>
          </p:cNvSpPr>
          <p:nvPr>
            <p:ph type="sldNum" sz="quarter" idx="12"/>
          </p:nvPr>
        </p:nvSpPr>
        <p:spPr/>
        <p:txBody>
          <a:bodyPr/>
          <a:lstStyle/>
          <a:p>
            <a:fld id="{ED81C67D-A6DB-49ED-AE05-6A568B86E1FA}" type="slidenum">
              <a:rPr lang="en-IN" smtClean="0"/>
              <a:t>‹#›</a:t>
            </a:fld>
            <a:endParaRPr lang="en-IN"/>
          </a:p>
        </p:txBody>
      </p:sp>
    </p:spTree>
    <p:extLst>
      <p:ext uri="{BB962C8B-B14F-4D97-AF65-F5344CB8AC3E}">
        <p14:creationId xmlns:p14="http://schemas.microsoft.com/office/powerpoint/2010/main" val="3157314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FE55D-B055-410B-873B-935C10F85D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0E75CDB-9576-444B-AEC7-835A0BA0028F}"/>
              </a:ext>
            </a:extLst>
          </p:cNvPr>
          <p:cNvSpPr>
            <a:spLocks noGrp="1"/>
          </p:cNvSpPr>
          <p:nvPr>
            <p:ph type="dt" sz="half" idx="10"/>
          </p:nvPr>
        </p:nvSpPr>
        <p:spPr/>
        <p:txBody>
          <a:bodyPr/>
          <a:lstStyle/>
          <a:p>
            <a:fld id="{44EC2E29-D2E0-4F60-AE81-B09BB2BD08B0}" type="datetimeFigureOut">
              <a:rPr lang="en-IN" smtClean="0"/>
              <a:t>20-08-2025</a:t>
            </a:fld>
            <a:endParaRPr lang="en-IN"/>
          </a:p>
        </p:txBody>
      </p:sp>
      <p:sp>
        <p:nvSpPr>
          <p:cNvPr id="4" name="Footer Placeholder 3">
            <a:extLst>
              <a:ext uri="{FF2B5EF4-FFF2-40B4-BE49-F238E27FC236}">
                <a16:creationId xmlns:a16="http://schemas.microsoft.com/office/drawing/2014/main" id="{9AEE6117-F600-4224-BB21-7D534214E7F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7364F46-E939-4219-A903-F85A941F91C2}"/>
              </a:ext>
            </a:extLst>
          </p:cNvPr>
          <p:cNvSpPr>
            <a:spLocks noGrp="1"/>
          </p:cNvSpPr>
          <p:nvPr>
            <p:ph type="sldNum" sz="quarter" idx="12"/>
          </p:nvPr>
        </p:nvSpPr>
        <p:spPr/>
        <p:txBody>
          <a:bodyPr/>
          <a:lstStyle/>
          <a:p>
            <a:fld id="{ED81C67D-A6DB-49ED-AE05-6A568B86E1FA}" type="slidenum">
              <a:rPr lang="en-IN" smtClean="0"/>
              <a:t>‹#›</a:t>
            </a:fld>
            <a:endParaRPr lang="en-IN"/>
          </a:p>
        </p:txBody>
      </p:sp>
    </p:spTree>
    <p:extLst>
      <p:ext uri="{BB962C8B-B14F-4D97-AF65-F5344CB8AC3E}">
        <p14:creationId xmlns:p14="http://schemas.microsoft.com/office/powerpoint/2010/main" val="1029081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C23B42-FCCC-4E46-A818-0D7C5F3A1C0A}"/>
              </a:ext>
            </a:extLst>
          </p:cNvPr>
          <p:cNvSpPr>
            <a:spLocks noGrp="1"/>
          </p:cNvSpPr>
          <p:nvPr>
            <p:ph type="dt" sz="half" idx="10"/>
          </p:nvPr>
        </p:nvSpPr>
        <p:spPr/>
        <p:txBody>
          <a:bodyPr/>
          <a:lstStyle/>
          <a:p>
            <a:fld id="{44EC2E29-D2E0-4F60-AE81-B09BB2BD08B0}" type="datetimeFigureOut">
              <a:rPr lang="en-IN" smtClean="0"/>
              <a:t>20-08-2025</a:t>
            </a:fld>
            <a:endParaRPr lang="en-IN"/>
          </a:p>
        </p:txBody>
      </p:sp>
      <p:sp>
        <p:nvSpPr>
          <p:cNvPr id="3" name="Footer Placeholder 2">
            <a:extLst>
              <a:ext uri="{FF2B5EF4-FFF2-40B4-BE49-F238E27FC236}">
                <a16:creationId xmlns:a16="http://schemas.microsoft.com/office/drawing/2014/main" id="{65D97AD4-58A4-44F7-817B-C2FACCCF452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B72EB7A-D180-433D-A04C-C86AF8D0CBFE}"/>
              </a:ext>
            </a:extLst>
          </p:cNvPr>
          <p:cNvSpPr>
            <a:spLocks noGrp="1"/>
          </p:cNvSpPr>
          <p:nvPr>
            <p:ph type="sldNum" sz="quarter" idx="12"/>
          </p:nvPr>
        </p:nvSpPr>
        <p:spPr/>
        <p:txBody>
          <a:bodyPr/>
          <a:lstStyle/>
          <a:p>
            <a:fld id="{ED81C67D-A6DB-49ED-AE05-6A568B86E1FA}" type="slidenum">
              <a:rPr lang="en-IN" smtClean="0"/>
              <a:t>‹#›</a:t>
            </a:fld>
            <a:endParaRPr lang="en-IN"/>
          </a:p>
        </p:txBody>
      </p:sp>
    </p:spTree>
    <p:extLst>
      <p:ext uri="{BB962C8B-B14F-4D97-AF65-F5344CB8AC3E}">
        <p14:creationId xmlns:p14="http://schemas.microsoft.com/office/powerpoint/2010/main" val="3943765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C036D-689E-4573-AC06-BB257F68B9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3B1BBF2-58D9-428B-9DFD-D6E08ECD50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E31C0A1-919A-4E5B-AB22-8E89A1B2A0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A83ADE-61E8-4C68-BADB-49AE3FAF18D4}"/>
              </a:ext>
            </a:extLst>
          </p:cNvPr>
          <p:cNvSpPr>
            <a:spLocks noGrp="1"/>
          </p:cNvSpPr>
          <p:nvPr>
            <p:ph type="dt" sz="half" idx="10"/>
          </p:nvPr>
        </p:nvSpPr>
        <p:spPr/>
        <p:txBody>
          <a:bodyPr/>
          <a:lstStyle/>
          <a:p>
            <a:fld id="{44EC2E29-D2E0-4F60-AE81-B09BB2BD08B0}" type="datetimeFigureOut">
              <a:rPr lang="en-IN" smtClean="0"/>
              <a:t>20-08-2025</a:t>
            </a:fld>
            <a:endParaRPr lang="en-IN"/>
          </a:p>
        </p:txBody>
      </p:sp>
      <p:sp>
        <p:nvSpPr>
          <p:cNvPr id="6" name="Footer Placeholder 5">
            <a:extLst>
              <a:ext uri="{FF2B5EF4-FFF2-40B4-BE49-F238E27FC236}">
                <a16:creationId xmlns:a16="http://schemas.microsoft.com/office/drawing/2014/main" id="{7BCD9742-63B0-4421-87C7-3FB0726EC1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24C37E-43EB-4E2F-A60A-0D96EE2EF256}"/>
              </a:ext>
            </a:extLst>
          </p:cNvPr>
          <p:cNvSpPr>
            <a:spLocks noGrp="1"/>
          </p:cNvSpPr>
          <p:nvPr>
            <p:ph type="sldNum" sz="quarter" idx="12"/>
          </p:nvPr>
        </p:nvSpPr>
        <p:spPr/>
        <p:txBody>
          <a:bodyPr/>
          <a:lstStyle/>
          <a:p>
            <a:fld id="{ED81C67D-A6DB-49ED-AE05-6A568B86E1FA}" type="slidenum">
              <a:rPr lang="en-IN" smtClean="0"/>
              <a:t>‹#›</a:t>
            </a:fld>
            <a:endParaRPr lang="en-IN"/>
          </a:p>
        </p:txBody>
      </p:sp>
    </p:spTree>
    <p:extLst>
      <p:ext uri="{BB962C8B-B14F-4D97-AF65-F5344CB8AC3E}">
        <p14:creationId xmlns:p14="http://schemas.microsoft.com/office/powerpoint/2010/main" val="9751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7A28A-2E01-43E6-9E09-342DE56550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FF980B6-CFE3-4B2F-A832-27E4ADB618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678B415-5EF6-46DD-BA4B-C05979531F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7D025A-7784-4902-B170-95581BCAD097}"/>
              </a:ext>
            </a:extLst>
          </p:cNvPr>
          <p:cNvSpPr>
            <a:spLocks noGrp="1"/>
          </p:cNvSpPr>
          <p:nvPr>
            <p:ph type="dt" sz="half" idx="10"/>
          </p:nvPr>
        </p:nvSpPr>
        <p:spPr/>
        <p:txBody>
          <a:bodyPr/>
          <a:lstStyle/>
          <a:p>
            <a:fld id="{44EC2E29-D2E0-4F60-AE81-B09BB2BD08B0}" type="datetimeFigureOut">
              <a:rPr lang="en-IN" smtClean="0"/>
              <a:t>20-08-2025</a:t>
            </a:fld>
            <a:endParaRPr lang="en-IN"/>
          </a:p>
        </p:txBody>
      </p:sp>
      <p:sp>
        <p:nvSpPr>
          <p:cNvPr id="6" name="Footer Placeholder 5">
            <a:extLst>
              <a:ext uri="{FF2B5EF4-FFF2-40B4-BE49-F238E27FC236}">
                <a16:creationId xmlns:a16="http://schemas.microsoft.com/office/drawing/2014/main" id="{CA972C7A-61C1-4485-A86C-9E9266C57D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80D050-BE67-439C-B25D-5FA468AF3461}"/>
              </a:ext>
            </a:extLst>
          </p:cNvPr>
          <p:cNvSpPr>
            <a:spLocks noGrp="1"/>
          </p:cNvSpPr>
          <p:nvPr>
            <p:ph type="sldNum" sz="quarter" idx="12"/>
          </p:nvPr>
        </p:nvSpPr>
        <p:spPr/>
        <p:txBody>
          <a:bodyPr/>
          <a:lstStyle/>
          <a:p>
            <a:fld id="{ED81C67D-A6DB-49ED-AE05-6A568B86E1FA}" type="slidenum">
              <a:rPr lang="en-IN" smtClean="0"/>
              <a:t>‹#›</a:t>
            </a:fld>
            <a:endParaRPr lang="en-IN"/>
          </a:p>
        </p:txBody>
      </p:sp>
    </p:spTree>
    <p:extLst>
      <p:ext uri="{BB962C8B-B14F-4D97-AF65-F5344CB8AC3E}">
        <p14:creationId xmlns:p14="http://schemas.microsoft.com/office/powerpoint/2010/main" val="1806400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86AFE-37B5-4121-AAA8-B57777E230B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51A3D09-9A11-4BF4-B178-683BE6D352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9DCC01-3B12-4775-B0BD-B8265633A236}"/>
              </a:ext>
            </a:extLst>
          </p:cNvPr>
          <p:cNvSpPr>
            <a:spLocks noGrp="1"/>
          </p:cNvSpPr>
          <p:nvPr>
            <p:ph type="dt" sz="half" idx="10"/>
          </p:nvPr>
        </p:nvSpPr>
        <p:spPr/>
        <p:txBody>
          <a:bodyPr/>
          <a:lstStyle/>
          <a:p>
            <a:fld id="{44EC2E29-D2E0-4F60-AE81-B09BB2BD08B0}" type="datetimeFigureOut">
              <a:rPr lang="en-IN" smtClean="0"/>
              <a:t>20-08-2025</a:t>
            </a:fld>
            <a:endParaRPr lang="en-IN"/>
          </a:p>
        </p:txBody>
      </p:sp>
      <p:sp>
        <p:nvSpPr>
          <p:cNvPr id="5" name="Footer Placeholder 4">
            <a:extLst>
              <a:ext uri="{FF2B5EF4-FFF2-40B4-BE49-F238E27FC236}">
                <a16:creationId xmlns:a16="http://schemas.microsoft.com/office/drawing/2014/main" id="{06B66B8B-DDC7-4C58-9267-44A32216E2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E2EBC1-89B2-44C1-A79F-22FB5967D38D}"/>
              </a:ext>
            </a:extLst>
          </p:cNvPr>
          <p:cNvSpPr>
            <a:spLocks noGrp="1"/>
          </p:cNvSpPr>
          <p:nvPr>
            <p:ph type="sldNum" sz="quarter" idx="12"/>
          </p:nvPr>
        </p:nvSpPr>
        <p:spPr/>
        <p:txBody>
          <a:bodyPr/>
          <a:lstStyle/>
          <a:p>
            <a:fld id="{ED81C67D-A6DB-49ED-AE05-6A568B86E1FA}" type="slidenum">
              <a:rPr lang="en-IN" smtClean="0"/>
              <a:t>‹#›</a:t>
            </a:fld>
            <a:endParaRPr lang="en-IN"/>
          </a:p>
        </p:txBody>
      </p:sp>
    </p:spTree>
    <p:extLst>
      <p:ext uri="{BB962C8B-B14F-4D97-AF65-F5344CB8AC3E}">
        <p14:creationId xmlns:p14="http://schemas.microsoft.com/office/powerpoint/2010/main" val="2690730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9ECAFB-1FA1-4216-9DB2-173D3E943E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B34C69-34D6-4B7B-9754-B04E7EFE38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38282F-DF71-40DD-AB1D-1A74F7508176}"/>
              </a:ext>
            </a:extLst>
          </p:cNvPr>
          <p:cNvSpPr>
            <a:spLocks noGrp="1"/>
          </p:cNvSpPr>
          <p:nvPr>
            <p:ph type="dt" sz="half" idx="10"/>
          </p:nvPr>
        </p:nvSpPr>
        <p:spPr/>
        <p:txBody>
          <a:bodyPr/>
          <a:lstStyle/>
          <a:p>
            <a:fld id="{44EC2E29-D2E0-4F60-AE81-B09BB2BD08B0}" type="datetimeFigureOut">
              <a:rPr lang="en-IN" smtClean="0"/>
              <a:t>20-08-2025</a:t>
            </a:fld>
            <a:endParaRPr lang="en-IN"/>
          </a:p>
        </p:txBody>
      </p:sp>
      <p:sp>
        <p:nvSpPr>
          <p:cNvPr id="5" name="Footer Placeholder 4">
            <a:extLst>
              <a:ext uri="{FF2B5EF4-FFF2-40B4-BE49-F238E27FC236}">
                <a16:creationId xmlns:a16="http://schemas.microsoft.com/office/drawing/2014/main" id="{4246BD39-5FED-4E54-AD0A-685EBB8292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88B124-5D6E-4E24-AECC-2A01E777E515}"/>
              </a:ext>
            </a:extLst>
          </p:cNvPr>
          <p:cNvSpPr>
            <a:spLocks noGrp="1"/>
          </p:cNvSpPr>
          <p:nvPr>
            <p:ph type="sldNum" sz="quarter" idx="12"/>
          </p:nvPr>
        </p:nvSpPr>
        <p:spPr/>
        <p:txBody>
          <a:bodyPr/>
          <a:lstStyle/>
          <a:p>
            <a:fld id="{ED81C67D-A6DB-49ED-AE05-6A568B86E1FA}" type="slidenum">
              <a:rPr lang="en-IN" smtClean="0"/>
              <a:t>‹#›</a:t>
            </a:fld>
            <a:endParaRPr lang="en-IN"/>
          </a:p>
        </p:txBody>
      </p:sp>
    </p:spTree>
    <p:extLst>
      <p:ext uri="{BB962C8B-B14F-4D97-AF65-F5344CB8AC3E}">
        <p14:creationId xmlns:p14="http://schemas.microsoft.com/office/powerpoint/2010/main" val="715773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11BDC-6570-4763-8C08-5481A753D8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AE9CB9-2BC2-4628-B79D-E15ACE221E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AAF56B-EF06-4A4B-8074-9390DD3E46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EC2E29-D2E0-4F60-AE81-B09BB2BD08B0}" type="datetimeFigureOut">
              <a:rPr lang="en-IN" smtClean="0"/>
              <a:t>20-08-2025</a:t>
            </a:fld>
            <a:endParaRPr lang="en-IN"/>
          </a:p>
        </p:txBody>
      </p:sp>
      <p:sp>
        <p:nvSpPr>
          <p:cNvPr id="5" name="Footer Placeholder 4">
            <a:extLst>
              <a:ext uri="{FF2B5EF4-FFF2-40B4-BE49-F238E27FC236}">
                <a16:creationId xmlns:a16="http://schemas.microsoft.com/office/drawing/2014/main" id="{D3B2D6ED-1845-454F-94C2-C68047336C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9E65D22-3250-4D44-A025-6D9E25C2B1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81C67D-A6DB-49ED-AE05-6A568B86E1FA}" type="slidenum">
              <a:rPr lang="en-IN" smtClean="0"/>
              <a:t>‹#›</a:t>
            </a:fld>
            <a:endParaRPr lang="en-IN"/>
          </a:p>
        </p:txBody>
      </p:sp>
    </p:spTree>
    <p:extLst>
      <p:ext uri="{BB962C8B-B14F-4D97-AF65-F5344CB8AC3E}">
        <p14:creationId xmlns:p14="http://schemas.microsoft.com/office/powerpoint/2010/main" val="414230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hyperlink" Target="https://targetjobs.co.uk/careers-advice/skills-and-competencies/816322-influencing-skills-inspiring-confidence-in-others" TargetMode="External"/><Relationship Id="rId3" Type="http://schemas.openxmlformats.org/officeDocument/2006/relationships/hyperlink" Target="https://targetjobs.co.uk/careers-advice/skills-and-competencies/300864-creativity-graduate-recruiters-like-fresh-thinking" TargetMode="External"/><Relationship Id="rId7" Type="http://schemas.openxmlformats.org/officeDocument/2006/relationships/hyperlink" Target="https://targetjobs.co.uk/careers-advice/skills-and-competencies/300764-teamwork-its-high-on-the-graduate-recruiters-wishlist" TargetMode="External"/><Relationship Id="rId2" Type="http://schemas.openxmlformats.org/officeDocument/2006/relationships/hyperlink" Target="https://targetjobs.co.uk/careers-advice/skills-and-competencies/668281-analytical-skills-the-ability-to-make-sense-of-data" TargetMode="External"/><Relationship Id="rId1" Type="http://schemas.openxmlformats.org/officeDocument/2006/relationships/slideLayout" Target="../slideLayouts/slideLayout1.xml"/><Relationship Id="rId6" Type="http://schemas.openxmlformats.org/officeDocument/2006/relationships/hyperlink" Target="https://targetjobs.co.uk/careers-advice/skills-and-competencies/452729-resilience-the-ability-to-cope-with-setbacks" TargetMode="External"/><Relationship Id="rId5" Type="http://schemas.openxmlformats.org/officeDocument/2006/relationships/hyperlink" Target="https://targetjobs.co.uk/careers-advice/skills-and-competencies/817714-adaptability-and-flexibility-the-skills-that-equip-you-for-any-challenge" TargetMode="External"/><Relationship Id="rId4" Type="http://schemas.openxmlformats.org/officeDocument/2006/relationships/hyperlink" Target="https://targetjobs.co.uk/careers-advice/interview-questions/321043-give-an-example-of-your-lateral-thinking-tricky-graduate-interview-questio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E409D-1B04-472A-A6D3-643FCD9DE5B1}"/>
              </a:ext>
            </a:extLst>
          </p:cNvPr>
          <p:cNvSpPr>
            <a:spLocks noGrp="1"/>
          </p:cNvSpPr>
          <p:nvPr>
            <p:ph type="ctrTitle"/>
          </p:nvPr>
        </p:nvSpPr>
        <p:spPr>
          <a:xfrm>
            <a:off x="1524000" y="435007"/>
            <a:ext cx="9144000" cy="1083076"/>
          </a:xfrm>
        </p:spPr>
        <p:txBody>
          <a:bodyPr>
            <a:normAutofit/>
          </a:bodyPr>
          <a:lstStyle/>
          <a:p>
            <a:r>
              <a:rPr lang="en-IN" sz="4400" dirty="0">
                <a:latin typeface="Times New Roman" panose="02020603050405020304" pitchFamily="18" charset="0"/>
                <a:cs typeface="Times New Roman" panose="02020603050405020304" pitchFamily="18" charset="0"/>
              </a:rPr>
              <a:t>UNIT II</a:t>
            </a:r>
          </a:p>
        </p:txBody>
      </p:sp>
      <p:sp>
        <p:nvSpPr>
          <p:cNvPr id="3" name="Subtitle 2">
            <a:extLst>
              <a:ext uri="{FF2B5EF4-FFF2-40B4-BE49-F238E27FC236}">
                <a16:creationId xmlns:a16="http://schemas.microsoft.com/office/drawing/2014/main" id="{B2BB1849-B8B5-4E5B-A718-5DB1BC1F7692}"/>
              </a:ext>
            </a:extLst>
          </p:cNvPr>
          <p:cNvSpPr>
            <a:spLocks noGrp="1"/>
          </p:cNvSpPr>
          <p:nvPr>
            <p:ph type="subTitle" idx="1"/>
          </p:nvPr>
        </p:nvSpPr>
        <p:spPr>
          <a:xfrm>
            <a:off x="1524000" y="1961965"/>
            <a:ext cx="9144000" cy="4021585"/>
          </a:xfrm>
        </p:spPr>
        <p:txBody>
          <a:bodyPr>
            <a:normAutofit/>
          </a:bodyPr>
          <a:lstStyle/>
          <a:p>
            <a:r>
              <a:rPr lang="en-IN" sz="4000" dirty="0">
                <a:latin typeface="Times New Roman" panose="02020603050405020304" pitchFamily="18" charset="0"/>
                <a:cs typeface="Times New Roman" panose="02020603050405020304" pitchFamily="18" charset="0"/>
              </a:rPr>
              <a:t> Critical Thinking</a:t>
            </a:r>
          </a:p>
          <a:p>
            <a:endParaRPr lang="en-IN" sz="4000" dirty="0">
              <a:latin typeface="Times New Roman" panose="02020603050405020304" pitchFamily="18" charset="0"/>
              <a:cs typeface="Times New Roman" panose="02020603050405020304" pitchFamily="18" charset="0"/>
            </a:endParaRPr>
          </a:p>
          <a:p>
            <a:pPr algn="just"/>
            <a:r>
              <a:rPr lang="en-US" b="0" i="1" dirty="0">
                <a:solidFill>
                  <a:srgbClr val="233143"/>
                </a:solidFill>
                <a:effectLst/>
                <a:latin typeface="Times New Roman" panose="02020603050405020304" pitchFamily="18" charset="0"/>
                <a:cs typeface="Times New Roman" panose="02020603050405020304" pitchFamily="18" charset="0"/>
              </a:rPr>
              <a:t>Critical thinking</a:t>
            </a:r>
            <a:r>
              <a:rPr lang="en-US" b="0" i="0" dirty="0">
                <a:solidFill>
                  <a:srgbClr val="233143"/>
                </a:solidFill>
                <a:effectLst/>
                <a:latin typeface="Times New Roman" panose="02020603050405020304" pitchFamily="18" charset="0"/>
                <a:cs typeface="Times New Roman" panose="02020603050405020304" pitchFamily="18" charset="0"/>
              </a:rPr>
              <a:t> is the ability to think in an organized and rational manner in order to understand connections between ideas and/or facts. It helps you decide what to believe in. </a:t>
            </a:r>
          </a:p>
          <a:p>
            <a:pPr algn="just"/>
            <a:endParaRPr lang="en-US" dirty="0">
              <a:solidFill>
                <a:srgbClr val="233143"/>
              </a:solidFill>
              <a:latin typeface="Times New Roman" panose="02020603050405020304" pitchFamily="18" charset="0"/>
              <a:cs typeface="Times New Roman" panose="02020603050405020304" pitchFamily="18" charset="0"/>
            </a:endParaRPr>
          </a:p>
          <a:p>
            <a:pPr algn="just"/>
            <a:r>
              <a:rPr lang="en-US" b="0" i="0" dirty="0">
                <a:solidFill>
                  <a:srgbClr val="233143"/>
                </a:solidFill>
                <a:effectLst/>
                <a:latin typeface="Times New Roman" panose="02020603050405020304" pitchFamily="18" charset="0"/>
                <a:cs typeface="Times New Roman" panose="02020603050405020304" pitchFamily="18" charset="0"/>
              </a:rPr>
              <a:t>In other words, it’s “thinking about thinking”—identifying, analyzing, and then fixing flaws in the way we think.</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1497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A3130-10DC-43DA-A39E-61D78584FCB5}"/>
              </a:ext>
            </a:extLst>
          </p:cNvPr>
          <p:cNvSpPr>
            <a:spLocks noGrp="1"/>
          </p:cNvSpPr>
          <p:nvPr>
            <p:ph type="ctrTitle"/>
          </p:nvPr>
        </p:nvSpPr>
        <p:spPr>
          <a:xfrm>
            <a:off x="1524000" y="483757"/>
            <a:ext cx="9144000" cy="776872"/>
          </a:xfrm>
        </p:spPr>
        <p:txBody>
          <a:bodyPr>
            <a:normAutofit/>
          </a:bodyPr>
          <a:lstStyle/>
          <a:p>
            <a:r>
              <a:rPr lang="en-IN" sz="4400" dirty="0">
                <a:latin typeface="Times New Roman" panose="02020603050405020304" pitchFamily="18" charset="0"/>
                <a:cs typeface="Times New Roman" panose="02020603050405020304" pitchFamily="18" charset="0"/>
              </a:rPr>
              <a:t>1. Decision Making</a:t>
            </a:r>
          </a:p>
        </p:txBody>
      </p:sp>
      <p:sp>
        <p:nvSpPr>
          <p:cNvPr id="3" name="Subtitle 2">
            <a:extLst>
              <a:ext uri="{FF2B5EF4-FFF2-40B4-BE49-F238E27FC236}">
                <a16:creationId xmlns:a16="http://schemas.microsoft.com/office/drawing/2014/main" id="{5317E32B-4986-446C-AE2A-5588A673AA3E}"/>
              </a:ext>
            </a:extLst>
          </p:cNvPr>
          <p:cNvSpPr>
            <a:spLocks noGrp="1"/>
          </p:cNvSpPr>
          <p:nvPr>
            <p:ph type="subTitle" idx="1"/>
          </p:nvPr>
        </p:nvSpPr>
        <p:spPr>
          <a:xfrm>
            <a:off x="1524000" y="1740023"/>
            <a:ext cx="9144000" cy="4634219"/>
          </a:xfrm>
        </p:spPr>
        <p:txBody>
          <a:bodyPr/>
          <a:lstStyle/>
          <a:p>
            <a:pPr algn="just">
              <a:lnSpc>
                <a:spcPct val="150000"/>
              </a:lnSpc>
            </a:pPr>
            <a:r>
              <a:rPr lang="en-IN" dirty="0">
                <a:latin typeface="Times New Roman" panose="02020603050405020304" pitchFamily="18" charset="0"/>
                <a:cs typeface="Times New Roman" panose="02020603050405020304" pitchFamily="18" charset="0"/>
              </a:rPr>
              <a:t>Types of Key Decision-making Skills</a:t>
            </a: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Problem-solving</a:t>
            </a: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Collaboration</a:t>
            </a: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Emotional Intelligence</a:t>
            </a: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Logical Reasoning</a:t>
            </a:r>
          </a:p>
        </p:txBody>
      </p:sp>
    </p:spTree>
    <p:extLst>
      <p:ext uri="{BB962C8B-B14F-4D97-AF65-F5344CB8AC3E}">
        <p14:creationId xmlns:p14="http://schemas.microsoft.com/office/powerpoint/2010/main" val="2486191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CE5D4-F8FF-8F28-A78D-95441A55A018}"/>
              </a:ext>
            </a:extLst>
          </p:cNvPr>
          <p:cNvSpPr>
            <a:spLocks noGrp="1"/>
          </p:cNvSpPr>
          <p:nvPr>
            <p:ph type="ctrTitle"/>
          </p:nvPr>
        </p:nvSpPr>
        <p:spPr>
          <a:xfrm>
            <a:off x="1524000" y="494523"/>
            <a:ext cx="9144000" cy="783772"/>
          </a:xfrm>
        </p:spPr>
        <p:txBody>
          <a:bodyPr>
            <a:normAutofit/>
          </a:bodyPr>
          <a:lstStyle/>
          <a:p>
            <a:r>
              <a:rPr lang="en-IN" sz="4800" dirty="0">
                <a:latin typeface="Times New Roman" panose="02020603050405020304" pitchFamily="18" charset="0"/>
                <a:cs typeface="Times New Roman" panose="02020603050405020304" pitchFamily="18" charset="0"/>
              </a:rPr>
              <a:t>More decision-making Skills</a:t>
            </a:r>
          </a:p>
        </p:txBody>
      </p:sp>
      <p:sp>
        <p:nvSpPr>
          <p:cNvPr id="3" name="Subtitle 2">
            <a:extLst>
              <a:ext uri="{FF2B5EF4-FFF2-40B4-BE49-F238E27FC236}">
                <a16:creationId xmlns:a16="http://schemas.microsoft.com/office/drawing/2014/main" id="{38014C6C-DA47-0C88-8EAB-274E9644C01C}"/>
              </a:ext>
            </a:extLst>
          </p:cNvPr>
          <p:cNvSpPr>
            <a:spLocks noGrp="1"/>
          </p:cNvSpPr>
          <p:nvPr>
            <p:ph type="subTitle" idx="1"/>
          </p:nvPr>
        </p:nvSpPr>
        <p:spPr>
          <a:xfrm>
            <a:off x="1524000" y="1838131"/>
            <a:ext cx="9144000" cy="4310742"/>
          </a:xfrm>
        </p:spPr>
        <p:txBody>
          <a:bodyPr>
            <a:normAutofit lnSpcReduction="10000"/>
          </a:bodyPr>
          <a:lstStyle/>
          <a:p>
            <a:pPr algn="l"/>
            <a:r>
              <a:rPr lang="en-IN" dirty="0">
                <a:latin typeface="Times New Roman" panose="02020603050405020304" pitchFamily="18" charset="0"/>
                <a:cs typeface="Times New Roman" panose="02020603050405020304" pitchFamily="18" charset="0"/>
              </a:rPr>
              <a:t>Apart from the key decision-making skills, these skills sharpen one’s ability to make good decisions.</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Organization</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Time management</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Leadership</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Creativity</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Ethics</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Research</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Analysis</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Flexibility</a:t>
            </a:r>
          </a:p>
        </p:txBody>
      </p:sp>
    </p:spTree>
    <p:extLst>
      <p:ext uri="{BB962C8B-B14F-4D97-AF65-F5344CB8AC3E}">
        <p14:creationId xmlns:p14="http://schemas.microsoft.com/office/powerpoint/2010/main" val="1020861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509A1-6C8B-A050-9C0D-85A2CD2CEC44}"/>
              </a:ext>
            </a:extLst>
          </p:cNvPr>
          <p:cNvSpPr>
            <a:spLocks noGrp="1"/>
          </p:cNvSpPr>
          <p:nvPr>
            <p:ph type="ctrTitle"/>
          </p:nvPr>
        </p:nvSpPr>
        <p:spPr>
          <a:xfrm>
            <a:off x="1524000" y="475861"/>
            <a:ext cx="9144000" cy="877078"/>
          </a:xfrm>
        </p:spPr>
        <p:txBody>
          <a:bodyPr>
            <a:normAutofit/>
          </a:bodyPr>
          <a:lstStyle/>
          <a:p>
            <a:r>
              <a:rPr lang="en-IN" sz="4800" dirty="0">
                <a:latin typeface="Times New Roman" panose="02020603050405020304" pitchFamily="18" charset="0"/>
                <a:cs typeface="Times New Roman" panose="02020603050405020304" pitchFamily="18" charset="0"/>
              </a:rPr>
              <a:t>Decision-making Process</a:t>
            </a:r>
          </a:p>
        </p:txBody>
      </p:sp>
      <p:sp>
        <p:nvSpPr>
          <p:cNvPr id="3" name="Subtitle 2">
            <a:extLst>
              <a:ext uri="{FF2B5EF4-FFF2-40B4-BE49-F238E27FC236}">
                <a16:creationId xmlns:a16="http://schemas.microsoft.com/office/drawing/2014/main" id="{7563DC60-4562-01A5-52F7-80B172800980}"/>
              </a:ext>
            </a:extLst>
          </p:cNvPr>
          <p:cNvSpPr>
            <a:spLocks noGrp="1"/>
          </p:cNvSpPr>
          <p:nvPr>
            <p:ph type="subTitle" idx="1"/>
          </p:nvPr>
        </p:nvSpPr>
        <p:spPr>
          <a:xfrm>
            <a:off x="1524000" y="1922105"/>
            <a:ext cx="9144000" cy="4282751"/>
          </a:xfrm>
        </p:spPr>
        <p:txBody>
          <a:bodyPr/>
          <a:lstStyle/>
          <a:p>
            <a:pPr algn="l"/>
            <a:r>
              <a:rPr lang="en-IN" dirty="0"/>
              <a:t>Seven-step Process</a:t>
            </a:r>
          </a:p>
          <a:p>
            <a:pPr marL="457200" indent="-457200" algn="l">
              <a:buAutoNum type="arabicPeriod"/>
            </a:pPr>
            <a:r>
              <a:rPr lang="en-IN" dirty="0"/>
              <a:t>Identify the problem</a:t>
            </a:r>
          </a:p>
          <a:p>
            <a:pPr marL="457200" indent="-457200" algn="l">
              <a:buAutoNum type="arabicPeriod"/>
            </a:pPr>
            <a:r>
              <a:rPr lang="en-IN" dirty="0"/>
              <a:t>Do some digging</a:t>
            </a:r>
          </a:p>
          <a:p>
            <a:pPr marL="457200" indent="-457200" algn="l">
              <a:buAutoNum type="arabicPeriod"/>
            </a:pPr>
            <a:r>
              <a:rPr lang="en-IN" dirty="0"/>
              <a:t>Think creatively</a:t>
            </a:r>
          </a:p>
          <a:p>
            <a:pPr marL="457200" indent="-457200" algn="l">
              <a:buAutoNum type="arabicPeriod"/>
            </a:pPr>
            <a:r>
              <a:rPr lang="en-IN" dirty="0"/>
              <a:t>Evaluate your options</a:t>
            </a:r>
          </a:p>
          <a:p>
            <a:pPr marL="457200" indent="-457200" algn="l">
              <a:buAutoNum type="arabicPeriod"/>
            </a:pPr>
            <a:r>
              <a:rPr lang="en-IN" dirty="0"/>
              <a:t>Make the decision</a:t>
            </a:r>
          </a:p>
          <a:p>
            <a:pPr marL="457200" indent="-457200" algn="l">
              <a:buAutoNum type="arabicPeriod"/>
            </a:pPr>
            <a:r>
              <a:rPr lang="en-IN" dirty="0"/>
              <a:t>Act on your decision</a:t>
            </a:r>
          </a:p>
          <a:p>
            <a:pPr marL="457200" indent="-457200" algn="l">
              <a:buAutoNum type="arabicPeriod"/>
            </a:pPr>
            <a:r>
              <a:rPr lang="en-IN" dirty="0"/>
              <a:t>Look back</a:t>
            </a:r>
          </a:p>
        </p:txBody>
      </p:sp>
    </p:spTree>
    <p:extLst>
      <p:ext uri="{BB962C8B-B14F-4D97-AF65-F5344CB8AC3E}">
        <p14:creationId xmlns:p14="http://schemas.microsoft.com/office/powerpoint/2010/main" val="5599747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A8A81-5B85-A09F-A5A0-4E315C45FDFC}"/>
              </a:ext>
            </a:extLst>
          </p:cNvPr>
          <p:cNvSpPr>
            <a:spLocks noGrp="1"/>
          </p:cNvSpPr>
          <p:nvPr>
            <p:ph type="ctrTitle"/>
          </p:nvPr>
        </p:nvSpPr>
        <p:spPr>
          <a:xfrm>
            <a:off x="1524000" y="606491"/>
            <a:ext cx="9144000" cy="993710"/>
          </a:xfrm>
        </p:spPr>
        <p:txBody>
          <a:bodyPr>
            <a:normAutofit/>
          </a:bodyPr>
          <a:lstStyle/>
          <a:p>
            <a:r>
              <a:rPr lang="en-IN" sz="4800" dirty="0">
                <a:latin typeface="Times New Roman" panose="02020603050405020304" pitchFamily="18" charset="0"/>
                <a:cs typeface="Times New Roman" panose="02020603050405020304" pitchFamily="18" charset="0"/>
              </a:rPr>
              <a:t>Types of decision-making</a:t>
            </a:r>
          </a:p>
        </p:txBody>
      </p:sp>
      <p:sp>
        <p:nvSpPr>
          <p:cNvPr id="3" name="Subtitle 2">
            <a:extLst>
              <a:ext uri="{FF2B5EF4-FFF2-40B4-BE49-F238E27FC236}">
                <a16:creationId xmlns:a16="http://schemas.microsoft.com/office/drawing/2014/main" id="{A1359F8E-F4D9-DC91-9912-8DAF70482459}"/>
              </a:ext>
            </a:extLst>
          </p:cNvPr>
          <p:cNvSpPr>
            <a:spLocks noGrp="1"/>
          </p:cNvSpPr>
          <p:nvPr>
            <p:ph type="subTitle" idx="1"/>
          </p:nvPr>
        </p:nvSpPr>
        <p:spPr>
          <a:xfrm>
            <a:off x="1524000" y="2099388"/>
            <a:ext cx="9144000" cy="4002832"/>
          </a:xfrm>
        </p:spPr>
        <p:txBody>
          <a:bodyPr/>
          <a:lstStyle/>
          <a:p>
            <a:pPr marL="457200" indent="-457200" algn="l">
              <a:buAutoNum type="arabicPeriod"/>
            </a:pPr>
            <a:r>
              <a:rPr lang="en-IN" dirty="0"/>
              <a:t>Intuition</a:t>
            </a:r>
          </a:p>
          <a:p>
            <a:pPr marL="457200" indent="-457200" algn="l">
              <a:buAutoNum type="arabicPeriod"/>
            </a:pPr>
            <a:r>
              <a:rPr lang="en-IN" dirty="0"/>
              <a:t>Logic</a:t>
            </a:r>
          </a:p>
          <a:p>
            <a:pPr marL="457200" indent="-457200" algn="l">
              <a:buAutoNum type="arabicPeriod"/>
            </a:pPr>
            <a:r>
              <a:rPr lang="en-IN" dirty="0"/>
              <a:t>Cognitive Bias</a:t>
            </a:r>
          </a:p>
          <a:p>
            <a:pPr marL="457200" indent="-457200" algn="l">
              <a:buAutoNum type="arabicPeriod"/>
            </a:pPr>
            <a:r>
              <a:rPr lang="en-IN" dirty="0"/>
              <a:t>Confirmation</a:t>
            </a:r>
          </a:p>
          <a:p>
            <a:pPr marL="457200" indent="-457200" algn="l">
              <a:buAutoNum type="arabicPeriod"/>
            </a:pPr>
            <a:r>
              <a:rPr lang="en-IN" dirty="0"/>
              <a:t>Anchoring</a:t>
            </a:r>
          </a:p>
          <a:p>
            <a:pPr marL="457200" indent="-457200" algn="l">
              <a:buAutoNum type="arabicPeriod"/>
            </a:pPr>
            <a:r>
              <a:rPr lang="en-IN" dirty="0"/>
              <a:t>The halo effect</a:t>
            </a:r>
          </a:p>
          <a:p>
            <a:pPr marL="457200" indent="-457200" algn="l">
              <a:buAutoNum type="arabicPeriod"/>
            </a:pPr>
            <a:r>
              <a:rPr lang="en-IN" dirty="0"/>
              <a:t>Over-confidence</a:t>
            </a:r>
          </a:p>
        </p:txBody>
      </p:sp>
    </p:spTree>
    <p:extLst>
      <p:ext uri="{BB962C8B-B14F-4D97-AF65-F5344CB8AC3E}">
        <p14:creationId xmlns:p14="http://schemas.microsoft.com/office/powerpoint/2010/main" val="2089776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C09F8-D4C1-C06C-B596-D9C6E1213084}"/>
              </a:ext>
            </a:extLst>
          </p:cNvPr>
          <p:cNvSpPr>
            <a:spLocks noGrp="1"/>
          </p:cNvSpPr>
          <p:nvPr>
            <p:ph type="ctrTitle"/>
          </p:nvPr>
        </p:nvSpPr>
        <p:spPr>
          <a:xfrm>
            <a:off x="1524000" y="419879"/>
            <a:ext cx="9144000" cy="858416"/>
          </a:xfrm>
        </p:spPr>
        <p:txBody>
          <a:bodyPr>
            <a:normAutofit/>
          </a:bodyPr>
          <a:lstStyle/>
          <a:p>
            <a:r>
              <a:rPr lang="en-IN" sz="4000" dirty="0">
                <a:latin typeface="Times New Roman" panose="02020603050405020304" pitchFamily="18" charset="0"/>
                <a:cs typeface="Times New Roman" panose="02020603050405020304" pitchFamily="18" charset="0"/>
              </a:rPr>
              <a:t>Factors leading to poor decision-making</a:t>
            </a:r>
          </a:p>
        </p:txBody>
      </p:sp>
      <p:sp>
        <p:nvSpPr>
          <p:cNvPr id="3" name="Subtitle 2">
            <a:extLst>
              <a:ext uri="{FF2B5EF4-FFF2-40B4-BE49-F238E27FC236}">
                <a16:creationId xmlns:a16="http://schemas.microsoft.com/office/drawing/2014/main" id="{D5AD6D67-1596-6BD7-E574-CB0582CF8F47}"/>
              </a:ext>
            </a:extLst>
          </p:cNvPr>
          <p:cNvSpPr>
            <a:spLocks noGrp="1"/>
          </p:cNvSpPr>
          <p:nvPr>
            <p:ph type="subTitle" idx="1"/>
          </p:nvPr>
        </p:nvSpPr>
        <p:spPr>
          <a:xfrm>
            <a:off x="1524000" y="1744824"/>
            <a:ext cx="9144000" cy="4385388"/>
          </a:xfrm>
        </p:spPr>
        <p:txBody>
          <a:bodyPr>
            <a:normAutofit/>
          </a:bodyPr>
          <a:lstStyle/>
          <a:p>
            <a:pPr marL="514350" indent="-514350" algn="l">
              <a:spcAft>
                <a:spcPts val="600"/>
              </a:spcAft>
              <a:buFont typeface="+mj-lt"/>
              <a:buAutoNum type="arabicPeriod"/>
            </a:pPr>
            <a:r>
              <a:rPr lang="en-IN" sz="2800" dirty="0">
                <a:latin typeface="Times New Roman" panose="02020603050405020304" pitchFamily="18" charset="0"/>
                <a:cs typeface="Times New Roman" panose="02020603050405020304" pitchFamily="18" charset="0"/>
              </a:rPr>
              <a:t>Inadequate information</a:t>
            </a:r>
          </a:p>
          <a:p>
            <a:pPr marL="514350" indent="-514350" algn="l">
              <a:spcAft>
                <a:spcPts val="600"/>
              </a:spcAft>
              <a:buFont typeface="+mj-lt"/>
              <a:buAutoNum type="arabicPeriod"/>
            </a:pPr>
            <a:r>
              <a:rPr lang="en-IN" sz="2800" dirty="0">
                <a:latin typeface="Times New Roman" panose="02020603050405020304" pitchFamily="18" charset="0"/>
                <a:cs typeface="Times New Roman" panose="02020603050405020304" pitchFamily="18" charset="0"/>
              </a:rPr>
              <a:t>Information overload</a:t>
            </a:r>
          </a:p>
          <a:p>
            <a:pPr marL="514350" indent="-514350" algn="l">
              <a:spcAft>
                <a:spcPts val="600"/>
              </a:spcAft>
              <a:buFont typeface="+mj-lt"/>
              <a:buAutoNum type="arabicPeriod"/>
            </a:pPr>
            <a:r>
              <a:rPr lang="en-IN" sz="2800" dirty="0">
                <a:latin typeface="Times New Roman" panose="02020603050405020304" pitchFamily="18" charset="0"/>
                <a:cs typeface="Times New Roman" panose="02020603050405020304" pitchFamily="18" charset="0"/>
              </a:rPr>
              <a:t>Too many people</a:t>
            </a:r>
          </a:p>
          <a:p>
            <a:pPr marL="514350" indent="-514350" algn="l">
              <a:spcAft>
                <a:spcPts val="600"/>
              </a:spcAft>
              <a:buFont typeface="+mj-lt"/>
              <a:buAutoNum type="arabicPeriod"/>
            </a:pPr>
            <a:r>
              <a:rPr lang="en-IN" sz="2800" dirty="0">
                <a:latin typeface="Times New Roman" panose="02020603050405020304" pitchFamily="18" charset="0"/>
                <a:cs typeface="Times New Roman" panose="02020603050405020304" pitchFamily="18" charset="0"/>
              </a:rPr>
              <a:t>Vested interest</a:t>
            </a:r>
          </a:p>
          <a:p>
            <a:pPr marL="514350" indent="-514350" algn="l">
              <a:spcAft>
                <a:spcPts val="600"/>
              </a:spcAft>
              <a:buFont typeface="+mj-lt"/>
              <a:buAutoNum type="arabicPeriod"/>
            </a:pPr>
            <a:r>
              <a:rPr lang="en-IN" sz="2800" dirty="0">
                <a:latin typeface="Times New Roman" panose="02020603050405020304" pitchFamily="18" charset="0"/>
                <a:cs typeface="Times New Roman" panose="02020603050405020304" pitchFamily="18" charset="0"/>
              </a:rPr>
              <a:t>Resistance to change</a:t>
            </a:r>
          </a:p>
          <a:p>
            <a:pPr marL="514350" indent="-514350" algn="l">
              <a:spcAft>
                <a:spcPts val="600"/>
              </a:spcAft>
              <a:buFont typeface="+mj-lt"/>
              <a:buAutoNum type="arabicPeriod"/>
            </a:pPr>
            <a:r>
              <a:rPr lang="en-IN" sz="2800" dirty="0">
                <a:latin typeface="Times New Roman" panose="02020603050405020304" pitchFamily="18" charset="0"/>
                <a:cs typeface="Times New Roman" panose="02020603050405020304" pitchFamily="18" charset="0"/>
              </a:rPr>
              <a:t>No attachment</a:t>
            </a:r>
          </a:p>
        </p:txBody>
      </p:sp>
    </p:spTree>
    <p:extLst>
      <p:ext uri="{BB962C8B-B14F-4D97-AF65-F5344CB8AC3E}">
        <p14:creationId xmlns:p14="http://schemas.microsoft.com/office/powerpoint/2010/main" val="3910678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6DB2D-1B3E-4FFD-A393-E4A0BC89A536}"/>
              </a:ext>
            </a:extLst>
          </p:cNvPr>
          <p:cNvSpPr>
            <a:spLocks noGrp="1"/>
          </p:cNvSpPr>
          <p:nvPr>
            <p:ph type="ctrTitle"/>
          </p:nvPr>
        </p:nvSpPr>
        <p:spPr>
          <a:xfrm>
            <a:off x="1524000" y="537023"/>
            <a:ext cx="9144000" cy="847894"/>
          </a:xfrm>
        </p:spPr>
        <p:txBody>
          <a:bodyPr>
            <a:normAutofit/>
          </a:bodyPr>
          <a:lstStyle/>
          <a:p>
            <a:r>
              <a:rPr lang="en-IN" sz="4400" dirty="0">
                <a:latin typeface="Times New Roman" panose="02020603050405020304" pitchFamily="18" charset="0"/>
                <a:cs typeface="Times New Roman" panose="02020603050405020304" pitchFamily="18" charset="0"/>
              </a:rPr>
              <a:t>2. Problem Solving Skills</a:t>
            </a:r>
          </a:p>
        </p:txBody>
      </p:sp>
      <p:sp>
        <p:nvSpPr>
          <p:cNvPr id="3" name="Subtitle 2">
            <a:extLst>
              <a:ext uri="{FF2B5EF4-FFF2-40B4-BE49-F238E27FC236}">
                <a16:creationId xmlns:a16="http://schemas.microsoft.com/office/drawing/2014/main" id="{98F696B3-CA76-4F73-9D9E-C8F04D0BBA54}"/>
              </a:ext>
            </a:extLst>
          </p:cNvPr>
          <p:cNvSpPr>
            <a:spLocks noGrp="1"/>
          </p:cNvSpPr>
          <p:nvPr>
            <p:ph type="subTitle" idx="1"/>
          </p:nvPr>
        </p:nvSpPr>
        <p:spPr>
          <a:xfrm>
            <a:off x="903726" y="1403580"/>
            <a:ext cx="10530714" cy="4572000"/>
          </a:xfrm>
        </p:spPr>
        <p:txBody>
          <a:bodyPr/>
          <a:lstStyle/>
          <a:p>
            <a:endParaRPr lang="en-IN" dirty="0"/>
          </a:p>
        </p:txBody>
      </p:sp>
      <p:pic>
        <p:nvPicPr>
          <p:cNvPr id="1026" name="Picture 2" descr="An Easy Way To Improve Your Creative Problem Solving Skills – Sandbox  Advisors">
            <a:extLst>
              <a:ext uri="{FF2B5EF4-FFF2-40B4-BE49-F238E27FC236}">
                <a16:creationId xmlns:a16="http://schemas.microsoft.com/office/drawing/2014/main" id="{DF39F783-7BC3-4091-AF26-1E7B683566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8814" y="2393261"/>
            <a:ext cx="3634371" cy="1839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8969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B918C-1676-4EFA-BF60-D2DB70EAAB13}"/>
              </a:ext>
            </a:extLst>
          </p:cNvPr>
          <p:cNvSpPr>
            <a:spLocks noGrp="1"/>
          </p:cNvSpPr>
          <p:nvPr>
            <p:ph type="ctrTitle"/>
          </p:nvPr>
        </p:nvSpPr>
        <p:spPr>
          <a:xfrm>
            <a:off x="1524000" y="443883"/>
            <a:ext cx="9144000" cy="967667"/>
          </a:xfrm>
        </p:spPr>
        <p:txBody>
          <a:bodyPr>
            <a:normAutofit/>
          </a:bodyPr>
          <a:lstStyle/>
          <a:p>
            <a:r>
              <a:rPr lang="en-IN" sz="4400" dirty="0">
                <a:latin typeface="Times New Roman" panose="02020603050405020304" pitchFamily="18" charset="0"/>
                <a:cs typeface="Times New Roman" panose="02020603050405020304" pitchFamily="18" charset="0"/>
              </a:rPr>
              <a:t>Problem Solving Skills</a:t>
            </a:r>
          </a:p>
        </p:txBody>
      </p:sp>
      <p:sp>
        <p:nvSpPr>
          <p:cNvPr id="3" name="Subtitle 2">
            <a:extLst>
              <a:ext uri="{FF2B5EF4-FFF2-40B4-BE49-F238E27FC236}">
                <a16:creationId xmlns:a16="http://schemas.microsoft.com/office/drawing/2014/main" id="{B0B24649-4FE2-499B-BFD2-F224F52789FA}"/>
              </a:ext>
            </a:extLst>
          </p:cNvPr>
          <p:cNvSpPr>
            <a:spLocks noGrp="1"/>
          </p:cNvSpPr>
          <p:nvPr>
            <p:ph type="subTitle" idx="1"/>
          </p:nvPr>
        </p:nvSpPr>
        <p:spPr>
          <a:xfrm>
            <a:off x="1524000" y="1686757"/>
            <a:ext cx="9144000" cy="4585316"/>
          </a:xfrm>
        </p:spPr>
        <p:txBody>
          <a:bodyPr/>
          <a:lstStyle/>
          <a:p>
            <a:pPr algn="just"/>
            <a:r>
              <a:rPr lang="en-US" b="0" i="0" dirty="0">
                <a:solidFill>
                  <a:srgbClr val="292828"/>
                </a:solidFill>
                <a:effectLst/>
                <a:latin typeface="Times New Roman" panose="02020603050405020304" pitchFamily="18" charset="0"/>
                <a:cs typeface="Times New Roman" panose="02020603050405020304" pitchFamily="18" charset="0"/>
              </a:rPr>
              <a:t>Problem solving is all about using logic, as well as imagination, to make sense of a situation and come up with an intelligent solution. </a:t>
            </a:r>
          </a:p>
          <a:p>
            <a:pPr algn="just"/>
            <a:endParaRPr lang="en-US" b="0" i="0" dirty="0">
              <a:solidFill>
                <a:srgbClr val="292828"/>
              </a:solidFill>
              <a:effectLst/>
              <a:latin typeface="Times New Roman" panose="02020603050405020304" pitchFamily="18" charset="0"/>
              <a:cs typeface="Times New Roman" panose="02020603050405020304" pitchFamily="18" charset="0"/>
            </a:endParaRPr>
          </a:p>
          <a:p>
            <a:pPr algn="just"/>
            <a:endParaRPr lang="en-US" dirty="0">
              <a:solidFill>
                <a:srgbClr val="292828"/>
              </a:solidFill>
              <a:latin typeface="Times New Roman" panose="02020603050405020304" pitchFamily="18" charset="0"/>
              <a:cs typeface="Times New Roman" panose="02020603050405020304" pitchFamily="18" charset="0"/>
            </a:endParaRPr>
          </a:p>
          <a:p>
            <a:pPr algn="just"/>
            <a:endParaRPr lang="en-US" b="0" i="0" dirty="0">
              <a:solidFill>
                <a:srgbClr val="292828"/>
              </a:solidFill>
              <a:effectLst/>
              <a:latin typeface="Times New Roman" panose="02020603050405020304" pitchFamily="18" charset="0"/>
              <a:cs typeface="Times New Roman" panose="02020603050405020304" pitchFamily="18" charset="0"/>
            </a:endParaRPr>
          </a:p>
          <a:p>
            <a:pPr algn="just"/>
            <a:endParaRPr lang="en-US" dirty="0">
              <a:solidFill>
                <a:srgbClr val="292828"/>
              </a:solidFill>
              <a:latin typeface="Times New Roman" panose="02020603050405020304" pitchFamily="18" charset="0"/>
              <a:cs typeface="Times New Roman" panose="02020603050405020304" pitchFamily="18" charset="0"/>
            </a:endParaRPr>
          </a:p>
          <a:p>
            <a:pPr algn="just"/>
            <a:r>
              <a:rPr lang="en-US" b="0" i="0" dirty="0">
                <a:solidFill>
                  <a:srgbClr val="292828"/>
                </a:solidFill>
                <a:effectLst/>
                <a:latin typeface="Times New Roman" panose="02020603050405020304" pitchFamily="18" charset="0"/>
                <a:cs typeface="Times New Roman" panose="02020603050405020304" pitchFamily="18" charset="0"/>
              </a:rPr>
              <a:t>In fact, the best problem solvers actively anticipate potential future problems and act to prevent them or to mitigate their effects.</a:t>
            </a:r>
            <a:endParaRPr lang="en-IN" dirty="0">
              <a:latin typeface="Times New Roman" panose="02020603050405020304" pitchFamily="18" charset="0"/>
              <a:cs typeface="Times New Roman" panose="02020603050405020304" pitchFamily="18" charset="0"/>
            </a:endParaRPr>
          </a:p>
        </p:txBody>
      </p:sp>
      <p:pic>
        <p:nvPicPr>
          <p:cNvPr id="2050" name="Picture 2" descr="15 Problem Solving Skills | Marketing91">
            <a:extLst>
              <a:ext uri="{FF2B5EF4-FFF2-40B4-BE49-F238E27FC236}">
                <a16:creationId xmlns:a16="http://schemas.microsoft.com/office/drawing/2014/main" id="{45505BCE-D2BE-452E-91E5-E3B9DD6419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7250" y="2628900"/>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0561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40362-C945-4F56-9F1B-2CE69F505C1F}"/>
              </a:ext>
            </a:extLst>
          </p:cNvPr>
          <p:cNvSpPr>
            <a:spLocks noGrp="1"/>
          </p:cNvSpPr>
          <p:nvPr>
            <p:ph type="ctrTitle"/>
          </p:nvPr>
        </p:nvSpPr>
        <p:spPr>
          <a:xfrm>
            <a:off x="1524000" y="523783"/>
            <a:ext cx="9144000" cy="798990"/>
          </a:xfrm>
        </p:spPr>
        <p:txBody>
          <a:bodyPr>
            <a:normAutofit/>
          </a:bodyPr>
          <a:lstStyle/>
          <a:p>
            <a:r>
              <a:rPr lang="en-IN" sz="4000" dirty="0">
                <a:latin typeface="Times New Roman" panose="02020603050405020304" pitchFamily="18" charset="0"/>
                <a:cs typeface="Times New Roman" panose="02020603050405020304" pitchFamily="18" charset="0"/>
              </a:rPr>
              <a:t>Problem Solving and Associated Skills</a:t>
            </a:r>
          </a:p>
        </p:txBody>
      </p:sp>
      <p:sp>
        <p:nvSpPr>
          <p:cNvPr id="3" name="Subtitle 2">
            <a:extLst>
              <a:ext uri="{FF2B5EF4-FFF2-40B4-BE49-F238E27FC236}">
                <a16:creationId xmlns:a16="http://schemas.microsoft.com/office/drawing/2014/main" id="{9466C4A8-C4DA-47F1-9426-1A94956FC138}"/>
              </a:ext>
            </a:extLst>
          </p:cNvPr>
          <p:cNvSpPr>
            <a:spLocks noGrp="1"/>
          </p:cNvSpPr>
          <p:nvPr>
            <p:ph type="subTitle" idx="1"/>
          </p:nvPr>
        </p:nvSpPr>
        <p:spPr>
          <a:xfrm>
            <a:off x="1524000" y="1784411"/>
            <a:ext cx="9144000" cy="4549805"/>
          </a:xfrm>
        </p:spPr>
        <p:txBody>
          <a:bodyPr>
            <a:normAutofit fontScale="92500" lnSpcReduction="10000"/>
          </a:bodyPr>
          <a:lstStyle/>
          <a:p>
            <a:pPr algn="l" fontAlgn="base"/>
            <a:r>
              <a:rPr lang="en-US" b="0" i="0" dirty="0">
                <a:effectLst/>
                <a:latin typeface="Times New Roman" panose="02020603050405020304" pitchFamily="18" charset="0"/>
                <a:cs typeface="Times New Roman" panose="02020603050405020304" pitchFamily="18" charset="0"/>
              </a:rPr>
              <a:t>Problem-solving abilities are connected to a number of other skills, including:</a:t>
            </a:r>
          </a:p>
          <a:p>
            <a:pPr algn="l" fontAlgn="base">
              <a:buFont typeface="Arial" panose="020B0604020202020204" pitchFamily="34" charset="0"/>
              <a:buChar char="•"/>
            </a:pPr>
            <a:r>
              <a:rPr lang="en-US" dirty="0">
                <a:latin typeface="Times New Roman" panose="02020603050405020304" pitchFamily="18" charset="0"/>
                <a:cs typeface="Times New Roman" panose="02020603050405020304" pitchFamily="18" charset="0"/>
                <a:hlinkClick r:id="rId2" tooltip="Analytical skills explained">
                  <a:extLst>
                    <a:ext uri="{A12FA001-AC4F-418D-AE19-62706E023703}">
                      <ahyp:hlinkClr xmlns:ahyp="http://schemas.microsoft.com/office/drawing/2018/hyperlinkcolor" val="tx"/>
                    </a:ext>
                  </a:extLst>
                </a:hlinkClick>
              </a:rPr>
              <a:t>A</a:t>
            </a:r>
            <a:r>
              <a:rPr lang="en-US" b="0" i="0" strike="noStrike" dirty="0">
                <a:effectLst/>
                <a:latin typeface="Times New Roman" panose="02020603050405020304" pitchFamily="18" charset="0"/>
                <a:cs typeface="Times New Roman" panose="02020603050405020304" pitchFamily="18" charset="0"/>
                <a:hlinkClick r:id="rId2" tooltip="Analytical skills explained">
                  <a:extLst>
                    <a:ext uri="{A12FA001-AC4F-418D-AE19-62706E023703}">
                      <ahyp:hlinkClr xmlns:ahyp="http://schemas.microsoft.com/office/drawing/2018/hyperlinkcolor" val="tx"/>
                    </a:ext>
                  </a:extLst>
                </a:hlinkClick>
              </a:rPr>
              <a:t>nalytical skills</a:t>
            </a:r>
            <a:endParaRPr lang="en-US" b="0" i="0" dirty="0">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dirty="0">
                <a:latin typeface="Times New Roman" panose="02020603050405020304" pitchFamily="18" charset="0"/>
                <a:cs typeface="Times New Roman" panose="02020603050405020304" pitchFamily="18" charset="0"/>
                <a:hlinkClick r:id="rId3" tooltip="Creative thinking explained">
                  <a:extLst>
                    <a:ext uri="{A12FA001-AC4F-418D-AE19-62706E023703}">
                      <ahyp:hlinkClr xmlns:ahyp="http://schemas.microsoft.com/office/drawing/2018/hyperlinkcolor" val="tx"/>
                    </a:ext>
                  </a:extLst>
                </a:hlinkClick>
              </a:rPr>
              <a:t>I</a:t>
            </a:r>
            <a:r>
              <a:rPr lang="en-US" b="0" i="0" strike="noStrike" dirty="0">
                <a:effectLst/>
                <a:latin typeface="Times New Roman" panose="02020603050405020304" pitchFamily="18" charset="0"/>
                <a:cs typeface="Times New Roman" panose="02020603050405020304" pitchFamily="18" charset="0"/>
                <a:hlinkClick r:id="rId3" tooltip="Creative thinking explained">
                  <a:extLst>
                    <a:ext uri="{A12FA001-AC4F-418D-AE19-62706E023703}">
                      <ahyp:hlinkClr xmlns:ahyp="http://schemas.microsoft.com/office/drawing/2018/hyperlinkcolor" val="tx"/>
                    </a:ext>
                  </a:extLst>
                </a:hlinkClick>
              </a:rPr>
              <a:t>nnovative and Creative thinking</a:t>
            </a:r>
            <a:endParaRPr lang="en-US" b="0" i="0" dirty="0">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dirty="0">
                <a:latin typeface="Times New Roman" panose="02020603050405020304" pitchFamily="18" charset="0"/>
                <a:cs typeface="Times New Roman" panose="02020603050405020304" pitchFamily="18" charset="0"/>
                <a:hlinkClick r:id="rId4" tooltip="Lateral thinking explained">
                  <a:extLst>
                    <a:ext uri="{A12FA001-AC4F-418D-AE19-62706E023703}">
                      <ahyp:hlinkClr xmlns:ahyp="http://schemas.microsoft.com/office/drawing/2018/hyperlinkcolor" val="tx"/>
                    </a:ext>
                  </a:extLst>
                </a:hlinkClick>
              </a:rPr>
              <a:t>A</a:t>
            </a:r>
            <a:r>
              <a:rPr lang="en-US" b="0" i="0" strike="noStrike" dirty="0">
                <a:effectLst/>
                <a:latin typeface="Times New Roman" panose="02020603050405020304" pitchFamily="18" charset="0"/>
                <a:cs typeface="Times New Roman" panose="02020603050405020304" pitchFamily="18" charset="0"/>
                <a:hlinkClick r:id="rId4" tooltip="Lateral thinking explained">
                  <a:extLst>
                    <a:ext uri="{A12FA001-AC4F-418D-AE19-62706E023703}">
                      <ahyp:hlinkClr xmlns:ahyp="http://schemas.microsoft.com/office/drawing/2018/hyperlinkcolor" val="tx"/>
                    </a:ext>
                  </a:extLst>
                </a:hlinkClick>
              </a:rPr>
              <a:t> lateral mindset</a:t>
            </a:r>
            <a:endParaRPr lang="en-US" b="0" i="0" dirty="0">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dirty="0">
                <a:latin typeface="Times New Roman" panose="02020603050405020304" pitchFamily="18" charset="0"/>
                <a:cs typeface="Times New Roman" panose="02020603050405020304" pitchFamily="18" charset="0"/>
                <a:hlinkClick r:id="rId5" tooltip="Workplace skills explained">
                  <a:extLst>
                    <a:ext uri="{A12FA001-AC4F-418D-AE19-62706E023703}">
                      <ahyp:hlinkClr xmlns:ahyp="http://schemas.microsoft.com/office/drawing/2018/hyperlinkcolor" val="tx"/>
                    </a:ext>
                  </a:extLst>
                </a:hlinkClick>
              </a:rPr>
              <a:t>A</a:t>
            </a:r>
            <a:r>
              <a:rPr lang="en-US" b="0" i="0" strike="noStrike" dirty="0">
                <a:effectLst/>
                <a:latin typeface="Times New Roman" panose="02020603050405020304" pitchFamily="18" charset="0"/>
                <a:cs typeface="Times New Roman" panose="02020603050405020304" pitchFamily="18" charset="0"/>
                <a:hlinkClick r:id="rId5" tooltip="Workplace skills explained">
                  <a:extLst>
                    <a:ext uri="{A12FA001-AC4F-418D-AE19-62706E023703}">
                      <ahyp:hlinkClr xmlns:ahyp="http://schemas.microsoft.com/office/drawing/2018/hyperlinkcolor" val="tx"/>
                    </a:ext>
                  </a:extLst>
                </a:hlinkClick>
              </a:rPr>
              <a:t>daptability and flexibility</a:t>
            </a:r>
            <a:endParaRPr lang="en-US" b="0" i="0" dirty="0">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t>
            </a:r>
            <a:r>
              <a:rPr lang="en-US" b="0" i="0" dirty="0">
                <a:effectLst/>
                <a:latin typeface="Times New Roman" panose="02020603050405020304" pitchFamily="18" charset="0"/>
                <a:cs typeface="Times New Roman" panose="02020603050405020304" pitchFamily="18" charset="0"/>
              </a:rPr>
              <a:t>evel-headedness</a:t>
            </a:r>
          </a:p>
          <a:p>
            <a:pPr algn="l" fontAlgn="base">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a:t>
            </a:r>
            <a:r>
              <a:rPr lang="en-US" b="0" i="0" dirty="0">
                <a:effectLst/>
                <a:latin typeface="Times New Roman" panose="02020603050405020304" pitchFamily="18" charset="0"/>
                <a:cs typeface="Times New Roman" panose="02020603050405020304" pitchFamily="18" charset="0"/>
              </a:rPr>
              <a:t>nitiative</a:t>
            </a:r>
          </a:p>
          <a:p>
            <a:pPr algn="l" fontAlgn="base">
              <a:buFont typeface="Arial" panose="020B0604020202020204" pitchFamily="34" charset="0"/>
              <a:buChar char="•"/>
            </a:pPr>
            <a:r>
              <a:rPr lang="en-US" dirty="0">
                <a:latin typeface="Times New Roman" panose="02020603050405020304" pitchFamily="18" charset="0"/>
                <a:cs typeface="Times New Roman" panose="02020603050405020304" pitchFamily="18" charset="0"/>
                <a:hlinkClick r:id="rId6" tooltip="Resilience tips for graduates">
                  <a:extLst>
                    <a:ext uri="{A12FA001-AC4F-418D-AE19-62706E023703}">
                      <ahyp:hlinkClr xmlns:ahyp="http://schemas.microsoft.com/office/drawing/2018/hyperlinkcolor" val="tx"/>
                    </a:ext>
                  </a:extLst>
                </a:hlinkClick>
              </a:rPr>
              <a:t>R</a:t>
            </a:r>
            <a:r>
              <a:rPr lang="en-US" b="0" i="0" strike="noStrike" dirty="0">
                <a:effectLst/>
                <a:latin typeface="Times New Roman" panose="02020603050405020304" pitchFamily="18" charset="0"/>
                <a:cs typeface="Times New Roman" panose="02020603050405020304" pitchFamily="18" charset="0"/>
                <a:hlinkClick r:id="rId6" tooltip="Resilience tips for graduates">
                  <a:extLst>
                    <a:ext uri="{A12FA001-AC4F-418D-AE19-62706E023703}">
                      <ahyp:hlinkClr xmlns:ahyp="http://schemas.microsoft.com/office/drawing/2018/hyperlinkcolor" val="tx"/>
                    </a:ext>
                  </a:extLst>
                </a:hlinkClick>
              </a:rPr>
              <a:t>esilience</a:t>
            </a:r>
            <a:r>
              <a:rPr lang="en-US" b="0" i="0" dirty="0">
                <a:effectLst/>
                <a:latin typeface="Times New Roman" panose="02020603050405020304" pitchFamily="18" charset="0"/>
                <a:cs typeface="Times New Roman" panose="02020603050405020304" pitchFamily="18" charset="0"/>
              </a:rPr>
              <a:t> (in order to reassess when your first idea doesn’t work)</a:t>
            </a:r>
          </a:p>
          <a:p>
            <a:pPr algn="l" fontAlgn="base">
              <a:buFont typeface="Arial" panose="020B0604020202020204" pitchFamily="34" charset="0"/>
              <a:buChar char="•"/>
            </a:pPr>
            <a:r>
              <a:rPr lang="en-US" dirty="0">
                <a:latin typeface="Times New Roman" panose="02020603050405020304" pitchFamily="18" charset="0"/>
                <a:cs typeface="Times New Roman" panose="02020603050405020304" pitchFamily="18" charset="0"/>
                <a:hlinkClick r:id="rId7" tooltip="Influencing skills ">
                  <a:extLst>
                    <a:ext uri="{A12FA001-AC4F-418D-AE19-62706E023703}">
                      <ahyp:hlinkClr xmlns:ahyp="http://schemas.microsoft.com/office/drawing/2018/hyperlinkcolor" val="tx"/>
                    </a:ext>
                  </a:extLst>
                </a:hlinkClick>
              </a:rPr>
              <a:t>T</a:t>
            </a:r>
            <a:r>
              <a:rPr lang="en-US" b="0" i="0" strike="noStrike" dirty="0">
                <a:effectLst/>
                <a:latin typeface="Times New Roman" panose="02020603050405020304" pitchFamily="18" charset="0"/>
                <a:cs typeface="Times New Roman" panose="02020603050405020304" pitchFamily="18" charset="0"/>
                <a:hlinkClick r:id="rId7" tooltip="Influencing skills ">
                  <a:extLst>
                    <a:ext uri="{A12FA001-AC4F-418D-AE19-62706E023703}">
                      <ahyp:hlinkClr xmlns:ahyp="http://schemas.microsoft.com/office/drawing/2018/hyperlinkcolor" val="tx"/>
                    </a:ext>
                  </a:extLst>
                </a:hlinkClick>
              </a:rPr>
              <a:t>eamworking</a:t>
            </a:r>
            <a:r>
              <a:rPr lang="en-US" b="0" i="0" dirty="0">
                <a:effectLst/>
                <a:latin typeface="Times New Roman" panose="02020603050405020304" pitchFamily="18" charset="0"/>
                <a:cs typeface="Times New Roman" panose="02020603050405020304" pitchFamily="18" charset="0"/>
              </a:rPr>
              <a:t> (if problem solving is a team effort)</a:t>
            </a:r>
          </a:p>
          <a:p>
            <a:pPr algn="l" fontAlgn="base">
              <a:buFont typeface="Arial" panose="020B0604020202020204" pitchFamily="34" charset="0"/>
              <a:buChar char="•"/>
            </a:pPr>
            <a:r>
              <a:rPr lang="en-US" b="0" i="0" strike="noStrike" dirty="0">
                <a:effectLst/>
                <a:latin typeface="Times New Roman" panose="02020603050405020304" pitchFamily="18" charset="0"/>
                <a:cs typeface="Times New Roman" panose="02020603050405020304" pitchFamily="18" charset="0"/>
                <a:hlinkClick r:id="rId8" tooltip="Influencing skills explained">
                  <a:extLst>
                    <a:ext uri="{A12FA001-AC4F-418D-AE19-62706E023703}">
                      <ahyp:hlinkClr xmlns:ahyp="http://schemas.microsoft.com/office/drawing/2018/hyperlinkcolor" val="tx"/>
                    </a:ext>
                  </a:extLst>
                </a:hlinkClick>
              </a:rPr>
              <a:t>Influencing skills</a:t>
            </a:r>
            <a:r>
              <a:rPr lang="en-US" b="0" i="0" dirty="0">
                <a:effectLst/>
                <a:latin typeface="Times New Roman" panose="02020603050405020304" pitchFamily="18" charset="0"/>
                <a:cs typeface="Times New Roman" panose="02020603050405020304" pitchFamily="18" charset="0"/>
              </a:rPr>
              <a:t> (to get colleagues, clients and bosses to adopt your solutions).</a:t>
            </a:r>
          </a:p>
          <a:p>
            <a:endParaRPr lang="en-IN" dirty="0"/>
          </a:p>
        </p:txBody>
      </p:sp>
    </p:spTree>
    <p:extLst>
      <p:ext uri="{BB962C8B-B14F-4D97-AF65-F5344CB8AC3E}">
        <p14:creationId xmlns:p14="http://schemas.microsoft.com/office/powerpoint/2010/main" val="1351448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57D96-0FCD-1D00-8FF0-C54B6AB756E6}"/>
              </a:ext>
            </a:extLst>
          </p:cNvPr>
          <p:cNvSpPr>
            <a:spLocks noGrp="1"/>
          </p:cNvSpPr>
          <p:nvPr>
            <p:ph type="ctrTitle"/>
          </p:nvPr>
        </p:nvSpPr>
        <p:spPr>
          <a:xfrm>
            <a:off x="1524000" y="781235"/>
            <a:ext cx="9144000" cy="887767"/>
          </a:xfrm>
        </p:spPr>
        <p:txBody>
          <a:bodyPr>
            <a:normAutofit/>
          </a:bodyPr>
          <a:lstStyle/>
          <a:p>
            <a:r>
              <a:rPr lang="en-IN" sz="4400" dirty="0">
                <a:latin typeface="Times New Roman" panose="02020603050405020304" pitchFamily="18" charset="0"/>
                <a:cs typeface="Times New Roman" panose="02020603050405020304" pitchFamily="18" charset="0"/>
              </a:rPr>
              <a:t>Steps in Problem-Solving Process</a:t>
            </a:r>
          </a:p>
        </p:txBody>
      </p:sp>
      <p:sp>
        <p:nvSpPr>
          <p:cNvPr id="3" name="Subtitle 2">
            <a:extLst>
              <a:ext uri="{FF2B5EF4-FFF2-40B4-BE49-F238E27FC236}">
                <a16:creationId xmlns:a16="http://schemas.microsoft.com/office/drawing/2014/main" id="{158C794E-6D58-86E9-D2B6-73C75F9DFEFE}"/>
              </a:ext>
            </a:extLst>
          </p:cNvPr>
          <p:cNvSpPr>
            <a:spLocks noGrp="1"/>
          </p:cNvSpPr>
          <p:nvPr>
            <p:ph type="subTitle" idx="1"/>
          </p:nvPr>
        </p:nvSpPr>
        <p:spPr>
          <a:xfrm>
            <a:off x="1524000" y="2237173"/>
            <a:ext cx="9144000" cy="4128116"/>
          </a:xfrm>
        </p:spPr>
        <p:txBody>
          <a:bodyPr/>
          <a:lstStyle/>
          <a:p>
            <a:pPr algn="l">
              <a:lnSpc>
                <a:spcPct val="150000"/>
              </a:lnSpc>
            </a:pPr>
            <a:r>
              <a:rPr lang="en-IN" dirty="0">
                <a:latin typeface="Times New Roman" panose="02020603050405020304" pitchFamily="18" charset="0"/>
                <a:cs typeface="Times New Roman" panose="02020603050405020304" pitchFamily="18" charset="0"/>
              </a:rPr>
              <a:t>1. Identify the problem</a:t>
            </a:r>
          </a:p>
          <a:p>
            <a:pPr algn="l">
              <a:lnSpc>
                <a:spcPct val="150000"/>
              </a:lnSpc>
            </a:pPr>
            <a:r>
              <a:rPr lang="en-IN" dirty="0">
                <a:latin typeface="Times New Roman" panose="02020603050405020304" pitchFamily="18" charset="0"/>
                <a:cs typeface="Times New Roman" panose="02020603050405020304" pitchFamily="18" charset="0"/>
              </a:rPr>
              <a:t>2.  Do your research</a:t>
            </a:r>
          </a:p>
          <a:p>
            <a:pPr algn="l">
              <a:lnSpc>
                <a:spcPct val="150000"/>
              </a:lnSpc>
            </a:pPr>
            <a:r>
              <a:rPr lang="en-US" dirty="0">
                <a:latin typeface="Times New Roman" panose="02020603050405020304" pitchFamily="18" charset="0"/>
                <a:cs typeface="Times New Roman" panose="02020603050405020304" pitchFamily="18" charset="0"/>
              </a:rPr>
              <a:t>3. Look for possible solutions</a:t>
            </a:r>
          </a:p>
          <a:p>
            <a:pPr algn="l">
              <a:lnSpc>
                <a:spcPct val="150000"/>
              </a:lnSpc>
            </a:pPr>
            <a:r>
              <a:rPr lang="en-IN" dirty="0">
                <a:latin typeface="Times New Roman" panose="02020603050405020304" pitchFamily="18" charset="0"/>
                <a:cs typeface="Times New Roman" panose="02020603050405020304" pitchFamily="18" charset="0"/>
              </a:rPr>
              <a:t>4. Make a decision</a:t>
            </a:r>
          </a:p>
          <a:p>
            <a:pPr algn="l">
              <a:lnSpc>
                <a:spcPct val="150000"/>
              </a:lnSpc>
            </a:pPr>
            <a:r>
              <a:rPr lang="en-US" dirty="0">
                <a:latin typeface="Times New Roman" panose="02020603050405020304" pitchFamily="18" charset="0"/>
                <a:cs typeface="Times New Roman" panose="02020603050405020304" pitchFamily="18" charset="0"/>
              </a:rPr>
              <a:t>5. Put that decision into action</a:t>
            </a:r>
          </a:p>
          <a:p>
            <a:pPr algn="l">
              <a:lnSpc>
                <a:spcPct val="150000"/>
              </a:lnSpc>
            </a:pPr>
            <a:r>
              <a:rPr lang="en-IN" dirty="0">
                <a:latin typeface="Times New Roman" panose="02020603050405020304" pitchFamily="18" charset="0"/>
                <a:cs typeface="Times New Roman" panose="02020603050405020304" pitchFamily="18" charset="0"/>
              </a:rPr>
              <a:t>6. Await results.</a:t>
            </a:r>
          </a:p>
          <a:p>
            <a:pPr marL="457200" indent="-457200">
              <a:buAutoNum type="arabicPeriod"/>
            </a:pPr>
            <a:endParaRPr lang="en-IN" dirty="0"/>
          </a:p>
        </p:txBody>
      </p:sp>
    </p:spTree>
    <p:extLst>
      <p:ext uri="{BB962C8B-B14F-4D97-AF65-F5344CB8AC3E}">
        <p14:creationId xmlns:p14="http://schemas.microsoft.com/office/powerpoint/2010/main" val="270814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83521-9ED4-5F2C-DB04-07870393111D}"/>
              </a:ext>
            </a:extLst>
          </p:cNvPr>
          <p:cNvSpPr>
            <a:spLocks noGrp="1"/>
          </p:cNvSpPr>
          <p:nvPr>
            <p:ph type="ctrTitle"/>
          </p:nvPr>
        </p:nvSpPr>
        <p:spPr>
          <a:xfrm>
            <a:off x="1524000" y="683581"/>
            <a:ext cx="9144000" cy="754602"/>
          </a:xfrm>
        </p:spPr>
        <p:txBody>
          <a:bodyPr>
            <a:normAutofit/>
          </a:bodyPr>
          <a:lstStyle/>
          <a:p>
            <a:r>
              <a:rPr lang="en-IN" sz="4000" dirty="0">
                <a:latin typeface="Times New Roman" panose="02020603050405020304" pitchFamily="18" charset="0"/>
                <a:cs typeface="Times New Roman" panose="02020603050405020304" pitchFamily="18" charset="0"/>
              </a:rPr>
              <a:t>Improving problem-solving skills</a:t>
            </a:r>
          </a:p>
        </p:txBody>
      </p:sp>
      <p:sp>
        <p:nvSpPr>
          <p:cNvPr id="3" name="Subtitle 2">
            <a:extLst>
              <a:ext uri="{FF2B5EF4-FFF2-40B4-BE49-F238E27FC236}">
                <a16:creationId xmlns:a16="http://schemas.microsoft.com/office/drawing/2014/main" id="{5CDD42B1-A2E5-3C54-9CDF-B94BF7848B5D}"/>
              </a:ext>
            </a:extLst>
          </p:cNvPr>
          <p:cNvSpPr>
            <a:spLocks noGrp="1"/>
          </p:cNvSpPr>
          <p:nvPr>
            <p:ph type="subTitle" idx="1"/>
          </p:nvPr>
        </p:nvSpPr>
        <p:spPr>
          <a:xfrm>
            <a:off x="1524000" y="1819922"/>
            <a:ext cx="9144000" cy="3826276"/>
          </a:xfrm>
        </p:spPr>
        <p:txBody>
          <a:bodyPr>
            <a:normAutofit/>
          </a:bodyPr>
          <a:lstStyle/>
          <a:p>
            <a:pPr marL="571500" indent="-571500" algn="l">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Focus on the solution</a:t>
            </a:r>
          </a:p>
          <a:p>
            <a:pPr marL="571500" indent="-571500" algn="l">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Clearly define the problem</a:t>
            </a:r>
          </a:p>
          <a:p>
            <a:pPr marL="571500" indent="-571500" algn="l">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Agree on a process</a:t>
            </a:r>
          </a:p>
          <a:p>
            <a:pPr marL="571500" indent="-571500" algn="l">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Be sure to use active listening</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7329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06B69-ADAE-4FA8-B265-22217A1EA0FD}"/>
              </a:ext>
            </a:extLst>
          </p:cNvPr>
          <p:cNvSpPr>
            <a:spLocks noGrp="1"/>
          </p:cNvSpPr>
          <p:nvPr>
            <p:ph type="ctrTitle"/>
          </p:nvPr>
        </p:nvSpPr>
        <p:spPr>
          <a:xfrm>
            <a:off x="949911" y="443883"/>
            <a:ext cx="9969623" cy="1156317"/>
          </a:xfrm>
        </p:spPr>
        <p:txBody>
          <a:bodyPr>
            <a:normAutofit/>
          </a:bodyPr>
          <a:lstStyle/>
          <a:p>
            <a:r>
              <a:rPr lang="en-US" sz="3200" b="1" i="0" dirty="0">
                <a:effectLst/>
                <a:latin typeface="Times New Roman" panose="02020603050405020304" pitchFamily="18" charset="0"/>
                <a:cs typeface="Times New Roman" panose="02020603050405020304" pitchFamily="18" charset="0"/>
              </a:rPr>
              <a:t>How will employers assess your problem-solving skills?</a:t>
            </a:r>
            <a:br>
              <a:rPr lang="en-US" sz="3200" b="1" i="0" dirty="0">
                <a:effectLst/>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02FAE87-106C-4648-B5B3-A8B14056A35D}"/>
              </a:ext>
            </a:extLst>
          </p:cNvPr>
          <p:cNvSpPr>
            <a:spLocks noGrp="1"/>
          </p:cNvSpPr>
          <p:nvPr>
            <p:ph type="subTitle" idx="1"/>
          </p:nvPr>
        </p:nvSpPr>
        <p:spPr>
          <a:xfrm>
            <a:off x="1524000" y="1802167"/>
            <a:ext cx="9144000" cy="4611950"/>
          </a:xfrm>
        </p:spPr>
        <p:txBody>
          <a:bodyPr/>
          <a:lstStyle/>
          <a:p>
            <a:r>
              <a:rPr lang="en-US" b="0" i="0" dirty="0">
                <a:solidFill>
                  <a:srgbClr val="292828"/>
                </a:solidFill>
                <a:effectLst/>
                <a:latin typeface="Times New Roman" panose="02020603050405020304" pitchFamily="18" charset="0"/>
                <a:cs typeface="Times New Roman" panose="02020603050405020304" pitchFamily="18" charset="0"/>
              </a:rPr>
              <a:t>Your problem-solving abilities can be assessed in three ways: </a:t>
            </a:r>
          </a:p>
          <a:p>
            <a:endParaRPr lang="en-US" b="0" i="0" dirty="0">
              <a:solidFill>
                <a:srgbClr val="292828"/>
              </a:solidFill>
              <a:effectLst/>
              <a:latin typeface="Times New Roman" panose="02020603050405020304" pitchFamily="18" charset="0"/>
              <a:cs typeface="Times New Roman" panose="02020603050405020304" pitchFamily="18" charset="0"/>
            </a:endParaRPr>
          </a:p>
          <a:p>
            <a:pPr marL="457200" indent="-457200" algn="l">
              <a:buAutoNum type="arabicPeriod"/>
            </a:pPr>
            <a:r>
              <a:rPr lang="en-US" dirty="0">
                <a:solidFill>
                  <a:srgbClr val="292828"/>
                </a:solidFill>
                <a:latin typeface="Times New Roman" panose="02020603050405020304" pitchFamily="18" charset="0"/>
                <a:cs typeface="Times New Roman" panose="02020603050405020304" pitchFamily="18" charset="0"/>
              </a:rPr>
              <a:t>Competency-based application and interview questions about problem solving</a:t>
            </a:r>
          </a:p>
          <a:p>
            <a:pPr algn="l"/>
            <a:endParaRPr lang="en-US" dirty="0">
              <a:solidFill>
                <a:srgbClr val="292828"/>
              </a:solidFill>
              <a:latin typeface="Times New Roman" panose="02020603050405020304" pitchFamily="18" charset="0"/>
              <a:cs typeface="Times New Roman" panose="02020603050405020304" pitchFamily="18" charset="0"/>
            </a:endParaRPr>
          </a:p>
          <a:p>
            <a:pPr marL="457200" indent="-457200" algn="l">
              <a:buAutoNum type="arabicPeriod" startAt="2"/>
            </a:pPr>
            <a:r>
              <a:rPr lang="en-US" dirty="0">
                <a:solidFill>
                  <a:srgbClr val="292828"/>
                </a:solidFill>
                <a:latin typeface="Times New Roman" panose="02020603050405020304" pitchFamily="18" charset="0"/>
                <a:cs typeface="Times New Roman" panose="02020603050405020304" pitchFamily="18" charset="0"/>
              </a:rPr>
              <a:t>Hypothetical interview questions about problem solving</a:t>
            </a:r>
          </a:p>
          <a:p>
            <a:pPr algn="l"/>
            <a:endParaRPr lang="en-US" dirty="0">
              <a:solidFill>
                <a:srgbClr val="292828"/>
              </a:solidFill>
              <a:latin typeface="Times New Roman" panose="02020603050405020304" pitchFamily="18" charset="0"/>
              <a:cs typeface="Times New Roman" panose="02020603050405020304" pitchFamily="18" charset="0"/>
            </a:endParaRPr>
          </a:p>
          <a:p>
            <a:pPr algn="l"/>
            <a:r>
              <a:rPr lang="en-US" dirty="0">
                <a:solidFill>
                  <a:srgbClr val="292828"/>
                </a:solidFill>
                <a:latin typeface="Times New Roman" panose="02020603050405020304" pitchFamily="18" charset="0"/>
                <a:cs typeface="Times New Roman" panose="02020603050405020304" pitchFamily="18" charset="0"/>
              </a:rPr>
              <a:t>3.   Problem solving exercises and tests</a:t>
            </a:r>
          </a:p>
        </p:txBody>
      </p:sp>
    </p:spTree>
    <p:extLst>
      <p:ext uri="{BB962C8B-B14F-4D97-AF65-F5344CB8AC3E}">
        <p14:creationId xmlns:p14="http://schemas.microsoft.com/office/powerpoint/2010/main" val="4198042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293D9-1642-4F9F-AD5E-D82C0357F189}"/>
              </a:ext>
            </a:extLst>
          </p:cNvPr>
          <p:cNvSpPr>
            <a:spLocks noGrp="1"/>
          </p:cNvSpPr>
          <p:nvPr>
            <p:ph type="ctrTitle"/>
          </p:nvPr>
        </p:nvSpPr>
        <p:spPr>
          <a:xfrm>
            <a:off x="1524000" y="506027"/>
            <a:ext cx="9144000" cy="1094173"/>
          </a:xfrm>
        </p:spPr>
        <p:txBody>
          <a:bodyPr>
            <a:normAutofit/>
          </a:bodyPr>
          <a:lstStyle/>
          <a:p>
            <a:r>
              <a:rPr lang="en-IN" sz="4400" dirty="0">
                <a:latin typeface="Times New Roman" panose="02020603050405020304" pitchFamily="18" charset="0"/>
                <a:cs typeface="Times New Roman" panose="02020603050405020304" pitchFamily="18" charset="0"/>
              </a:rPr>
              <a:t>Technique</a:t>
            </a:r>
          </a:p>
        </p:txBody>
      </p:sp>
      <p:sp>
        <p:nvSpPr>
          <p:cNvPr id="3" name="Subtitle 2">
            <a:extLst>
              <a:ext uri="{FF2B5EF4-FFF2-40B4-BE49-F238E27FC236}">
                <a16:creationId xmlns:a16="http://schemas.microsoft.com/office/drawing/2014/main" id="{465E5CBC-BAE8-46F3-9BA0-EC7F67874346}"/>
              </a:ext>
            </a:extLst>
          </p:cNvPr>
          <p:cNvSpPr>
            <a:spLocks noGrp="1"/>
          </p:cNvSpPr>
          <p:nvPr>
            <p:ph type="subTitle" idx="1"/>
          </p:nvPr>
        </p:nvSpPr>
        <p:spPr>
          <a:xfrm>
            <a:off x="1524000" y="2272683"/>
            <a:ext cx="9144000" cy="3515558"/>
          </a:xfrm>
        </p:spPr>
        <p:txBody>
          <a:bodyPr>
            <a:normAutofit fontScale="92500" lnSpcReduction="20000"/>
          </a:bodyPr>
          <a:lstStyle/>
          <a:p>
            <a:pPr algn="l" fontAlgn="base"/>
            <a:r>
              <a:rPr lang="en-US" b="1" i="0" dirty="0">
                <a:effectLst/>
                <a:latin typeface="Times New Roman" panose="02020603050405020304" pitchFamily="18" charset="0"/>
                <a:cs typeface="Times New Roman" panose="02020603050405020304" pitchFamily="18" charset="0"/>
              </a:rPr>
              <a:t>Keep in mind this problem-solving technique</a:t>
            </a:r>
          </a:p>
          <a:p>
            <a:pPr algn="l" fontAlgn="base"/>
            <a:r>
              <a:rPr lang="en-US" b="0" i="0" dirty="0">
                <a:effectLst/>
                <a:latin typeface="Times New Roman" panose="02020603050405020304" pitchFamily="18" charset="0"/>
                <a:cs typeface="Times New Roman" panose="02020603050405020304" pitchFamily="18" charset="0"/>
              </a:rPr>
              <a:t>If you’re provided with a scenario or a case study during the graduate recruitment process, you could try using the IDEAL model, described by Bransford and Stein in their book </a:t>
            </a:r>
            <a:r>
              <a:rPr lang="en-US" b="0" i="1" dirty="0">
                <a:effectLst/>
                <a:latin typeface="Times New Roman" panose="02020603050405020304" pitchFamily="18" charset="0"/>
                <a:cs typeface="Times New Roman" panose="02020603050405020304" pitchFamily="18" charset="0"/>
              </a:rPr>
              <a:t>Ideal Problem Solver</a:t>
            </a:r>
            <a:r>
              <a:rPr lang="en-US" b="0" i="0" dirty="0">
                <a:effectLst/>
                <a:latin typeface="Times New Roman" panose="02020603050405020304" pitchFamily="18" charset="0"/>
                <a:cs typeface="Times New Roman" panose="02020603050405020304" pitchFamily="18" charset="0"/>
              </a:rPr>
              <a:t>. It breaks down what you need to do to solve a problem into stages:</a:t>
            </a:r>
          </a:p>
          <a:p>
            <a:pPr algn="l" fontAlgn="base">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Identify</a:t>
            </a:r>
            <a:r>
              <a:rPr lang="en-US" b="0" i="0" dirty="0">
                <a:effectLst/>
                <a:latin typeface="Times New Roman" panose="02020603050405020304" pitchFamily="18" charset="0"/>
                <a:cs typeface="Times New Roman" panose="02020603050405020304" pitchFamily="18" charset="0"/>
              </a:rPr>
              <a:t> the issue</a:t>
            </a:r>
          </a:p>
          <a:p>
            <a:pPr algn="l" fontAlgn="base">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Define</a:t>
            </a:r>
            <a:r>
              <a:rPr lang="en-US" b="0" i="0" dirty="0">
                <a:effectLst/>
                <a:latin typeface="Times New Roman" panose="02020603050405020304" pitchFamily="18" charset="0"/>
                <a:cs typeface="Times New Roman" panose="02020603050405020304" pitchFamily="18" charset="0"/>
              </a:rPr>
              <a:t> the obstacles</a:t>
            </a:r>
          </a:p>
          <a:p>
            <a:pPr algn="l" fontAlgn="base">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Examine</a:t>
            </a:r>
            <a:r>
              <a:rPr lang="en-US" b="0" i="0" dirty="0">
                <a:effectLst/>
                <a:latin typeface="Times New Roman" panose="02020603050405020304" pitchFamily="18" charset="0"/>
                <a:cs typeface="Times New Roman" panose="02020603050405020304" pitchFamily="18" charset="0"/>
              </a:rPr>
              <a:t> your options</a:t>
            </a:r>
          </a:p>
          <a:p>
            <a:pPr algn="l" fontAlgn="base">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Act</a:t>
            </a:r>
            <a:r>
              <a:rPr lang="en-US" b="0" i="0" dirty="0">
                <a:effectLst/>
                <a:latin typeface="Times New Roman" panose="02020603050405020304" pitchFamily="18" charset="0"/>
                <a:cs typeface="Times New Roman" panose="02020603050405020304" pitchFamily="18" charset="0"/>
              </a:rPr>
              <a:t> on an agreed course of action</a:t>
            </a:r>
          </a:p>
          <a:p>
            <a:pPr algn="l" fontAlgn="base">
              <a:buFont typeface="Arial" panose="020B0604020202020204" pitchFamily="34" charset="0"/>
              <a:buChar char="•"/>
            </a:pPr>
            <a:r>
              <a:rPr lang="en-US" b="1" i="0" dirty="0">
                <a:effectLst/>
                <a:latin typeface="Times New Roman" panose="02020603050405020304" pitchFamily="18" charset="0"/>
                <a:cs typeface="Times New Roman" panose="02020603050405020304" pitchFamily="18" charset="0"/>
              </a:rPr>
              <a:t>Look</a:t>
            </a:r>
            <a:r>
              <a:rPr lang="en-US" b="0" i="0" dirty="0">
                <a:effectLst/>
                <a:latin typeface="Times New Roman" panose="02020603050405020304" pitchFamily="18" charset="0"/>
                <a:cs typeface="Times New Roman" panose="02020603050405020304" pitchFamily="18" charset="0"/>
              </a:rPr>
              <a:t> at how it turns out, and whether any changes need to be made.</a:t>
            </a:r>
          </a:p>
          <a:p>
            <a:endParaRPr lang="en-IN" dirty="0"/>
          </a:p>
        </p:txBody>
      </p:sp>
    </p:spTree>
    <p:extLst>
      <p:ext uri="{BB962C8B-B14F-4D97-AF65-F5344CB8AC3E}">
        <p14:creationId xmlns:p14="http://schemas.microsoft.com/office/powerpoint/2010/main" val="490496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EF5AB-D873-47F2-99AF-F7D0ED7BB3BF}"/>
              </a:ext>
            </a:extLst>
          </p:cNvPr>
          <p:cNvSpPr>
            <a:spLocks noGrp="1"/>
          </p:cNvSpPr>
          <p:nvPr>
            <p:ph type="ctrTitle"/>
          </p:nvPr>
        </p:nvSpPr>
        <p:spPr>
          <a:xfrm>
            <a:off x="1514669" y="408374"/>
            <a:ext cx="9144000" cy="1020932"/>
          </a:xfrm>
        </p:spPr>
        <p:txBody>
          <a:bodyPr>
            <a:normAutofit/>
          </a:bodyPr>
          <a:lstStyle/>
          <a:p>
            <a:r>
              <a:rPr lang="en-IN" sz="4400" dirty="0">
                <a:latin typeface="Times New Roman" panose="02020603050405020304" pitchFamily="18" charset="0"/>
                <a:cs typeface="Times New Roman" panose="02020603050405020304" pitchFamily="18" charset="0"/>
              </a:rPr>
              <a:t>3. Negotiation Skills</a:t>
            </a:r>
          </a:p>
        </p:txBody>
      </p:sp>
      <p:sp>
        <p:nvSpPr>
          <p:cNvPr id="3" name="Subtitle 2">
            <a:extLst>
              <a:ext uri="{FF2B5EF4-FFF2-40B4-BE49-F238E27FC236}">
                <a16:creationId xmlns:a16="http://schemas.microsoft.com/office/drawing/2014/main" id="{968A9C67-FB31-4A6E-9CD4-C211AE8C4F27}"/>
              </a:ext>
            </a:extLst>
          </p:cNvPr>
          <p:cNvSpPr>
            <a:spLocks noGrp="1"/>
          </p:cNvSpPr>
          <p:nvPr>
            <p:ph type="subTitle" idx="1"/>
          </p:nvPr>
        </p:nvSpPr>
        <p:spPr>
          <a:xfrm>
            <a:off x="1524000" y="1784412"/>
            <a:ext cx="9144000" cy="3473388"/>
          </a:xfrm>
        </p:spPr>
        <p:txBody>
          <a:bodyPr/>
          <a:lstStyle/>
          <a:p>
            <a:endParaRPr lang="en-IN" dirty="0"/>
          </a:p>
        </p:txBody>
      </p:sp>
      <p:pic>
        <p:nvPicPr>
          <p:cNvPr id="1026" name="Picture 2" descr="Inked | Sales Negotiation Skills Training">
            <a:extLst>
              <a:ext uri="{FF2B5EF4-FFF2-40B4-BE49-F238E27FC236}">
                <a16:creationId xmlns:a16="http://schemas.microsoft.com/office/drawing/2014/main" id="{6BF172C4-E896-4A49-812D-02DDE61E28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9037" y="2299317"/>
            <a:ext cx="3701987" cy="2476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2749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CF572-708C-4FE0-8B00-6293F982F387}"/>
              </a:ext>
            </a:extLst>
          </p:cNvPr>
          <p:cNvSpPr>
            <a:spLocks noGrp="1"/>
          </p:cNvSpPr>
          <p:nvPr>
            <p:ph type="ctrTitle"/>
          </p:nvPr>
        </p:nvSpPr>
        <p:spPr>
          <a:xfrm>
            <a:off x="1524000" y="541539"/>
            <a:ext cx="9144000" cy="861133"/>
          </a:xfrm>
        </p:spPr>
        <p:txBody>
          <a:bodyPr>
            <a:normAutofit/>
          </a:bodyPr>
          <a:lstStyle/>
          <a:p>
            <a:r>
              <a:rPr lang="en-IN" sz="4400" dirty="0">
                <a:latin typeface="Times New Roman" panose="02020603050405020304" pitchFamily="18" charset="0"/>
                <a:cs typeface="Times New Roman" panose="02020603050405020304" pitchFamily="18" charset="0"/>
              </a:rPr>
              <a:t>Negotiation</a:t>
            </a:r>
          </a:p>
        </p:txBody>
      </p:sp>
      <p:sp>
        <p:nvSpPr>
          <p:cNvPr id="3" name="Subtitle 2">
            <a:extLst>
              <a:ext uri="{FF2B5EF4-FFF2-40B4-BE49-F238E27FC236}">
                <a16:creationId xmlns:a16="http://schemas.microsoft.com/office/drawing/2014/main" id="{F20BCF14-C32B-4AEE-915B-42EE25D57C64}"/>
              </a:ext>
            </a:extLst>
          </p:cNvPr>
          <p:cNvSpPr>
            <a:spLocks noGrp="1"/>
          </p:cNvSpPr>
          <p:nvPr>
            <p:ph type="subTitle" idx="1"/>
          </p:nvPr>
        </p:nvSpPr>
        <p:spPr>
          <a:xfrm>
            <a:off x="1524000" y="1837677"/>
            <a:ext cx="9144000" cy="4478783"/>
          </a:xfrm>
        </p:spPr>
        <p:txBody>
          <a:bodyPr/>
          <a:lstStyle/>
          <a:p>
            <a:pPr algn="l"/>
            <a:r>
              <a:rPr lang="en-US" b="0" i="0" dirty="0">
                <a:solidFill>
                  <a:srgbClr val="2A2A2A"/>
                </a:solidFill>
                <a:effectLst/>
                <a:latin typeface="Times New Roman" panose="02020603050405020304" pitchFamily="18" charset="0"/>
                <a:cs typeface="Times New Roman" panose="02020603050405020304" pitchFamily="18" charset="0"/>
              </a:rPr>
              <a:t>Negotiation is a method by which people settle differences.</a:t>
            </a:r>
          </a:p>
          <a:p>
            <a:pPr algn="l"/>
            <a:endParaRPr lang="en-US" dirty="0">
              <a:solidFill>
                <a:srgbClr val="2A2A2A"/>
              </a:solidFill>
              <a:latin typeface="Times New Roman" panose="02020603050405020304" pitchFamily="18" charset="0"/>
              <a:cs typeface="Times New Roman" panose="02020603050405020304" pitchFamily="18" charset="0"/>
            </a:endParaRPr>
          </a:p>
          <a:p>
            <a:pPr algn="l"/>
            <a:r>
              <a:rPr lang="en-US" b="0" i="0" dirty="0">
                <a:solidFill>
                  <a:srgbClr val="2A2A2A"/>
                </a:solidFill>
                <a:effectLst/>
                <a:latin typeface="Times New Roman" panose="02020603050405020304" pitchFamily="18" charset="0"/>
                <a:cs typeface="Times New Roman" panose="02020603050405020304" pitchFamily="18" charset="0"/>
              </a:rPr>
              <a:t> It is a process by which compromise or agreement is reached while avoiding argument and dispute.</a:t>
            </a:r>
          </a:p>
          <a:p>
            <a:pPr algn="l"/>
            <a:endParaRPr lang="en-US" b="0" i="0" dirty="0">
              <a:solidFill>
                <a:srgbClr val="2A2A2A"/>
              </a:solidFill>
              <a:effectLst/>
              <a:latin typeface="Times New Roman" panose="02020603050405020304" pitchFamily="18" charset="0"/>
              <a:cs typeface="Times New Roman" panose="02020603050405020304" pitchFamily="18" charset="0"/>
            </a:endParaRPr>
          </a:p>
          <a:p>
            <a:pPr algn="l"/>
            <a:r>
              <a:rPr lang="en-US" b="0" i="0" dirty="0">
                <a:solidFill>
                  <a:srgbClr val="2A2A2A"/>
                </a:solidFill>
                <a:effectLst/>
                <a:latin typeface="Times New Roman" panose="02020603050405020304" pitchFamily="18" charset="0"/>
                <a:cs typeface="Times New Roman" panose="02020603050405020304" pitchFamily="18" charset="0"/>
              </a:rPr>
              <a:t>In any disagreement, individuals understandably aim to achieve the best possible outcome for their position (or perhaps an </a:t>
            </a:r>
            <a:r>
              <a:rPr lang="en-US" b="0" i="0" dirty="0" err="1">
                <a:solidFill>
                  <a:srgbClr val="2A2A2A"/>
                </a:solidFill>
                <a:effectLst/>
                <a:latin typeface="Times New Roman" panose="02020603050405020304" pitchFamily="18" charset="0"/>
                <a:cs typeface="Times New Roman" panose="02020603050405020304" pitchFamily="18" charset="0"/>
              </a:rPr>
              <a:t>organisation</a:t>
            </a:r>
            <a:r>
              <a:rPr lang="en-US" b="0" i="0" dirty="0">
                <a:solidFill>
                  <a:srgbClr val="2A2A2A"/>
                </a:solidFill>
                <a:effectLst/>
                <a:latin typeface="Times New Roman" panose="02020603050405020304" pitchFamily="18" charset="0"/>
                <a:cs typeface="Times New Roman" panose="02020603050405020304" pitchFamily="18" charset="0"/>
              </a:rPr>
              <a:t> they represent).</a:t>
            </a:r>
          </a:p>
          <a:p>
            <a:pPr algn="l"/>
            <a:endParaRPr lang="en-US" b="0" i="0" dirty="0">
              <a:solidFill>
                <a:srgbClr val="2A2A2A"/>
              </a:solidFill>
              <a:effectLst/>
              <a:latin typeface="Times New Roman" panose="02020603050405020304" pitchFamily="18" charset="0"/>
              <a:cs typeface="Times New Roman" panose="02020603050405020304" pitchFamily="18" charset="0"/>
            </a:endParaRPr>
          </a:p>
          <a:p>
            <a:pPr algn="l"/>
            <a:r>
              <a:rPr lang="en-US" b="0" i="0" dirty="0">
                <a:solidFill>
                  <a:srgbClr val="2A2A2A"/>
                </a:solidFill>
                <a:effectLst/>
                <a:latin typeface="Times New Roman" panose="02020603050405020304" pitchFamily="18" charset="0"/>
                <a:cs typeface="Times New Roman" panose="02020603050405020304" pitchFamily="18" charset="0"/>
              </a:rPr>
              <a:t> However, the principles of fairness, seeking mutual benefit and maintaining a relationship are the keys to a successful outcome.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1772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F49C0-DF84-49DE-BDE2-3F030C1627EE}"/>
              </a:ext>
            </a:extLst>
          </p:cNvPr>
          <p:cNvSpPr>
            <a:spLocks noGrp="1"/>
          </p:cNvSpPr>
          <p:nvPr>
            <p:ph type="ctrTitle"/>
          </p:nvPr>
        </p:nvSpPr>
        <p:spPr>
          <a:xfrm>
            <a:off x="1524000" y="488273"/>
            <a:ext cx="9144000" cy="843377"/>
          </a:xfrm>
        </p:spPr>
        <p:txBody>
          <a:bodyPr>
            <a:normAutofit/>
          </a:bodyPr>
          <a:lstStyle/>
          <a:p>
            <a:r>
              <a:rPr lang="en-IN" sz="4400" dirty="0">
                <a:latin typeface="Times New Roman" panose="02020603050405020304" pitchFamily="18" charset="0"/>
                <a:cs typeface="Times New Roman" panose="02020603050405020304" pitchFamily="18" charset="0"/>
              </a:rPr>
              <a:t>Stages of Negotiation</a:t>
            </a:r>
          </a:p>
        </p:txBody>
      </p:sp>
      <p:sp>
        <p:nvSpPr>
          <p:cNvPr id="3" name="Subtitle 2">
            <a:extLst>
              <a:ext uri="{FF2B5EF4-FFF2-40B4-BE49-F238E27FC236}">
                <a16:creationId xmlns:a16="http://schemas.microsoft.com/office/drawing/2014/main" id="{D15E2885-96F9-45E0-B06C-BEAE310C351B}"/>
              </a:ext>
            </a:extLst>
          </p:cNvPr>
          <p:cNvSpPr>
            <a:spLocks noGrp="1"/>
          </p:cNvSpPr>
          <p:nvPr>
            <p:ph type="subTitle" idx="1"/>
          </p:nvPr>
        </p:nvSpPr>
        <p:spPr>
          <a:xfrm>
            <a:off x="1524000" y="1828800"/>
            <a:ext cx="9144000" cy="4465468"/>
          </a:xfrm>
        </p:spPr>
        <p:txBody>
          <a:bodyPr>
            <a:normAutofit/>
          </a:bodyPr>
          <a:lstStyle/>
          <a:p>
            <a:pPr algn="just"/>
            <a:r>
              <a:rPr lang="en-US" i="0" dirty="0">
                <a:solidFill>
                  <a:srgbClr val="2A2A2A"/>
                </a:solidFill>
                <a:effectLst/>
                <a:latin typeface="Times New Roman" panose="02020603050405020304" pitchFamily="18" charset="0"/>
                <a:cs typeface="Times New Roman" panose="02020603050405020304" pitchFamily="18" charset="0"/>
              </a:rPr>
              <a:t>The process of negotiation includes the following stages:</a:t>
            </a:r>
          </a:p>
          <a:p>
            <a:pPr algn="just"/>
            <a:endParaRPr lang="en-US" i="0" dirty="0">
              <a:solidFill>
                <a:srgbClr val="2A2A2A"/>
              </a:solidFill>
              <a:effectLst/>
              <a:latin typeface="Times New Roman" panose="02020603050405020304" pitchFamily="18" charset="0"/>
              <a:cs typeface="Times New Roman" panose="02020603050405020304" pitchFamily="18" charset="0"/>
            </a:endParaRPr>
          </a:p>
          <a:p>
            <a:pPr algn="just">
              <a:spcAft>
                <a:spcPts val="600"/>
              </a:spcAft>
              <a:buFont typeface="+mj-lt"/>
              <a:buAutoNum type="arabicPeriod"/>
            </a:pPr>
            <a:r>
              <a:rPr lang="en-US" i="0" dirty="0">
                <a:solidFill>
                  <a:srgbClr val="2A2A2A"/>
                </a:solidFill>
                <a:effectLst/>
                <a:latin typeface="Times New Roman" panose="02020603050405020304" pitchFamily="18" charset="0"/>
                <a:cs typeface="Times New Roman" panose="02020603050405020304" pitchFamily="18" charset="0"/>
              </a:rPr>
              <a:t>Preparation and Planning</a:t>
            </a:r>
          </a:p>
          <a:p>
            <a:pPr algn="just">
              <a:spcAft>
                <a:spcPts val="600"/>
              </a:spcAft>
              <a:buFont typeface="+mj-lt"/>
              <a:buAutoNum type="arabicPeriod"/>
            </a:pPr>
            <a:r>
              <a:rPr lang="en-US" i="0" dirty="0">
                <a:solidFill>
                  <a:srgbClr val="2A2A2A"/>
                </a:solidFill>
                <a:effectLst/>
                <a:latin typeface="Times New Roman" panose="02020603050405020304" pitchFamily="18" charset="0"/>
                <a:cs typeface="Times New Roman" panose="02020603050405020304" pitchFamily="18" charset="0"/>
              </a:rPr>
              <a:t>Definition and Ground Rules</a:t>
            </a:r>
          </a:p>
          <a:p>
            <a:pPr algn="just">
              <a:spcAft>
                <a:spcPts val="600"/>
              </a:spcAft>
              <a:buFont typeface="+mj-lt"/>
              <a:buAutoNum type="arabicPeriod"/>
            </a:pPr>
            <a:r>
              <a:rPr lang="en-US" i="0" dirty="0">
                <a:solidFill>
                  <a:srgbClr val="2A2A2A"/>
                </a:solidFill>
                <a:effectLst/>
                <a:latin typeface="Times New Roman" panose="02020603050405020304" pitchFamily="18" charset="0"/>
                <a:cs typeface="Times New Roman" panose="02020603050405020304" pitchFamily="18" charset="0"/>
              </a:rPr>
              <a:t>Clarification </a:t>
            </a:r>
            <a:r>
              <a:rPr lang="en-US" dirty="0">
                <a:solidFill>
                  <a:srgbClr val="2A2A2A"/>
                </a:solidFill>
                <a:latin typeface="Times New Roman" panose="02020603050405020304" pitchFamily="18" charset="0"/>
                <a:cs typeface="Times New Roman" panose="02020603050405020304" pitchFamily="18" charset="0"/>
              </a:rPr>
              <a:t>and Justification</a:t>
            </a:r>
            <a:endParaRPr lang="en-US" i="0" dirty="0">
              <a:solidFill>
                <a:srgbClr val="2A2A2A"/>
              </a:solidFill>
              <a:effectLst/>
              <a:latin typeface="Times New Roman" panose="02020603050405020304" pitchFamily="18" charset="0"/>
              <a:cs typeface="Times New Roman" panose="02020603050405020304" pitchFamily="18" charset="0"/>
            </a:endParaRPr>
          </a:p>
          <a:p>
            <a:pPr algn="just">
              <a:spcAft>
                <a:spcPts val="600"/>
              </a:spcAft>
              <a:buFont typeface="+mj-lt"/>
              <a:buAutoNum type="arabicPeriod"/>
            </a:pPr>
            <a:r>
              <a:rPr lang="en-US" dirty="0">
                <a:solidFill>
                  <a:srgbClr val="2A2A2A"/>
                </a:solidFill>
                <a:latin typeface="Times New Roman" panose="02020603050405020304" pitchFamily="18" charset="0"/>
                <a:cs typeface="Times New Roman" panose="02020603050405020304" pitchFamily="18" charset="0"/>
              </a:rPr>
              <a:t>Bargaining and Problem Solving</a:t>
            </a:r>
            <a:endParaRPr lang="en-US" i="0" dirty="0">
              <a:solidFill>
                <a:srgbClr val="2A2A2A"/>
              </a:solidFill>
              <a:effectLst/>
              <a:latin typeface="Times New Roman" panose="02020603050405020304" pitchFamily="18" charset="0"/>
              <a:cs typeface="Times New Roman" panose="02020603050405020304" pitchFamily="18" charset="0"/>
            </a:endParaRPr>
          </a:p>
          <a:p>
            <a:pPr algn="just">
              <a:spcAft>
                <a:spcPts val="600"/>
              </a:spcAft>
              <a:buFont typeface="+mj-lt"/>
              <a:buAutoNum type="arabicPeriod"/>
            </a:pPr>
            <a:r>
              <a:rPr lang="en-US" dirty="0">
                <a:solidFill>
                  <a:srgbClr val="2A2A2A"/>
                </a:solidFill>
                <a:latin typeface="Times New Roman" panose="02020603050405020304" pitchFamily="18" charset="0"/>
                <a:cs typeface="Times New Roman" panose="02020603050405020304" pitchFamily="18" charset="0"/>
              </a:rPr>
              <a:t>Closure and Implementation</a:t>
            </a:r>
            <a:endParaRPr lang="en-US" i="0" dirty="0">
              <a:solidFill>
                <a:srgbClr val="2A2A2A"/>
              </a:solidFill>
              <a:effectLst/>
              <a:latin typeface="Times New Roman" panose="02020603050405020304" pitchFamily="18" charset="0"/>
              <a:cs typeface="Times New Roman" panose="02020603050405020304" pitchFamily="18" charset="0"/>
            </a:endParaRPr>
          </a:p>
          <a:p>
            <a:pPr algn="just"/>
            <a:endParaRPr lang="en-US" i="0" dirty="0">
              <a:solidFill>
                <a:srgbClr val="2A2A2A"/>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0214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6A35E-92E5-B446-0A34-98BD4A94B3F0}"/>
              </a:ext>
            </a:extLst>
          </p:cNvPr>
          <p:cNvSpPr>
            <a:spLocks noGrp="1"/>
          </p:cNvSpPr>
          <p:nvPr>
            <p:ph type="ctrTitle"/>
          </p:nvPr>
        </p:nvSpPr>
        <p:spPr>
          <a:xfrm>
            <a:off x="1524000" y="321013"/>
            <a:ext cx="9144000" cy="739302"/>
          </a:xfrm>
        </p:spPr>
        <p:txBody>
          <a:bodyPr>
            <a:normAutofit/>
          </a:bodyPr>
          <a:lstStyle/>
          <a:p>
            <a:r>
              <a:rPr lang="en-US" sz="3200" dirty="0">
                <a:latin typeface="Times New Roman" panose="02020603050405020304" pitchFamily="18" charset="0"/>
                <a:cs typeface="Times New Roman" panose="02020603050405020304" pitchFamily="18" charset="0"/>
              </a:rPr>
              <a:t>Professional Skills of a Successful Negotiator </a:t>
            </a:r>
            <a:endParaRPr lang="en-IN" sz="3200" dirty="0"/>
          </a:p>
        </p:txBody>
      </p:sp>
      <p:sp>
        <p:nvSpPr>
          <p:cNvPr id="3" name="Subtitle 2">
            <a:extLst>
              <a:ext uri="{FF2B5EF4-FFF2-40B4-BE49-F238E27FC236}">
                <a16:creationId xmlns:a16="http://schemas.microsoft.com/office/drawing/2014/main" id="{1DC367EB-0A91-9DC0-541B-356138D74E51}"/>
              </a:ext>
            </a:extLst>
          </p:cNvPr>
          <p:cNvSpPr>
            <a:spLocks noGrp="1"/>
          </p:cNvSpPr>
          <p:nvPr>
            <p:ph type="subTitle" idx="1"/>
          </p:nvPr>
        </p:nvSpPr>
        <p:spPr>
          <a:xfrm>
            <a:off x="1524000" y="1361872"/>
            <a:ext cx="9144000" cy="5175115"/>
          </a:xfrm>
        </p:spPr>
        <p:txBody>
          <a:bodyPr>
            <a:normAutofit fontScale="92500" lnSpcReduction="20000"/>
          </a:bodyPr>
          <a:lstStyle/>
          <a:p>
            <a:pPr marL="457200" indent="-457200" algn="l">
              <a:buAutoNum type="arabicPeriod"/>
            </a:pPr>
            <a:r>
              <a:rPr lang="en-US" dirty="0"/>
              <a:t>Empathy</a:t>
            </a:r>
          </a:p>
          <a:p>
            <a:pPr marL="457200" indent="-457200" algn="l">
              <a:buAutoNum type="arabicPeriod"/>
            </a:pPr>
            <a:r>
              <a:rPr lang="en-US" dirty="0"/>
              <a:t>Clarity on your goals</a:t>
            </a:r>
          </a:p>
          <a:p>
            <a:pPr marL="457200" indent="-457200" algn="l">
              <a:buAutoNum type="arabicPeriod"/>
            </a:pPr>
            <a:r>
              <a:rPr lang="en-US" dirty="0"/>
              <a:t>A relaxed attitude</a:t>
            </a:r>
          </a:p>
          <a:p>
            <a:pPr marL="457200" indent="-457200" algn="l">
              <a:buAutoNum type="arabicPeriod"/>
            </a:pPr>
            <a:r>
              <a:rPr lang="en-US" dirty="0"/>
              <a:t>Knowing how to add value</a:t>
            </a:r>
          </a:p>
          <a:p>
            <a:pPr marL="457200" indent="-457200" algn="l">
              <a:buAutoNum type="arabicPeriod"/>
            </a:pPr>
            <a:r>
              <a:rPr lang="en-US" dirty="0"/>
              <a:t>Listening and asking questions</a:t>
            </a:r>
          </a:p>
          <a:p>
            <a:pPr marL="457200" indent="-457200" algn="l">
              <a:buAutoNum type="arabicPeriod"/>
            </a:pPr>
            <a:r>
              <a:rPr lang="en-US" dirty="0"/>
              <a:t>Situational awareness</a:t>
            </a:r>
          </a:p>
          <a:p>
            <a:pPr marL="457200" indent="-457200" algn="l">
              <a:buAutoNum type="arabicPeriod"/>
            </a:pPr>
            <a:r>
              <a:rPr lang="en-US" dirty="0"/>
              <a:t>Reading between the lines</a:t>
            </a:r>
          </a:p>
          <a:p>
            <a:pPr marL="457200" indent="-457200" algn="l">
              <a:buAutoNum type="arabicPeriod"/>
            </a:pPr>
            <a:r>
              <a:rPr lang="en-US" dirty="0"/>
              <a:t>Embracing ‘The Pause’</a:t>
            </a:r>
          </a:p>
          <a:p>
            <a:pPr marL="457200" indent="-457200" algn="l">
              <a:buAutoNum type="arabicPeriod"/>
            </a:pPr>
            <a:r>
              <a:rPr lang="en-US" dirty="0"/>
              <a:t>Knowing your value</a:t>
            </a:r>
          </a:p>
          <a:p>
            <a:pPr marL="457200" indent="-457200" algn="l">
              <a:buAutoNum type="arabicPeriod"/>
            </a:pPr>
            <a:r>
              <a:rPr lang="en-US" dirty="0"/>
              <a:t>A Collaborative mindset</a:t>
            </a:r>
          </a:p>
          <a:p>
            <a:pPr marL="457200" indent="-457200" algn="l">
              <a:buAutoNum type="arabicPeriod"/>
            </a:pPr>
            <a:r>
              <a:rPr lang="en-US" dirty="0"/>
              <a:t>Emotional Detachment</a:t>
            </a:r>
          </a:p>
          <a:p>
            <a:pPr marL="457200" indent="-457200" algn="l">
              <a:buAutoNum type="arabicPeriod"/>
            </a:pPr>
            <a:r>
              <a:rPr lang="en-US" dirty="0"/>
              <a:t>Self-Awareness</a:t>
            </a:r>
          </a:p>
          <a:p>
            <a:pPr marL="457200" indent="-457200" algn="l">
              <a:buAutoNum type="arabicPeriod"/>
            </a:pPr>
            <a:r>
              <a:rPr lang="en-US" dirty="0"/>
              <a:t>A Strategic Mind</a:t>
            </a:r>
          </a:p>
          <a:p>
            <a:pPr marL="457200" indent="-457200" algn="l">
              <a:buAutoNum type="arabicPeriod"/>
            </a:pPr>
            <a:r>
              <a:rPr lang="en-US" dirty="0"/>
              <a:t>Emotional Intelligence</a:t>
            </a:r>
            <a:endParaRPr lang="en-IN" dirty="0"/>
          </a:p>
          <a:p>
            <a:endParaRPr lang="en-IN" dirty="0"/>
          </a:p>
        </p:txBody>
      </p:sp>
    </p:spTree>
    <p:extLst>
      <p:ext uri="{BB962C8B-B14F-4D97-AF65-F5344CB8AC3E}">
        <p14:creationId xmlns:p14="http://schemas.microsoft.com/office/powerpoint/2010/main" val="1563433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7B104-CDED-4972-AF68-E430646E6C0A}"/>
              </a:ext>
            </a:extLst>
          </p:cNvPr>
          <p:cNvSpPr>
            <a:spLocks noGrp="1"/>
          </p:cNvSpPr>
          <p:nvPr>
            <p:ph type="ctrTitle"/>
          </p:nvPr>
        </p:nvSpPr>
        <p:spPr>
          <a:xfrm>
            <a:off x="1524000" y="532661"/>
            <a:ext cx="9144000" cy="1067540"/>
          </a:xfrm>
        </p:spPr>
        <p:txBody>
          <a:bodyPr>
            <a:normAutofit/>
          </a:bodyPr>
          <a:lstStyle/>
          <a:p>
            <a:r>
              <a:rPr lang="en-IN" sz="4400" dirty="0">
                <a:latin typeface="Times New Roman" panose="02020603050405020304" pitchFamily="18" charset="0"/>
                <a:cs typeface="Times New Roman" panose="02020603050405020304" pitchFamily="18" charset="0"/>
              </a:rPr>
              <a:t>4. Conflict Resolution</a:t>
            </a:r>
          </a:p>
        </p:txBody>
      </p:sp>
      <p:sp>
        <p:nvSpPr>
          <p:cNvPr id="3" name="Subtitle 2">
            <a:extLst>
              <a:ext uri="{FF2B5EF4-FFF2-40B4-BE49-F238E27FC236}">
                <a16:creationId xmlns:a16="http://schemas.microsoft.com/office/drawing/2014/main" id="{8AA82801-481D-4FF3-8009-C0AC73EB4847}"/>
              </a:ext>
            </a:extLst>
          </p:cNvPr>
          <p:cNvSpPr>
            <a:spLocks noGrp="1"/>
          </p:cNvSpPr>
          <p:nvPr>
            <p:ph type="subTitle" idx="1"/>
          </p:nvPr>
        </p:nvSpPr>
        <p:spPr>
          <a:xfrm>
            <a:off x="1524000" y="2157274"/>
            <a:ext cx="9144000" cy="3100526"/>
          </a:xfrm>
        </p:spPr>
        <p:txBody>
          <a:bodyPr/>
          <a:lstStyle/>
          <a:p>
            <a:pPr>
              <a:lnSpc>
                <a:spcPct val="150000"/>
              </a:lnSpc>
            </a:pPr>
            <a:endParaRPr lang="en-US" b="0" i="1" dirty="0">
              <a:solidFill>
                <a:srgbClr val="2A2A2A"/>
              </a:solidFill>
              <a:effectLst/>
              <a:latin typeface="Open Sans" panose="020B0606030504020204" pitchFamily="34" charset="0"/>
            </a:endParaRPr>
          </a:p>
          <a:p>
            <a:pPr>
              <a:lnSpc>
                <a:spcPct val="150000"/>
              </a:lnSpc>
            </a:pPr>
            <a:r>
              <a:rPr lang="en-US" b="1" dirty="0">
                <a:solidFill>
                  <a:srgbClr val="2A2A2A"/>
                </a:solidFill>
                <a:latin typeface="Times New Roman" panose="02020603050405020304" pitchFamily="18" charset="0"/>
                <a:cs typeface="Times New Roman" panose="02020603050405020304" pitchFamily="18" charset="0"/>
              </a:rPr>
              <a:t>What is Conflict?</a:t>
            </a:r>
          </a:p>
          <a:p>
            <a:pPr>
              <a:lnSpc>
                <a:spcPct val="150000"/>
              </a:lnSpc>
            </a:pPr>
            <a:r>
              <a:rPr lang="en-US" b="0" i="1" dirty="0">
                <a:solidFill>
                  <a:srgbClr val="2A2A2A"/>
                </a:solidFill>
                <a:effectLst/>
                <a:latin typeface="Open Sans" panose="020B0606030504020204" pitchFamily="34" charset="0"/>
              </a:rPr>
              <a:t>“</a:t>
            </a:r>
            <a:r>
              <a:rPr lang="en-US" b="0" i="1" dirty="0">
                <a:solidFill>
                  <a:srgbClr val="2A2A2A"/>
                </a:solidFill>
                <a:effectLst/>
                <a:latin typeface="Times New Roman" panose="02020603050405020304" pitchFamily="18" charset="0"/>
                <a:cs typeface="Times New Roman" panose="02020603050405020304" pitchFamily="18" charset="0"/>
              </a:rPr>
              <a:t>An expressed struggle between at least two interdependent parties who perceive incompatible goals, scarce resources, and interference from the other party in achieving their goals”.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7214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446E5-9568-153F-6E93-40181E7829AE}"/>
              </a:ext>
            </a:extLst>
          </p:cNvPr>
          <p:cNvSpPr>
            <a:spLocks noGrp="1"/>
          </p:cNvSpPr>
          <p:nvPr>
            <p:ph type="ctrTitle"/>
          </p:nvPr>
        </p:nvSpPr>
        <p:spPr>
          <a:xfrm>
            <a:off x="1524000" y="550507"/>
            <a:ext cx="9144000" cy="1049694"/>
          </a:xfrm>
        </p:spPr>
        <p:txBody>
          <a:bodyPr>
            <a:normAutofit/>
          </a:bodyPr>
          <a:lstStyle/>
          <a:p>
            <a:r>
              <a:rPr lang="en-IN" sz="4800" dirty="0">
                <a:latin typeface="Times New Roman" panose="02020603050405020304" pitchFamily="18" charset="0"/>
                <a:cs typeface="Times New Roman" panose="02020603050405020304" pitchFamily="18" charset="0"/>
              </a:rPr>
              <a:t>Causes of Conflict at Work</a:t>
            </a:r>
          </a:p>
        </p:txBody>
      </p:sp>
      <p:sp>
        <p:nvSpPr>
          <p:cNvPr id="3" name="Subtitle 2">
            <a:extLst>
              <a:ext uri="{FF2B5EF4-FFF2-40B4-BE49-F238E27FC236}">
                <a16:creationId xmlns:a16="http://schemas.microsoft.com/office/drawing/2014/main" id="{6AFFB4F9-85C3-6A2D-96FB-B8831E65AFBB}"/>
              </a:ext>
            </a:extLst>
          </p:cNvPr>
          <p:cNvSpPr>
            <a:spLocks noGrp="1"/>
          </p:cNvSpPr>
          <p:nvPr>
            <p:ph type="subTitle" idx="1"/>
          </p:nvPr>
        </p:nvSpPr>
        <p:spPr>
          <a:xfrm>
            <a:off x="1524000" y="2164702"/>
            <a:ext cx="9144000" cy="3359020"/>
          </a:xfrm>
        </p:spPr>
        <p:txBody>
          <a:bodyPr>
            <a:normAutofit/>
          </a:bodyPr>
          <a:lstStyle/>
          <a:p>
            <a:pPr marL="457200" indent="-457200" algn="l">
              <a:spcAft>
                <a:spcPts val="600"/>
              </a:spcAft>
              <a:buAutoNum type="arabicPeriod"/>
            </a:pPr>
            <a:r>
              <a:rPr lang="en-IN" sz="3600" dirty="0">
                <a:latin typeface="Times New Roman" panose="02020603050405020304" pitchFamily="18" charset="0"/>
                <a:cs typeface="Times New Roman" panose="02020603050405020304" pitchFamily="18" charset="0"/>
              </a:rPr>
              <a:t>Unclear responsibilities</a:t>
            </a:r>
          </a:p>
          <a:p>
            <a:pPr marL="457200" indent="-457200" algn="l">
              <a:spcAft>
                <a:spcPts val="600"/>
              </a:spcAft>
              <a:buAutoNum type="arabicPeriod"/>
            </a:pPr>
            <a:r>
              <a:rPr lang="en-IN" sz="3600" dirty="0">
                <a:latin typeface="Times New Roman" panose="02020603050405020304" pitchFamily="18" charset="0"/>
                <a:cs typeface="Times New Roman" panose="02020603050405020304" pitchFamily="18" charset="0"/>
              </a:rPr>
              <a:t>Competition for resources</a:t>
            </a:r>
          </a:p>
          <a:p>
            <a:pPr marL="457200" indent="-457200" algn="l">
              <a:spcAft>
                <a:spcPts val="600"/>
              </a:spcAft>
              <a:buAutoNum type="arabicPeriod"/>
            </a:pPr>
            <a:r>
              <a:rPr lang="en-IN" sz="3600" dirty="0">
                <a:latin typeface="Times New Roman" panose="02020603050405020304" pitchFamily="18" charset="0"/>
                <a:cs typeface="Times New Roman" panose="02020603050405020304" pitchFamily="18" charset="0"/>
              </a:rPr>
              <a:t>Different interests</a:t>
            </a:r>
          </a:p>
        </p:txBody>
      </p:sp>
    </p:spTree>
    <p:extLst>
      <p:ext uri="{BB962C8B-B14F-4D97-AF65-F5344CB8AC3E}">
        <p14:creationId xmlns:p14="http://schemas.microsoft.com/office/powerpoint/2010/main" val="13064185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2E423-7998-8200-A435-CF824DD2EC10}"/>
              </a:ext>
            </a:extLst>
          </p:cNvPr>
          <p:cNvSpPr>
            <a:spLocks noGrp="1"/>
          </p:cNvSpPr>
          <p:nvPr>
            <p:ph type="ctrTitle"/>
          </p:nvPr>
        </p:nvSpPr>
        <p:spPr>
          <a:xfrm>
            <a:off x="1524000" y="653143"/>
            <a:ext cx="9144000" cy="947057"/>
          </a:xfrm>
        </p:spPr>
        <p:txBody>
          <a:bodyPr>
            <a:normAutofit/>
          </a:bodyPr>
          <a:lstStyle/>
          <a:p>
            <a:r>
              <a:rPr lang="en-IN" sz="4400" dirty="0">
                <a:latin typeface="Times New Roman" panose="02020603050405020304" pitchFamily="18" charset="0"/>
                <a:cs typeface="Times New Roman" panose="02020603050405020304" pitchFamily="18" charset="0"/>
              </a:rPr>
              <a:t>Types of Conflict at Workplace</a:t>
            </a:r>
          </a:p>
        </p:txBody>
      </p:sp>
      <p:sp>
        <p:nvSpPr>
          <p:cNvPr id="3" name="Subtitle 2">
            <a:extLst>
              <a:ext uri="{FF2B5EF4-FFF2-40B4-BE49-F238E27FC236}">
                <a16:creationId xmlns:a16="http://schemas.microsoft.com/office/drawing/2014/main" id="{129F91BE-ED7B-BC77-50F5-9F527A598336}"/>
              </a:ext>
            </a:extLst>
          </p:cNvPr>
          <p:cNvSpPr>
            <a:spLocks noGrp="1"/>
          </p:cNvSpPr>
          <p:nvPr>
            <p:ph type="subTitle" idx="1"/>
          </p:nvPr>
        </p:nvSpPr>
        <p:spPr>
          <a:xfrm>
            <a:off x="1524000" y="2230016"/>
            <a:ext cx="9144000" cy="3027784"/>
          </a:xfrm>
        </p:spPr>
        <p:txBody>
          <a:bodyPr>
            <a:normAutofit/>
          </a:bodyPr>
          <a:lstStyle/>
          <a:p>
            <a:pPr algn="l"/>
            <a:r>
              <a:rPr lang="en-IN" sz="3600" dirty="0">
                <a:latin typeface="Times New Roman" panose="02020603050405020304" pitchFamily="18" charset="0"/>
                <a:cs typeface="Times New Roman" panose="02020603050405020304" pitchFamily="18" charset="0"/>
              </a:rPr>
              <a:t>Personality Conflict</a:t>
            </a:r>
          </a:p>
          <a:p>
            <a:pPr algn="l"/>
            <a:r>
              <a:rPr lang="en-IN" sz="3600" dirty="0">
                <a:latin typeface="Times New Roman" panose="02020603050405020304" pitchFamily="18" charset="0"/>
                <a:cs typeface="Times New Roman" panose="02020603050405020304" pitchFamily="18" charset="0"/>
              </a:rPr>
              <a:t>Substantive Conflict</a:t>
            </a:r>
          </a:p>
        </p:txBody>
      </p:sp>
    </p:spTree>
    <p:extLst>
      <p:ext uri="{BB962C8B-B14F-4D97-AF65-F5344CB8AC3E}">
        <p14:creationId xmlns:p14="http://schemas.microsoft.com/office/powerpoint/2010/main" val="2829382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11D24-465F-41E6-BCAC-3D31C07FF1E2}"/>
              </a:ext>
            </a:extLst>
          </p:cNvPr>
          <p:cNvSpPr>
            <a:spLocks noGrp="1"/>
          </p:cNvSpPr>
          <p:nvPr>
            <p:ph type="ctrTitle"/>
          </p:nvPr>
        </p:nvSpPr>
        <p:spPr>
          <a:xfrm>
            <a:off x="1524000" y="470517"/>
            <a:ext cx="9144000" cy="665825"/>
          </a:xfrm>
        </p:spPr>
        <p:txBody>
          <a:bodyPr>
            <a:normAutofit fontScale="90000"/>
          </a:bodyPr>
          <a:lstStyle/>
          <a:p>
            <a:r>
              <a:rPr lang="en-IN" sz="4400" dirty="0">
                <a:latin typeface="Times New Roman" panose="02020603050405020304" pitchFamily="18" charset="0"/>
                <a:cs typeface="Times New Roman" panose="02020603050405020304" pitchFamily="18" charset="0"/>
              </a:rPr>
              <a:t>Why should you resolve conflicts?</a:t>
            </a:r>
          </a:p>
        </p:txBody>
      </p:sp>
      <p:sp>
        <p:nvSpPr>
          <p:cNvPr id="3" name="Subtitle 2">
            <a:extLst>
              <a:ext uri="{FF2B5EF4-FFF2-40B4-BE49-F238E27FC236}">
                <a16:creationId xmlns:a16="http://schemas.microsoft.com/office/drawing/2014/main" id="{5ECD812B-1C58-49DD-9B4E-0327E1058DB2}"/>
              </a:ext>
            </a:extLst>
          </p:cNvPr>
          <p:cNvSpPr>
            <a:spLocks noGrp="1"/>
          </p:cNvSpPr>
          <p:nvPr>
            <p:ph type="subTitle" idx="1"/>
          </p:nvPr>
        </p:nvSpPr>
        <p:spPr>
          <a:xfrm>
            <a:off x="1524000" y="1509203"/>
            <a:ext cx="9144000" cy="4980373"/>
          </a:xfrm>
        </p:spPr>
        <p:txBody>
          <a:bodyPr>
            <a:normAutofit lnSpcReduction="10000"/>
          </a:bodyPr>
          <a:lstStyle/>
          <a:p>
            <a:pPr algn="just">
              <a:lnSpc>
                <a:spcPct val="150000"/>
              </a:lnSpc>
              <a:buFont typeface="Arial" panose="020B0604020202020204" pitchFamily="34" charset="0"/>
              <a:buChar char="•"/>
            </a:pPr>
            <a:r>
              <a:rPr lang="en-US" sz="1800" b="0" i="0" dirty="0">
                <a:solidFill>
                  <a:srgbClr val="191919"/>
                </a:solidFill>
                <a:effectLst/>
                <a:latin typeface="Times New Roman" panose="02020603050405020304" pitchFamily="18" charset="0"/>
                <a:cs typeface="Times New Roman" panose="02020603050405020304" pitchFamily="18" charset="0"/>
              </a:rPr>
              <a:t>To understand more about those whose ideas, beliefs, and backgrounds may be different from your own. In order to resolve a conflict, you'll need to look at the conflict from your opponent's point of view and learn more about this person or group's perspective and motivations.</a:t>
            </a:r>
          </a:p>
          <a:p>
            <a:pPr algn="just">
              <a:lnSpc>
                <a:spcPct val="150000"/>
              </a:lnSpc>
              <a:buFont typeface="Arial" panose="020B0604020202020204" pitchFamily="34" charset="0"/>
              <a:buChar char="•"/>
            </a:pPr>
            <a:endParaRPr lang="en-US" sz="1800" b="0" i="0" dirty="0">
              <a:solidFill>
                <a:srgbClr val="191919"/>
              </a:solidFill>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1800" b="0" i="0" dirty="0">
                <a:solidFill>
                  <a:srgbClr val="191919"/>
                </a:solidFill>
                <a:effectLst/>
                <a:latin typeface="Times New Roman" panose="02020603050405020304" pitchFamily="18" charset="0"/>
                <a:cs typeface="Times New Roman" panose="02020603050405020304" pitchFamily="18" charset="0"/>
              </a:rPr>
              <a:t>To ensure that your relationships with opponents continue and grow. If you make peace with your opponents, you increase your own allies in the community. Successful negotiations pave the way for smooth relationships in the future.</a:t>
            </a:r>
          </a:p>
          <a:p>
            <a:pPr algn="just">
              <a:lnSpc>
                <a:spcPct val="150000"/>
              </a:lnSpc>
            </a:pPr>
            <a:endParaRPr lang="en-US" sz="1800" b="0" i="0" dirty="0">
              <a:solidFill>
                <a:srgbClr val="191919"/>
              </a:solidFill>
              <a:effectLst/>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1800" b="0" i="0" dirty="0">
                <a:solidFill>
                  <a:srgbClr val="191919"/>
                </a:solidFill>
                <a:effectLst/>
                <a:latin typeface="Times New Roman" panose="02020603050405020304" pitchFamily="18" charset="0"/>
                <a:cs typeface="Times New Roman" panose="02020603050405020304" pitchFamily="18" charset="0"/>
              </a:rPr>
              <a:t>To find peaceful solutions to difficult situations. Full-blown battles use up resources -- time, energy, good reputation, motivation. By negotiating, you avoid wasting these resources, and you may actually make new allies and find new resources!</a:t>
            </a:r>
          </a:p>
          <a:p>
            <a:endParaRPr lang="en-IN" dirty="0"/>
          </a:p>
        </p:txBody>
      </p:sp>
    </p:spTree>
    <p:extLst>
      <p:ext uri="{BB962C8B-B14F-4D97-AF65-F5344CB8AC3E}">
        <p14:creationId xmlns:p14="http://schemas.microsoft.com/office/powerpoint/2010/main" val="1607226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BA182-3734-4CF9-9444-01C7A4992898}"/>
              </a:ext>
            </a:extLst>
          </p:cNvPr>
          <p:cNvSpPr>
            <a:spLocks noGrp="1"/>
          </p:cNvSpPr>
          <p:nvPr>
            <p:ph type="ctrTitle"/>
          </p:nvPr>
        </p:nvSpPr>
        <p:spPr>
          <a:xfrm>
            <a:off x="1524000" y="443883"/>
            <a:ext cx="9144000" cy="887767"/>
          </a:xfrm>
        </p:spPr>
        <p:txBody>
          <a:bodyPr>
            <a:normAutofit/>
          </a:bodyPr>
          <a:lstStyle/>
          <a:p>
            <a:r>
              <a:rPr lang="en-IN" sz="4400" dirty="0">
                <a:latin typeface="Times New Roman" panose="02020603050405020304" pitchFamily="18" charset="0"/>
                <a:cs typeface="Times New Roman" panose="02020603050405020304" pitchFamily="18" charset="0"/>
              </a:rPr>
              <a:t>How should you resolve a conflict?</a:t>
            </a:r>
          </a:p>
        </p:txBody>
      </p:sp>
      <p:sp>
        <p:nvSpPr>
          <p:cNvPr id="3" name="Subtitle 2">
            <a:extLst>
              <a:ext uri="{FF2B5EF4-FFF2-40B4-BE49-F238E27FC236}">
                <a16:creationId xmlns:a16="http://schemas.microsoft.com/office/drawing/2014/main" id="{CB245A1C-2284-4C79-B0A2-9BE9B615EBFD}"/>
              </a:ext>
            </a:extLst>
          </p:cNvPr>
          <p:cNvSpPr>
            <a:spLocks noGrp="1"/>
          </p:cNvSpPr>
          <p:nvPr>
            <p:ph type="subTitle" idx="1"/>
          </p:nvPr>
        </p:nvSpPr>
        <p:spPr>
          <a:xfrm>
            <a:off x="1524000" y="1695635"/>
            <a:ext cx="9144000" cy="4634144"/>
          </a:xfrm>
        </p:spPr>
        <p:txBody>
          <a:bodyPr>
            <a:normAutofit fontScale="92500" lnSpcReduction="10000"/>
          </a:bodyPr>
          <a:lstStyle/>
          <a:p>
            <a:pPr algn="l"/>
            <a:r>
              <a:rPr lang="en-US" b="0" i="0" dirty="0">
                <a:solidFill>
                  <a:srgbClr val="191919"/>
                </a:solidFill>
                <a:effectLst/>
                <a:latin typeface="Times New Roman" panose="02020603050405020304" pitchFamily="18" charset="0"/>
                <a:cs typeface="Times New Roman" panose="02020603050405020304" pitchFamily="18" charset="0"/>
              </a:rPr>
              <a:t>There are seven steps to successfully negotiating the resolution of a conflict:</a:t>
            </a:r>
          </a:p>
          <a:p>
            <a:pPr algn="l">
              <a:lnSpc>
                <a:spcPct val="150000"/>
              </a:lnSpc>
              <a:buFont typeface="+mj-lt"/>
              <a:buAutoNum type="arabicPeriod"/>
            </a:pPr>
            <a:r>
              <a:rPr lang="en-US" b="0" i="0" dirty="0">
                <a:solidFill>
                  <a:srgbClr val="191919"/>
                </a:solidFill>
                <a:effectLst/>
                <a:latin typeface="Times New Roman" panose="02020603050405020304" pitchFamily="18" charset="0"/>
                <a:cs typeface="Times New Roman" panose="02020603050405020304" pitchFamily="18" charset="0"/>
              </a:rPr>
              <a:t> Understand the conflict</a:t>
            </a:r>
          </a:p>
          <a:p>
            <a:pPr algn="l">
              <a:lnSpc>
                <a:spcPct val="150000"/>
              </a:lnSpc>
              <a:buFont typeface="+mj-lt"/>
              <a:buAutoNum type="arabicPeriod"/>
            </a:pPr>
            <a:r>
              <a:rPr lang="en-US" b="0" i="0" dirty="0">
                <a:solidFill>
                  <a:srgbClr val="191919"/>
                </a:solidFill>
                <a:effectLst/>
                <a:latin typeface="Times New Roman" panose="02020603050405020304" pitchFamily="18" charset="0"/>
                <a:cs typeface="Times New Roman" panose="02020603050405020304" pitchFamily="18" charset="0"/>
              </a:rPr>
              <a:t> Communicate with the opposition</a:t>
            </a:r>
          </a:p>
          <a:p>
            <a:pPr algn="l">
              <a:lnSpc>
                <a:spcPct val="150000"/>
              </a:lnSpc>
              <a:buFont typeface="+mj-lt"/>
              <a:buAutoNum type="arabicPeriod"/>
            </a:pPr>
            <a:r>
              <a:rPr lang="en-US" b="0" i="0" dirty="0">
                <a:solidFill>
                  <a:srgbClr val="191919"/>
                </a:solidFill>
                <a:effectLst/>
                <a:latin typeface="Times New Roman" panose="02020603050405020304" pitchFamily="18" charset="0"/>
                <a:cs typeface="Times New Roman" panose="02020603050405020304" pitchFamily="18" charset="0"/>
              </a:rPr>
              <a:t> Brainstorm possible resolutions</a:t>
            </a:r>
          </a:p>
          <a:p>
            <a:pPr algn="l">
              <a:lnSpc>
                <a:spcPct val="150000"/>
              </a:lnSpc>
              <a:buFont typeface="+mj-lt"/>
              <a:buAutoNum type="arabicPeriod"/>
            </a:pPr>
            <a:r>
              <a:rPr lang="en-US" b="0" i="0" dirty="0">
                <a:solidFill>
                  <a:srgbClr val="191919"/>
                </a:solidFill>
                <a:effectLst/>
                <a:latin typeface="Times New Roman" panose="02020603050405020304" pitchFamily="18" charset="0"/>
                <a:cs typeface="Times New Roman" panose="02020603050405020304" pitchFamily="18" charset="0"/>
              </a:rPr>
              <a:t> Choose the best resolution</a:t>
            </a:r>
          </a:p>
          <a:p>
            <a:pPr algn="l">
              <a:lnSpc>
                <a:spcPct val="150000"/>
              </a:lnSpc>
              <a:buFont typeface="+mj-lt"/>
              <a:buAutoNum type="arabicPeriod"/>
            </a:pPr>
            <a:r>
              <a:rPr lang="en-US" b="0" i="0" dirty="0">
                <a:solidFill>
                  <a:srgbClr val="191919"/>
                </a:solidFill>
                <a:effectLst/>
                <a:latin typeface="Times New Roman" panose="02020603050405020304" pitchFamily="18" charset="0"/>
                <a:cs typeface="Times New Roman" panose="02020603050405020304" pitchFamily="18" charset="0"/>
              </a:rPr>
              <a:t> Use a third party mediator</a:t>
            </a:r>
          </a:p>
          <a:p>
            <a:pPr algn="l">
              <a:lnSpc>
                <a:spcPct val="150000"/>
              </a:lnSpc>
              <a:buFont typeface="+mj-lt"/>
              <a:buAutoNum type="arabicPeriod"/>
            </a:pPr>
            <a:r>
              <a:rPr lang="en-US" b="0" i="0" dirty="0">
                <a:solidFill>
                  <a:srgbClr val="191919"/>
                </a:solidFill>
                <a:effectLst/>
                <a:latin typeface="Times New Roman" panose="02020603050405020304" pitchFamily="18" charset="0"/>
                <a:cs typeface="Times New Roman" panose="02020603050405020304" pitchFamily="18" charset="0"/>
              </a:rPr>
              <a:t> Explore alternatives</a:t>
            </a:r>
          </a:p>
          <a:p>
            <a:pPr algn="l">
              <a:lnSpc>
                <a:spcPct val="150000"/>
              </a:lnSpc>
              <a:buFont typeface="+mj-lt"/>
              <a:buAutoNum type="arabicPeriod"/>
            </a:pPr>
            <a:r>
              <a:rPr lang="en-US" b="0" i="0" dirty="0">
                <a:solidFill>
                  <a:srgbClr val="191919"/>
                </a:solidFill>
                <a:effectLst/>
                <a:latin typeface="Times New Roman" panose="02020603050405020304" pitchFamily="18" charset="0"/>
                <a:cs typeface="Times New Roman" panose="02020603050405020304" pitchFamily="18" charset="0"/>
              </a:rPr>
              <a:t> Cope with stressful situations and pressure tactics</a:t>
            </a:r>
          </a:p>
          <a:p>
            <a:endParaRPr lang="en-IN" dirty="0"/>
          </a:p>
        </p:txBody>
      </p:sp>
    </p:spTree>
    <p:extLst>
      <p:ext uri="{BB962C8B-B14F-4D97-AF65-F5344CB8AC3E}">
        <p14:creationId xmlns:p14="http://schemas.microsoft.com/office/powerpoint/2010/main" val="2351749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691B9-D173-4AE5-8073-0B427878D97E}"/>
              </a:ext>
            </a:extLst>
          </p:cNvPr>
          <p:cNvSpPr>
            <a:spLocks noGrp="1"/>
          </p:cNvSpPr>
          <p:nvPr>
            <p:ph type="ctrTitle"/>
          </p:nvPr>
        </p:nvSpPr>
        <p:spPr>
          <a:xfrm>
            <a:off x="1524000" y="461639"/>
            <a:ext cx="9144000" cy="772357"/>
          </a:xfrm>
        </p:spPr>
        <p:txBody>
          <a:bodyPr>
            <a:normAutofit/>
          </a:bodyPr>
          <a:lstStyle/>
          <a:p>
            <a:r>
              <a:rPr lang="en-IN" sz="4400" dirty="0">
                <a:latin typeface="Times New Roman" panose="02020603050405020304" pitchFamily="18" charset="0"/>
                <a:cs typeface="Times New Roman" panose="02020603050405020304" pitchFamily="18" charset="0"/>
              </a:rPr>
              <a:t>5. Creative Thinking</a:t>
            </a:r>
          </a:p>
        </p:txBody>
      </p:sp>
      <p:sp>
        <p:nvSpPr>
          <p:cNvPr id="3" name="Subtitle 2">
            <a:extLst>
              <a:ext uri="{FF2B5EF4-FFF2-40B4-BE49-F238E27FC236}">
                <a16:creationId xmlns:a16="http://schemas.microsoft.com/office/drawing/2014/main" id="{5934BDBE-B62F-4283-A92E-939ACDDD02CA}"/>
              </a:ext>
            </a:extLst>
          </p:cNvPr>
          <p:cNvSpPr>
            <a:spLocks noGrp="1"/>
          </p:cNvSpPr>
          <p:nvPr>
            <p:ph type="subTitle" idx="1"/>
          </p:nvPr>
        </p:nvSpPr>
        <p:spPr>
          <a:xfrm>
            <a:off x="1524000" y="1500325"/>
            <a:ext cx="9144000" cy="4896035"/>
          </a:xfrm>
        </p:spPr>
        <p:txBody>
          <a:bodyPr/>
          <a:lstStyle/>
          <a:p>
            <a:pPr marL="342900" indent="-342900" algn="just">
              <a:lnSpc>
                <a:spcPct val="150000"/>
              </a:lnSpc>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Creative thinking is our ability to look at ideas presented or a scenario, and find new alternatives that solves the problem.</a:t>
            </a:r>
          </a:p>
          <a:p>
            <a:pPr marL="342900" indent="-342900" algn="just">
              <a:lnSpc>
                <a:spcPct val="150000"/>
              </a:lnSpc>
              <a:buFont typeface="Arial" panose="020B0604020202020204" pitchFamily="34" charset="0"/>
              <a:buChar char="•"/>
            </a:pP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It is important to start with a clear definition of what we mean by creativity, as there are two completely different types. The first is </a:t>
            </a:r>
            <a:r>
              <a:rPr lang="en-US"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technical creativity</a:t>
            </a: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where people create new theories, technologies or ideas. The second is </a:t>
            </a:r>
            <a:r>
              <a:rPr lang="en-US"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artistic creativity</a:t>
            </a: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which is more born of skill, technique and self-expression. </a:t>
            </a: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735223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E0B16-E2DB-4D36-9C23-852E90ED278C}"/>
              </a:ext>
            </a:extLst>
          </p:cNvPr>
          <p:cNvSpPr>
            <a:spLocks noGrp="1"/>
          </p:cNvSpPr>
          <p:nvPr>
            <p:ph type="ctrTitle"/>
          </p:nvPr>
        </p:nvSpPr>
        <p:spPr>
          <a:xfrm>
            <a:off x="1524000" y="581565"/>
            <a:ext cx="9144000" cy="1018635"/>
          </a:xfrm>
        </p:spPr>
        <p:txBody>
          <a:bodyPr>
            <a:normAutofit/>
          </a:bodyPr>
          <a:lstStyle/>
          <a:p>
            <a:r>
              <a:rPr lang="en-IN" sz="4400" dirty="0">
                <a:latin typeface="Times New Roman" panose="02020603050405020304" pitchFamily="18" charset="0"/>
                <a:cs typeface="Times New Roman" panose="02020603050405020304" pitchFamily="18" charset="0"/>
              </a:rPr>
              <a:t>Business Dictionary</a:t>
            </a:r>
          </a:p>
        </p:txBody>
      </p:sp>
      <p:sp>
        <p:nvSpPr>
          <p:cNvPr id="3" name="Subtitle 2">
            <a:extLst>
              <a:ext uri="{FF2B5EF4-FFF2-40B4-BE49-F238E27FC236}">
                <a16:creationId xmlns:a16="http://schemas.microsoft.com/office/drawing/2014/main" id="{225F80B5-9BDD-48D4-BF6B-56AA7C4B74E9}"/>
              </a:ext>
            </a:extLst>
          </p:cNvPr>
          <p:cNvSpPr>
            <a:spLocks noGrp="1"/>
          </p:cNvSpPr>
          <p:nvPr>
            <p:ph type="subTitle" idx="1"/>
          </p:nvPr>
        </p:nvSpPr>
        <p:spPr>
          <a:xfrm>
            <a:off x="1524000" y="1890943"/>
            <a:ext cx="9144000" cy="4385491"/>
          </a:xfrm>
        </p:spPr>
        <p:txBody>
          <a:bodyPr/>
          <a:lstStyle/>
          <a:p>
            <a:pPr marL="285750" indent="-285750" algn="just">
              <a:lnSpc>
                <a:spcPct val="150000"/>
              </a:lnSpc>
              <a:buFont typeface="Arial" panose="020B0604020202020204" pitchFamily="34" charset="0"/>
              <a:buChar char="•"/>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 way of looking at problems or situations from a fresh perspective that suggests unorthodox solutions. Creative thinking can be stimulated both by an unstructured process such as brainstorming, and by a structured process such as lateral thinking.</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Creativity is, therefore, our ability to form something new out of what’s presented. It’s our ability to think differently and provide new angles and perspectives to a solution. This can translate into a new solution that wasn’t there or even the realization that a problem doesn’t need a solution at the moment or at all.</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3014672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C44E4-2C79-424C-94D1-0C6D3C8FB32F}"/>
              </a:ext>
            </a:extLst>
          </p:cNvPr>
          <p:cNvSpPr>
            <a:spLocks noGrp="1"/>
          </p:cNvSpPr>
          <p:nvPr>
            <p:ph type="ctrTitle"/>
          </p:nvPr>
        </p:nvSpPr>
        <p:spPr>
          <a:xfrm>
            <a:off x="1524000" y="399495"/>
            <a:ext cx="9144000" cy="825623"/>
          </a:xfrm>
        </p:spPr>
        <p:txBody>
          <a:bodyPr>
            <a:normAutofit/>
          </a:bodyPr>
          <a:lstStyle/>
          <a:p>
            <a:r>
              <a:rPr lang="en-IN" sz="4400" dirty="0">
                <a:latin typeface="Times New Roman" panose="02020603050405020304" pitchFamily="18" charset="0"/>
                <a:cs typeface="Times New Roman" panose="02020603050405020304" pitchFamily="18" charset="0"/>
              </a:rPr>
              <a:t>Need for Creative Thinking</a:t>
            </a:r>
          </a:p>
        </p:txBody>
      </p:sp>
      <p:sp>
        <p:nvSpPr>
          <p:cNvPr id="3" name="Subtitle 2">
            <a:extLst>
              <a:ext uri="{FF2B5EF4-FFF2-40B4-BE49-F238E27FC236}">
                <a16:creationId xmlns:a16="http://schemas.microsoft.com/office/drawing/2014/main" id="{1626447C-CBA3-461C-9580-E41944D6ED19}"/>
              </a:ext>
            </a:extLst>
          </p:cNvPr>
          <p:cNvSpPr>
            <a:spLocks noGrp="1"/>
          </p:cNvSpPr>
          <p:nvPr>
            <p:ph type="subTitle" idx="1"/>
          </p:nvPr>
        </p:nvSpPr>
        <p:spPr>
          <a:xfrm>
            <a:off x="1524000" y="1624613"/>
            <a:ext cx="9144000" cy="4833891"/>
          </a:xfrm>
        </p:spPr>
        <p:txBody>
          <a:bodyPr>
            <a:normAutofit fontScale="92500" lnSpcReduction="10000"/>
          </a:bodyPr>
          <a:lstStyle/>
          <a:p>
            <a:pPr marL="342900" lvl="0" indent="-342900" algn="just">
              <a:lnSpc>
                <a:spcPct val="115000"/>
              </a:lnSpc>
              <a:spcAft>
                <a:spcPts val="1000"/>
              </a:spcAft>
              <a:buFont typeface="Wingdings" panose="05000000000000000000" pitchFamily="2" charset="2"/>
              <a:buChar char=""/>
            </a:pPr>
            <a:r>
              <a:rPr lang="en-US" sz="1800" b="1" i="1"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Thinking creatively provides immense freedom.</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When we create, we have the opportunity to engage with the world without judging ourselves. It’s similar to what we felt when we were a child. Back then we didn’t care what people thought of us.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en-US" sz="1800" b="1" i="1"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Creative thinking provides </a:t>
            </a:r>
            <a:r>
              <a:rPr lang="en-US" sz="1800" b="1" i="1" u="sng"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self-awareness.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We start to think with authenticity as we use our own thoughts, feelings and beliefs. This creates biases in our ideas, but we can learn to set those aside and deeply learn about ourselves.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1000"/>
              </a:spcAft>
              <a:buFont typeface="Wingdings" panose="05000000000000000000" pitchFamily="2" charset="2"/>
              <a:buChar char=""/>
            </a:pPr>
            <a:r>
              <a:rPr lang="en-US" sz="1800" b="1" i="1" dirty="0">
                <a:solidFill>
                  <a:srgbClr val="000000"/>
                </a:solidFill>
                <a:effectLst/>
                <a:latin typeface="Bookman Old Style" panose="02050604050505020204" pitchFamily="18" charset="0"/>
                <a:ea typeface="Times New Roman" panose="02020603050405020304" pitchFamily="18" charset="0"/>
                <a:cs typeface="Times New Roman" panose="02020603050405020304" pitchFamily="18" charset="0"/>
              </a:rPr>
              <a:t>We become more confident in our ideas.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20000"/>
              </a:lnSpc>
            </a:pPr>
            <a:r>
              <a:rPr lang="en-US" sz="1800" dirty="0">
                <a:effectLst/>
                <a:latin typeface="Bookman Old Style" panose="02050604050505020204" pitchFamily="18" charset="0"/>
                <a:ea typeface="Times New Roman" panose="02020603050405020304" pitchFamily="18" charset="0"/>
                <a:cs typeface="Times New Roman" panose="02020603050405020304" pitchFamily="18" charset="0"/>
              </a:rPr>
              <a:t>Maybe right now, you don’t present ideas or your ideas get shut down. By tapping into creative thinking, we can build our confidence in our ideas and start to contribute to the group and our work at large</a:t>
            </a:r>
            <a:endParaRPr lang="en-IN" dirty="0"/>
          </a:p>
        </p:txBody>
      </p:sp>
    </p:spTree>
    <p:extLst>
      <p:ext uri="{BB962C8B-B14F-4D97-AF65-F5344CB8AC3E}">
        <p14:creationId xmlns:p14="http://schemas.microsoft.com/office/powerpoint/2010/main" val="6240996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960A4-ED3D-4A55-9F1E-2194FFF2F60C}"/>
              </a:ext>
            </a:extLst>
          </p:cNvPr>
          <p:cNvSpPr>
            <a:spLocks noGrp="1"/>
          </p:cNvSpPr>
          <p:nvPr>
            <p:ph type="ctrTitle"/>
          </p:nvPr>
        </p:nvSpPr>
        <p:spPr>
          <a:xfrm>
            <a:off x="1524000" y="523783"/>
            <a:ext cx="9144000" cy="958788"/>
          </a:xfrm>
        </p:spPr>
        <p:txBody>
          <a:bodyPr>
            <a:normAutofit/>
          </a:bodyPr>
          <a:lstStyle/>
          <a:p>
            <a:r>
              <a:rPr lang="en-IN" sz="4400" dirty="0">
                <a:latin typeface="Times New Roman" panose="02020603050405020304" pitchFamily="18" charset="0"/>
                <a:cs typeface="Times New Roman" panose="02020603050405020304" pitchFamily="18" charset="0"/>
              </a:rPr>
              <a:t>What are the Creative Thinking Skills?</a:t>
            </a:r>
          </a:p>
        </p:txBody>
      </p:sp>
      <p:sp>
        <p:nvSpPr>
          <p:cNvPr id="3" name="Subtitle 2">
            <a:extLst>
              <a:ext uri="{FF2B5EF4-FFF2-40B4-BE49-F238E27FC236}">
                <a16:creationId xmlns:a16="http://schemas.microsoft.com/office/drawing/2014/main" id="{908C3FC0-1C89-4B4D-8B6A-9C55C84694C9}"/>
              </a:ext>
            </a:extLst>
          </p:cNvPr>
          <p:cNvSpPr>
            <a:spLocks noGrp="1"/>
          </p:cNvSpPr>
          <p:nvPr>
            <p:ph type="subTitle" idx="1"/>
          </p:nvPr>
        </p:nvSpPr>
        <p:spPr>
          <a:xfrm>
            <a:off x="1524000" y="1864311"/>
            <a:ext cx="9144000" cy="4469906"/>
          </a:xfrm>
        </p:spPr>
        <p:txBody>
          <a:bodyPr/>
          <a:lstStyle/>
          <a:p>
            <a:pPr marL="457200" indent="-457200" algn="l">
              <a:lnSpc>
                <a:spcPct val="150000"/>
              </a:lnSpc>
              <a:buAutoNum type="arabicPeriod"/>
            </a:pPr>
            <a:r>
              <a:rPr lang="en-IN" dirty="0">
                <a:latin typeface="Times New Roman" panose="02020603050405020304" pitchFamily="18" charset="0"/>
                <a:cs typeface="Times New Roman" panose="02020603050405020304" pitchFamily="18" charset="0"/>
              </a:rPr>
              <a:t>Perception &amp; Empathy</a:t>
            </a:r>
          </a:p>
          <a:p>
            <a:pPr marL="457200" indent="-457200" algn="l">
              <a:lnSpc>
                <a:spcPct val="150000"/>
              </a:lnSpc>
              <a:buAutoNum type="arabicPeriod"/>
            </a:pPr>
            <a:r>
              <a:rPr lang="en-IN" dirty="0">
                <a:latin typeface="Times New Roman" panose="02020603050405020304" pitchFamily="18" charset="0"/>
                <a:cs typeface="Times New Roman" panose="02020603050405020304" pitchFamily="18" charset="0"/>
              </a:rPr>
              <a:t>Analytical</a:t>
            </a:r>
          </a:p>
          <a:p>
            <a:pPr marL="457200" indent="-457200" algn="l">
              <a:lnSpc>
                <a:spcPct val="150000"/>
              </a:lnSpc>
              <a:buAutoNum type="arabicPeriod"/>
            </a:pPr>
            <a:r>
              <a:rPr lang="en-IN" dirty="0">
                <a:latin typeface="Times New Roman" panose="02020603050405020304" pitchFamily="18" charset="0"/>
                <a:cs typeface="Times New Roman" panose="02020603050405020304" pitchFamily="18" charset="0"/>
              </a:rPr>
              <a:t>Open-Mindedness</a:t>
            </a:r>
          </a:p>
          <a:p>
            <a:pPr marL="457200" indent="-457200" algn="l">
              <a:lnSpc>
                <a:spcPct val="150000"/>
              </a:lnSpc>
              <a:buAutoNum type="arabicPeriod"/>
            </a:pPr>
            <a:r>
              <a:rPr lang="en-IN" dirty="0">
                <a:latin typeface="Times New Roman" panose="02020603050405020304" pitchFamily="18" charset="0"/>
                <a:cs typeface="Times New Roman" panose="02020603050405020304" pitchFamily="18" charset="0"/>
              </a:rPr>
              <a:t>Organized</a:t>
            </a:r>
          </a:p>
          <a:p>
            <a:pPr marL="457200" indent="-457200" algn="l">
              <a:lnSpc>
                <a:spcPct val="150000"/>
              </a:lnSpc>
              <a:buAutoNum type="arabicPeriod"/>
            </a:pPr>
            <a:r>
              <a:rPr lang="en-IN" dirty="0">
                <a:latin typeface="Times New Roman" panose="02020603050405020304" pitchFamily="18" charset="0"/>
                <a:cs typeface="Times New Roman" panose="02020603050405020304" pitchFamily="18" charset="0"/>
              </a:rPr>
              <a:t>Communication</a:t>
            </a:r>
          </a:p>
          <a:p>
            <a:pPr marL="457200" indent="-457200" algn="l">
              <a:lnSpc>
                <a:spcPct val="150000"/>
              </a:lnSpc>
              <a:buAutoNum type="arabicPeriod"/>
            </a:pPr>
            <a:r>
              <a:rPr lang="en-IN" dirty="0">
                <a:latin typeface="Times New Roman" panose="02020603050405020304" pitchFamily="18" charset="0"/>
                <a:cs typeface="Times New Roman" panose="02020603050405020304" pitchFamily="18" charset="0"/>
              </a:rPr>
              <a:t>Dissect Ideas</a:t>
            </a:r>
          </a:p>
        </p:txBody>
      </p:sp>
    </p:spTree>
    <p:extLst>
      <p:ext uri="{BB962C8B-B14F-4D97-AF65-F5344CB8AC3E}">
        <p14:creationId xmlns:p14="http://schemas.microsoft.com/office/powerpoint/2010/main" val="28051225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D6EC7-DF35-4151-B987-778F2AF258B8}"/>
              </a:ext>
            </a:extLst>
          </p:cNvPr>
          <p:cNvSpPr>
            <a:spLocks noGrp="1"/>
          </p:cNvSpPr>
          <p:nvPr>
            <p:ph type="ctrTitle"/>
          </p:nvPr>
        </p:nvSpPr>
        <p:spPr>
          <a:xfrm>
            <a:off x="1524000" y="461640"/>
            <a:ext cx="9144000" cy="896644"/>
          </a:xfrm>
        </p:spPr>
        <p:txBody>
          <a:bodyPr>
            <a:normAutofit/>
          </a:bodyPr>
          <a:lstStyle/>
          <a:p>
            <a:r>
              <a:rPr lang="en-IN" sz="4400" dirty="0">
                <a:latin typeface="Times New Roman" panose="02020603050405020304" pitchFamily="18" charset="0"/>
                <a:cs typeface="Times New Roman" panose="02020603050405020304" pitchFamily="18" charset="0"/>
              </a:rPr>
              <a:t>How to develop Creative Thinking?</a:t>
            </a:r>
          </a:p>
        </p:txBody>
      </p:sp>
      <p:sp>
        <p:nvSpPr>
          <p:cNvPr id="3" name="Subtitle 2">
            <a:extLst>
              <a:ext uri="{FF2B5EF4-FFF2-40B4-BE49-F238E27FC236}">
                <a16:creationId xmlns:a16="http://schemas.microsoft.com/office/drawing/2014/main" id="{139AB213-897F-4A3A-9281-DD48D5956B9D}"/>
              </a:ext>
            </a:extLst>
          </p:cNvPr>
          <p:cNvSpPr>
            <a:spLocks noGrp="1"/>
          </p:cNvSpPr>
          <p:nvPr>
            <p:ph type="subTitle" idx="1"/>
          </p:nvPr>
        </p:nvSpPr>
        <p:spPr>
          <a:xfrm>
            <a:off x="1524000" y="1890944"/>
            <a:ext cx="9144000" cy="4505416"/>
          </a:xfrm>
        </p:spPr>
        <p:txBody>
          <a:bodyPr/>
          <a:lstStyle/>
          <a:p>
            <a:pPr algn="l">
              <a:lnSpc>
                <a:spcPct val="150000"/>
              </a:lnSpc>
            </a:pPr>
            <a:r>
              <a:rPr lang="en-IN" dirty="0">
                <a:latin typeface="Times New Roman" panose="02020603050405020304" pitchFamily="18" charset="0"/>
                <a:cs typeface="Times New Roman" panose="02020603050405020304" pitchFamily="18" charset="0"/>
              </a:rPr>
              <a:t>1. Brainstorm ideas</a:t>
            </a:r>
          </a:p>
          <a:p>
            <a:pPr algn="l">
              <a:lnSpc>
                <a:spcPct val="150000"/>
              </a:lnSpc>
            </a:pPr>
            <a:r>
              <a:rPr lang="en-IN" dirty="0">
                <a:latin typeface="Times New Roman" panose="02020603050405020304" pitchFamily="18" charset="0"/>
                <a:cs typeface="Times New Roman" panose="02020603050405020304" pitchFamily="18" charset="0"/>
              </a:rPr>
              <a:t>2. Role-play Scenarios</a:t>
            </a:r>
          </a:p>
          <a:p>
            <a:pPr algn="l">
              <a:lnSpc>
                <a:spcPct val="150000"/>
              </a:lnSpc>
            </a:pPr>
            <a:r>
              <a:rPr lang="en-IN" dirty="0">
                <a:latin typeface="Times New Roman" panose="02020603050405020304" pitchFamily="18" charset="0"/>
                <a:cs typeface="Times New Roman" panose="02020603050405020304" pitchFamily="18" charset="0"/>
              </a:rPr>
              <a:t>3. Reframe the issue</a:t>
            </a:r>
          </a:p>
          <a:p>
            <a:pPr algn="l">
              <a:lnSpc>
                <a:spcPct val="150000"/>
              </a:lnSpc>
            </a:pPr>
            <a:r>
              <a:rPr lang="en-IN" dirty="0">
                <a:latin typeface="Times New Roman" panose="02020603050405020304" pitchFamily="18" charset="0"/>
                <a:cs typeface="Times New Roman" panose="02020603050405020304" pitchFamily="18" charset="0"/>
              </a:rPr>
              <a:t>4. Make the most of the creative flow</a:t>
            </a:r>
          </a:p>
          <a:p>
            <a:pPr algn="l">
              <a:lnSpc>
                <a:spcPct val="150000"/>
              </a:lnSpc>
            </a:pPr>
            <a:r>
              <a:rPr lang="en-IN" dirty="0">
                <a:latin typeface="Times New Roman" panose="02020603050405020304" pitchFamily="18" charset="0"/>
                <a:cs typeface="Times New Roman" panose="02020603050405020304" pitchFamily="18" charset="0"/>
              </a:rPr>
              <a:t>5. Stay open-minded and flexible</a:t>
            </a:r>
          </a:p>
          <a:p>
            <a:pPr algn="l">
              <a:lnSpc>
                <a:spcPct val="150000"/>
              </a:lnSpc>
            </a:pPr>
            <a:r>
              <a:rPr lang="en-IN" dirty="0">
                <a:latin typeface="Times New Roman" panose="02020603050405020304" pitchFamily="18" charset="0"/>
                <a:cs typeface="Times New Roman" panose="02020603050405020304" pitchFamily="18" charset="0"/>
              </a:rPr>
              <a:t>6. Keep your ego out of it</a:t>
            </a:r>
          </a:p>
        </p:txBody>
      </p:sp>
    </p:spTree>
    <p:extLst>
      <p:ext uri="{BB962C8B-B14F-4D97-AF65-F5344CB8AC3E}">
        <p14:creationId xmlns:p14="http://schemas.microsoft.com/office/powerpoint/2010/main" val="36574822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05E9C-0DC5-4CF4-8A00-9A952A0DC72F}"/>
              </a:ext>
            </a:extLst>
          </p:cNvPr>
          <p:cNvSpPr>
            <a:spLocks noGrp="1"/>
          </p:cNvSpPr>
          <p:nvPr>
            <p:ph type="ctrTitle"/>
          </p:nvPr>
        </p:nvSpPr>
        <p:spPr>
          <a:xfrm>
            <a:off x="1524000" y="568171"/>
            <a:ext cx="9144000" cy="861134"/>
          </a:xfrm>
        </p:spPr>
        <p:txBody>
          <a:bodyPr>
            <a:normAutofit/>
          </a:bodyPr>
          <a:lstStyle/>
          <a:p>
            <a:r>
              <a:rPr lang="en-IN" sz="4400" dirty="0">
                <a:latin typeface="Times New Roman" panose="02020603050405020304" pitchFamily="18" charset="0"/>
                <a:cs typeface="Times New Roman" panose="02020603050405020304" pitchFamily="18" charset="0"/>
              </a:rPr>
              <a:t>6. Bloom’s Taxonomy</a:t>
            </a:r>
          </a:p>
        </p:txBody>
      </p:sp>
      <p:sp>
        <p:nvSpPr>
          <p:cNvPr id="3" name="Subtitle 2">
            <a:extLst>
              <a:ext uri="{FF2B5EF4-FFF2-40B4-BE49-F238E27FC236}">
                <a16:creationId xmlns:a16="http://schemas.microsoft.com/office/drawing/2014/main" id="{2DD83359-04D4-40FE-A231-E7AB2BBE5492}"/>
              </a:ext>
            </a:extLst>
          </p:cNvPr>
          <p:cNvSpPr>
            <a:spLocks noGrp="1"/>
          </p:cNvSpPr>
          <p:nvPr>
            <p:ph type="subTitle" idx="1"/>
          </p:nvPr>
        </p:nvSpPr>
        <p:spPr>
          <a:xfrm>
            <a:off x="1014453" y="1846555"/>
            <a:ext cx="10587496" cy="4759584"/>
          </a:xfrm>
        </p:spPr>
        <p:txBody>
          <a:bodyPr/>
          <a:lstStyle/>
          <a:p>
            <a:endParaRPr lang="en-IN" dirty="0"/>
          </a:p>
        </p:txBody>
      </p:sp>
      <p:pic>
        <p:nvPicPr>
          <p:cNvPr id="1028" name="Picture 4" descr="Using Bloom's Taxonomy to Write Effective Learning Objectives | Teaching  Innovation and Pedagogical Support">
            <a:extLst>
              <a:ext uri="{FF2B5EF4-FFF2-40B4-BE49-F238E27FC236}">
                <a16:creationId xmlns:a16="http://schemas.microsoft.com/office/drawing/2014/main" id="{DB896397-F7A0-4AD9-A9FC-17FC34632A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9160" y="2514600"/>
            <a:ext cx="2889504" cy="1892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4498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7F9BC-63A1-4D3B-A5F2-2EA56E69C44F}"/>
              </a:ext>
            </a:extLst>
          </p:cNvPr>
          <p:cNvSpPr>
            <a:spLocks noGrp="1"/>
          </p:cNvSpPr>
          <p:nvPr>
            <p:ph type="ctrTitle"/>
          </p:nvPr>
        </p:nvSpPr>
        <p:spPr>
          <a:xfrm>
            <a:off x="1524000" y="541538"/>
            <a:ext cx="9144000" cy="878889"/>
          </a:xfrm>
        </p:spPr>
        <p:txBody>
          <a:bodyPr>
            <a:normAutofit/>
          </a:bodyPr>
          <a:lstStyle/>
          <a:p>
            <a:r>
              <a:rPr lang="en-IN" sz="4400" dirty="0">
                <a:latin typeface="Times New Roman" panose="02020603050405020304" pitchFamily="18" charset="0"/>
                <a:cs typeface="Times New Roman" panose="02020603050405020304" pitchFamily="18" charset="0"/>
              </a:rPr>
              <a:t>What is Bloom’s Taxonomy?</a:t>
            </a:r>
          </a:p>
        </p:txBody>
      </p:sp>
      <p:sp>
        <p:nvSpPr>
          <p:cNvPr id="3" name="Subtitle 2">
            <a:extLst>
              <a:ext uri="{FF2B5EF4-FFF2-40B4-BE49-F238E27FC236}">
                <a16:creationId xmlns:a16="http://schemas.microsoft.com/office/drawing/2014/main" id="{0070EF85-6939-4188-8F7E-527356C5053F}"/>
              </a:ext>
            </a:extLst>
          </p:cNvPr>
          <p:cNvSpPr>
            <a:spLocks noGrp="1"/>
          </p:cNvSpPr>
          <p:nvPr>
            <p:ph type="subTitle" idx="1"/>
          </p:nvPr>
        </p:nvSpPr>
        <p:spPr>
          <a:xfrm>
            <a:off x="1524000" y="1908699"/>
            <a:ext cx="9144000" cy="4407763"/>
          </a:xfrm>
        </p:spPr>
        <p:txBody>
          <a:bodyPr>
            <a:normAutofit/>
          </a:bodyPr>
          <a:lstStyle/>
          <a:p>
            <a:pPr marL="342900" indent="-342900" algn="just">
              <a:lnSpc>
                <a:spcPct val="150000"/>
              </a:lnSpc>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Bloom’s taxonomy is a framework for learning, teaching and educational achievement in which each level depends on the one below. It is often depicted in the form of a pyramid.</a:t>
            </a:r>
          </a:p>
          <a:p>
            <a:pPr marL="342900" indent="-342900" algn="just">
              <a:lnSpc>
                <a:spcPct val="150000"/>
              </a:lnSpc>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While it initially aided in the assessment of students, it quickly became a tool for teachers to devise their curriculum, outline clear learning objectives, and design classroom activities.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12361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85AAC-5450-46FD-ADFA-B085086DC117}"/>
              </a:ext>
            </a:extLst>
          </p:cNvPr>
          <p:cNvSpPr>
            <a:spLocks noGrp="1"/>
          </p:cNvSpPr>
          <p:nvPr>
            <p:ph type="ctrTitle"/>
          </p:nvPr>
        </p:nvSpPr>
        <p:spPr>
          <a:xfrm>
            <a:off x="1524000" y="577049"/>
            <a:ext cx="9144000" cy="1023151"/>
          </a:xfrm>
        </p:spPr>
        <p:txBody>
          <a:bodyPr>
            <a:normAutofit/>
          </a:bodyPr>
          <a:lstStyle/>
          <a:p>
            <a:r>
              <a:rPr lang="en-IN" sz="4400" dirty="0">
                <a:latin typeface="Times New Roman" panose="02020603050405020304" pitchFamily="18" charset="0"/>
                <a:cs typeface="Times New Roman" panose="02020603050405020304" pitchFamily="18" charset="0"/>
              </a:rPr>
              <a:t>History</a:t>
            </a:r>
          </a:p>
        </p:txBody>
      </p:sp>
      <p:sp>
        <p:nvSpPr>
          <p:cNvPr id="3" name="Subtitle 2">
            <a:extLst>
              <a:ext uri="{FF2B5EF4-FFF2-40B4-BE49-F238E27FC236}">
                <a16:creationId xmlns:a16="http://schemas.microsoft.com/office/drawing/2014/main" id="{47B5ED1B-5727-4F7A-BFB4-3AE110E55F2A}"/>
              </a:ext>
            </a:extLst>
          </p:cNvPr>
          <p:cNvSpPr>
            <a:spLocks noGrp="1"/>
          </p:cNvSpPr>
          <p:nvPr>
            <p:ph type="subTitle" idx="1"/>
          </p:nvPr>
        </p:nvSpPr>
        <p:spPr>
          <a:xfrm>
            <a:off x="1524000" y="2183907"/>
            <a:ext cx="9144000" cy="4270159"/>
          </a:xfrm>
        </p:spPr>
        <p:txBody>
          <a:bodyPr/>
          <a:lstStyle/>
          <a:p>
            <a:pPr marL="342900" lvl="0" indent="-342900" algn="just">
              <a:lnSpc>
                <a:spcPct val="115000"/>
              </a:lnSpc>
              <a:spcAft>
                <a:spcPts val="800"/>
              </a:spcAft>
              <a:buSzPts val="1000"/>
              <a:buFont typeface="Wingdings" panose="05000000000000000000" pitchFamily="2" charset="2"/>
              <a:buChar char=""/>
              <a:tabLst>
                <a:tab pos="457200" algn="l"/>
              </a:tabLst>
            </a:pPr>
            <a:r>
              <a:rPr lang="en-US" sz="1800" dirty="0">
                <a:effectLst/>
                <a:latin typeface="Bookman Old Style" panose="02050604050505020204" pitchFamily="18" charset="0"/>
                <a:ea typeface="Times New Roman" panose="02020603050405020304" pitchFamily="18" charset="0"/>
                <a:cs typeface="Times New Roman" panose="02020603050405020304" pitchFamily="18" charset="0"/>
              </a:rPr>
              <a:t>Benjamin Bloom and several of his peers developed Bloom’s Taxonomy in 1956 to better assess college student performance.</a:t>
            </a:r>
          </a:p>
          <a:p>
            <a:pPr marL="342900" lvl="0" indent="-342900" algn="just">
              <a:lnSpc>
                <a:spcPct val="115000"/>
              </a:lnSpc>
              <a:spcAft>
                <a:spcPts val="800"/>
              </a:spcAft>
              <a:buSzPts val="1000"/>
              <a:buFont typeface="Wingdings" panose="05000000000000000000" pitchFamily="2" charset="2"/>
              <a:buChar char=""/>
              <a:tabLst>
                <a:tab pos="457200" algn="l"/>
              </a:tabLst>
            </a:pPr>
            <a:r>
              <a:rPr lang="en-US" sz="1800" dirty="0">
                <a:effectLst/>
                <a:latin typeface="Bookman Old Style" panose="02050604050505020204" pitchFamily="18" charset="0"/>
                <a:ea typeface="Times New Roman" panose="02020603050405020304" pitchFamily="18" charset="0"/>
                <a:cs typeface="Times New Roman" panose="02020603050405020304" pitchFamily="18" charset="0"/>
              </a:rPr>
              <a:t>Bloom’s Taxonomy consists of six different levels of learning that build on one another to guide students and educators through the stage of educational attainment.</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IN" dirty="0"/>
          </a:p>
          <a:p>
            <a:endParaRPr lang="en-IN" dirty="0"/>
          </a:p>
        </p:txBody>
      </p:sp>
    </p:spTree>
    <p:extLst>
      <p:ext uri="{BB962C8B-B14F-4D97-AF65-F5344CB8AC3E}">
        <p14:creationId xmlns:p14="http://schemas.microsoft.com/office/powerpoint/2010/main" val="29663702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0407E-3C95-47E7-AAE0-8BEFA433FAC3}"/>
              </a:ext>
            </a:extLst>
          </p:cNvPr>
          <p:cNvSpPr>
            <a:spLocks noGrp="1"/>
          </p:cNvSpPr>
          <p:nvPr>
            <p:ph type="ctrTitle"/>
          </p:nvPr>
        </p:nvSpPr>
        <p:spPr>
          <a:xfrm>
            <a:off x="1524000" y="479394"/>
            <a:ext cx="9144000" cy="772357"/>
          </a:xfrm>
        </p:spPr>
        <p:txBody>
          <a:bodyPr>
            <a:normAutofit/>
          </a:bodyPr>
          <a:lstStyle/>
          <a:p>
            <a:r>
              <a:rPr lang="en-IN" sz="4400" dirty="0">
                <a:latin typeface="Times New Roman" panose="02020603050405020304" pitchFamily="18" charset="0"/>
                <a:cs typeface="Times New Roman" panose="02020603050405020304" pitchFamily="18" charset="0"/>
              </a:rPr>
              <a:t>Original Pyramid</a:t>
            </a:r>
          </a:p>
        </p:txBody>
      </p:sp>
      <p:sp>
        <p:nvSpPr>
          <p:cNvPr id="3" name="Subtitle 2">
            <a:extLst>
              <a:ext uri="{FF2B5EF4-FFF2-40B4-BE49-F238E27FC236}">
                <a16:creationId xmlns:a16="http://schemas.microsoft.com/office/drawing/2014/main" id="{BD76270F-3657-4E20-8AD4-4EAAB843F50A}"/>
              </a:ext>
            </a:extLst>
          </p:cNvPr>
          <p:cNvSpPr>
            <a:spLocks noGrp="1"/>
          </p:cNvSpPr>
          <p:nvPr>
            <p:ph type="subTitle" idx="1"/>
          </p:nvPr>
        </p:nvSpPr>
        <p:spPr>
          <a:xfrm>
            <a:off x="237385" y="1784411"/>
            <a:ext cx="12018995" cy="4902317"/>
          </a:xfrm>
        </p:spPr>
        <p:txBody>
          <a:bodyPr/>
          <a:lstStyle/>
          <a:p>
            <a:endParaRPr lang="en-IN" dirty="0"/>
          </a:p>
        </p:txBody>
      </p:sp>
      <p:pic>
        <p:nvPicPr>
          <p:cNvPr id="3074" name="Picture 2" descr="Bloom´s Taxonomy - The Amazing World of Teaching">
            <a:extLst>
              <a:ext uri="{FF2B5EF4-FFF2-40B4-BE49-F238E27FC236}">
                <a16:creationId xmlns:a16="http://schemas.microsoft.com/office/drawing/2014/main" id="{940E71BB-D25A-459F-BA12-1301F8B088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958" y="2547938"/>
            <a:ext cx="3417902" cy="2006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93735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F028C-2243-4721-B4DB-45B930C10A67}"/>
              </a:ext>
            </a:extLst>
          </p:cNvPr>
          <p:cNvSpPr>
            <a:spLocks noGrp="1"/>
          </p:cNvSpPr>
          <p:nvPr>
            <p:ph type="ctrTitle"/>
          </p:nvPr>
        </p:nvSpPr>
        <p:spPr>
          <a:xfrm>
            <a:off x="1524000" y="683582"/>
            <a:ext cx="9144000" cy="692458"/>
          </a:xfrm>
        </p:spPr>
        <p:txBody>
          <a:bodyPr>
            <a:normAutofit fontScale="90000"/>
          </a:bodyPr>
          <a:lstStyle/>
          <a:p>
            <a:r>
              <a:rPr lang="en-IN" sz="4400" dirty="0">
                <a:latin typeface="Times New Roman" panose="02020603050405020304" pitchFamily="18" charset="0"/>
                <a:cs typeface="Times New Roman" panose="02020603050405020304" pitchFamily="18" charset="0"/>
              </a:rPr>
              <a:t>Revised Pyramid</a:t>
            </a:r>
          </a:p>
        </p:txBody>
      </p:sp>
      <p:sp>
        <p:nvSpPr>
          <p:cNvPr id="3" name="Subtitle 2">
            <a:extLst>
              <a:ext uri="{FF2B5EF4-FFF2-40B4-BE49-F238E27FC236}">
                <a16:creationId xmlns:a16="http://schemas.microsoft.com/office/drawing/2014/main" id="{E56772C1-989C-4E34-B486-09DB51843F2C}"/>
              </a:ext>
            </a:extLst>
          </p:cNvPr>
          <p:cNvSpPr>
            <a:spLocks noGrp="1"/>
          </p:cNvSpPr>
          <p:nvPr>
            <p:ph type="subTitle" idx="1"/>
          </p:nvPr>
        </p:nvSpPr>
        <p:spPr>
          <a:xfrm>
            <a:off x="306410" y="1633201"/>
            <a:ext cx="11651100" cy="5141091"/>
          </a:xfrm>
        </p:spPr>
        <p:txBody>
          <a:bodyPr/>
          <a:lstStyle/>
          <a:p>
            <a:endParaRPr lang="en-IN" dirty="0"/>
          </a:p>
        </p:txBody>
      </p:sp>
      <p:pic>
        <p:nvPicPr>
          <p:cNvPr id="4098" name="Picture 2" descr="Applying Bloom's Taxonomy to the Classroom | Technology for Learners">
            <a:extLst>
              <a:ext uri="{FF2B5EF4-FFF2-40B4-BE49-F238E27FC236}">
                <a16:creationId xmlns:a16="http://schemas.microsoft.com/office/drawing/2014/main" id="{20761B8E-81D6-45BF-8FEE-0938875CEB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0260" y="2610035"/>
            <a:ext cx="3835154" cy="1784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050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F7648-FA67-3E49-09AC-A781B2AA3F7A}"/>
              </a:ext>
            </a:extLst>
          </p:cNvPr>
          <p:cNvSpPr>
            <a:spLocks noGrp="1"/>
          </p:cNvSpPr>
          <p:nvPr>
            <p:ph type="ctrTitle"/>
          </p:nvPr>
        </p:nvSpPr>
        <p:spPr>
          <a:xfrm>
            <a:off x="1524000" y="690465"/>
            <a:ext cx="9144000" cy="909735"/>
          </a:xfrm>
        </p:spPr>
        <p:txBody>
          <a:bodyPr>
            <a:normAutofit/>
          </a:bodyPr>
          <a:lstStyle/>
          <a:p>
            <a:r>
              <a:rPr lang="en-IN" sz="4800" dirty="0">
                <a:latin typeface="Times New Roman" panose="02020603050405020304" pitchFamily="18" charset="0"/>
                <a:cs typeface="Times New Roman" panose="02020603050405020304" pitchFamily="18" charset="0"/>
              </a:rPr>
              <a:t>Levels of Blooms Taxonomy</a:t>
            </a:r>
          </a:p>
        </p:txBody>
      </p:sp>
      <p:sp>
        <p:nvSpPr>
          <p:cNvPr id="3" name="Subtitle 2">
            <a:extLst>
              <a:ext uri="{FF2B5EF4-FFF2-40B4-BE49-F238E27FC236}">
                <a16:creationId xmlns:a16="http://schemas.microsoft.com/office/drawing/2014/main" id="{0DD38B7B-C3D5-137A-9255-8065140B8699}"/>
              </a:ext>
            </a:extLst>
          </p:cNvPr>
          <p:cNvSpPr>
            <a:spLocks noGrp="1"/>
          </p:cNvSpPr>
          <p:nvPr>
            <p:ph type="subTitle" idx="1"/>
          </p:nvPr>
        </p:nvSpPr>
        <p:spPr>
          <a:xfrm>
            <a:off x="1524000" y="2024743"/>
            <a:ext cx="9144000" cy="3498979"/>
          </a:xfrm>
        </p:spPr>
        <p:txBody>
          <a:bodyPr>
            <a:normAutofit/>
          </a:bodyPr>
          <a:lstStyle/>
          <a:p>
            <a:pPr algn="l"/>
            <a:r>
              <a:rPr lang="en-IN" sz="2800" dirty="0">
                <a:latin typeface="Times New Roman" panose="02020603050405020304" pitchFamily="18" charset="0"/>
                <a:cs typeface="Times New Roman" panose="02020603050405020304" pitchFamily="18" charset="0"/>
              </a:rPr>
              <a:t>Level 1 – Remembering</a:t>
            </a:r>
          </a:p>
          <a:p>
            <a:pPr algn="l"/>
            <a:r>
              <a:rPr lang="en-IN" sz="2800" dirty="0">
                <a:latin typeface="Times New Roman" panose="02020603050405020304" pitchFamily="18" charset="0"/>
                <a:cs typeface="Times New Roman" panose="02020603050405020304" pitchFamily="18" charset="0"/>
              </a:rPr>
              <a:t>Level 2 – Understanding</a:t>
            </a:r>
          </a:p>
          <a:p>
            <a:pPr algn="l"/>
            <a:r>
              <a:rPr lang="en-IN" sz="2800" dirty="0">
                <a:latin typeface="Times New Roman" panose="02020603050405020304" pitchFamily="18" charset="0"/>
                <a:cs typeface="Times New Roman" panose="02020603050405020304" pitchFamily="18" charset="0"/>
              </a:rPr>
              <a:t>Level 3 – Applying</a:t>
            </a:r>
          </a:p>
          <a:p>
            <a:pPr algn="l"/>
            <a:r>
              <a:rPr lang="en-IN" sz="2800" dirty="0">
                <a:latin typeface="Times New Roman" panose="02020603050405020304" pitchFamily="18" charset="0"/>
                <a:cs typeface="Times New Roman" panose="02020603050405020304" pitchFamily="18" charset="0"/>
              </a:rPr>
              <a:t>Level 4 – </a:t>
            </a:r>
            <a:r>
              <a:rPr lang="en-IN" sz="2800" dirty="0" err="1">
                <a:latin typeface="Times New Roman" panose="02020603050405020304" pitchFamily="18" charset="0"/>
                <a:cs typeface="Times New Roman" panose="02020603050405020304" pitchFamily="18" charset="0"/>
              </a:rPr>
              <a:t>Analyzing</a:t>
            </a:r>
            <a:endParaRPr lang="en-IN" sz="2800" dirty="0">
              <a:latin typeface="Times New Roman" panose="02020603050405020304" pitchFamily="18" charset="0"/>
              <a:cs typeface="Times New Roman" panose="02020603050405020304" pitchFamily="18" charset="0"/>
            </a:endParaRPr>
          </a:p>
          <a:p>
            <a:pPr algn="l"/>
            <a:r>
              <a:rPr lang="en-IN" sz="2800" dirty="0">
                <a:latin typeface="Times New Roman" panose="02020603050405020304" pitchFamily="18" charset="0"/>
                <a:cs typeface="Times New Roman" panose="02020603050405020304" pitchFamily="18" charset="0"/>
              </a:rPr>
              <a:t>Level 5 – Evaluating</a:t>
            </a:r>
          </a:p>
          <a:p>
            <a:pPr algn="l"/>
            <a:r>
              <a:rPr lang="en-IN" sz="2800" dirty="0">
                <a:latin typeface="Times New Roman" panose="02020603050405020304" pitchFamily="18" charset="0"/>
                <a:cs typeface="Times New Roman" panose="02020603050405020304" pitchFamily="18" charset="0"/>
              </a:rPr>
              <a:t>Level 6 - Creating</a:t>
            </a:r>
          </a:p>
        </p:txBody>
      </p:sp>
    </p:spTree>
    <p:extLst>
      <p:ext uri="{BB962C8B-B14F-4D97-AF65-F5344CB8AC3E}">
        <p14:creationId xmlns:p14="http://schemas.microsoft.com/office/powerpoint/2010/main" val="997065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8F2C35-0499-5B95-6E42-C8338A2C2B38}"/>
              </a:ext>
            </a:extLst>
          </p:cNvPr>
          <p:cNvPicPr>
            <a:picLocks noChangeAspect="1"/>
          </p:cNvPicPr>
          <p:nvPr/>
        </p:nvPicPr>
        <p:blipFill>
          <a:blip r:embed="rId2"/>
          <a:srcRect/>
          <a:stretch>
            <a:fillRect/>
          </a:stretch>
        </p:blipFill>
        <p:spPr bwMode="auto">
          <a:xfrm>
            <a:off x="876319" y="195943"/>
            <a:ext cx="5020628" cy="6354147"/>
          </a:xfrm>
          <a:prstGeom prst="rect">
            <a:avLst/>
          </a:prstGeom>
          <a:noFill/>
          <a:ln w="9525">
            <a:noFill/>
            <a:miter lim="800000"/>
            <a:headEnd/>
            <a:tailEnd/>
          </a:ln>
        </p:spPr>
      </p:pic>
      <p:pic>
        <p:nvPicPr>
          <p:cNvPr id="3" name="Picture 2" descr="Ask Great Questions">
            <a:extLst>
              <a:ext uri="{FF2B5EF4-FFF2-40B4-BE49-F238E27FC236}">
                <a16:creationId xmlns:a16="http://schemas.microsoft.com/office/drawing/2014/main" id="{EA19B88D-8323-CFA5-0C51-C036F9823533}"/>
              </a:ext>
            </a:extLst>
          </p:cNvPr>
          <p:cNvPicPr>
            <a:picLocks noChangeAspect="1"/>
          </p:cNvPicPr>
          <p:nvPr/>
        </p:nvPicPr>
        <p:blipFill>
          <a:blip r:embed="rId3"/>
          <a:srcRect/>
          <a:stretch>
            <a:fillRect/>
          </a:stretch>
        </p:blipFill>
        <p:spPr bwMode="auto">
          <a:xfrm>
            <a:off x="6295055" y="998376"/>
            <a:ext cx="5020625" cy="4488024"/>
          </a:xfrm>
          <a:prstGeom prst="rect">
            <a:avLst/>
          </a:prstGeom>
          <a:noFill/>
          <a:ln w="9525">
            <a:noFill/>
            <a:miter lim="800000"/>
            <a:headEnd/>
            <a:tailEnd/>
          </a:ln>
        </p:spPr>
      </p:pic>
    </p:spTree>
    <p:extLst>
      <p:ext uri="{BB962C8B-B14F-4D97-AF65-F5344CB8AC3E}">
        <p14:creationId xmlns:p14="http://schemas.microsoft.com/office/powerpoint/2010/main" val="16700637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0A761-96F6-334C-76AE-8DA598212BD3}"/>
              </a:ext>
            </a:extLst>
          </p:cNvPr>
          <p:cNvSpPr>
            <a:spLocks noGrp="1"/>
          </p:cNvSpPr>
          <p:nvPr>
            <p:ph type="ctrTitle"/>
          </p:nvPr>
        </p:nvSpPr>
        <p:spPr>
          <a:xfrm>
            <a:off x="1524000" y="683581"/>
            <a:ext cx="9144000" cy="825623"/>
          </a:xfrm>
        </p:spPr>
        <p:txBody>
          <a:bodyPr>
            <a:normAutofit fontScale="90000"/>
          </a:bodyPr>
          <a:lstStyle/>
          <a:p>
            <a:r>
              <a:rPr lang="en-IN" sz="5400" dirty="0">
                <a:latin typeface="Times New Roman" panose="02020603050405020304" pitchFamily="18" charset="0"/>
                <a:cs typeface="Times New Roman" panose="02020603050405020304" pitchFamily="18" charset="0"/>
              </a:rPr>
              <a:t>Domains of Blooms Taxonomy</a:t>
            </a:r>
          </a:p>
        </p:txBody>
      </p:sp>
      <p:sp>
        <p:nvSpPr>
          <p:cNvPr id="3" name="Subtitle 2">
            <a:extLst>
              <a:ext uri="{FF2B5EF4-FFF2-40B4-BE49-F238E27FC236}">
                <a16:creationId xmlns:a16="http://schemas.microsoft.com/office/drawing/2014/main" id="{654D3B9B-BD80-2DBB-AABC-C80CB7D567AD}"/>
              </a:ext>
            </a:extLst>
          </p:cNvPr>
          <p:cNvSpPr>
            <a:spLocks noGrp="1"/>
          </p:cNvSpPr>
          <p:nvPr>
            <p:ph type="subTitle" idx="1"/>
          </p:nvPr>
        </p:nvSpPr>
        <p:spPr>
          <a:xfrm>
            <a:off x="1524000" y="1961965"/>
            <a:ext cx="9144000" cy="3675355"/>
          </a:xfrm>
        </p:spPr>
        <p:txBody>
          <a:bodyPr/>
          <a:lstStyle/>
          <a:p>
            <a:pPr algn="l">
              <a:lnSpc>
                <a:spcPct val="200000"/>
              </a:lnSpc>
            </a:pPr>
            <a:r>
              <a:rPr lang="en-US" dirty="0">
                <a:latin typeface="Times New Roman" panose="02020603050405020304" pitchFamily="18" charset="0"/>
                <a:cs typeface="Times New Roman" panose="02020603050405020304" pitchFamily="18" charset="0"/>
              </a:rPr>
              <a:t>1: The cognitive domain (learning and understanding)</a:t>
            </a:r>
          </a:p>
          <a:p>
            <a:pPr algn="l">
              <a:lnSpc>
                <a:spcPct val="200000"/>
              </a:lnSpc>
            </a:pPr>
            <a:r>
              <a:rPr lang="en-US" dirty="0">
                <a:latin typeface="Times New Roman" panose="02020603050405020304" pitchFamily="18" charset="0"/>
                <a:cs typeface="Times New Roman" panose="02020603050405020304" pitchFamily="18" charset="0"/>
              </a:rPr>
              <a:t>2: The affective domain (feelings and emotions)</a:t>
            </a:r>
          </a:p>
          <a:p>
            <a:pPr algn="l">
              <a:lnSpc>
                <a:spcPct val="200000"/>
              </a:lnSpc>
            </a:pPr>
            <a:r>
              <a:rPr lang="en-US" dirty="0">
                <a:latin typeface="Times New Roman" panose="02020603050405020304" pitchFamily="18" charset="0"/>
                <a:cs typeface="Times New Roman" panose="02020603050405020304" pitchFamily="18" charset="0"/>
              </a:rPr>
              <a:t>3:The psychomotor domain (manual and Physical Skills)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04984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267D4-4957-DCA4-56E6-F06A94A1754B}"/>
              </a:ext>
            </a:extLst>
          </p:cNvPr>
          <p:cNvSpPr>
            <a:spLocks noGrp="1"/>
          </p:cNvSpPr>
          <p:nvPr>
            <p:ph type="title"/>
          </p:nvPr>
        </p:nvSpPr>
        <p:spPr>
          <a:xfrm>
            <a:off x="838200" y="365125"/>
            <a:ext cx="10515600" cy="5979691"/>
          </a:xfrm>
        </p:spPr>
        <p:txBody>
          <a:bodyPr/>
          <a:lstStyle/>
          <a:p>
            <a:r>
              <a:rPr lang="en-IN"/>
              <a:t>				Thank you</a:t>
            </a:r>
            <a:endParaRPr lang="en-IN" dirty="0"/>
          </a:p>
        </p:txBody>
      </p:sp>
    </p:spTree>
    <p:extLst>
      <p:ext uri="{BB962C8B-B14F-4D97-AF65-F5344CB8AC3E}">
        <p14:creationId xmlns:p14="http://schemas.microsoft.com/office/powerpoint/2010/main" val="22945216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557</TotalTime>
  <Words>1471</Words>
  <Application>Microsoft Office PowerPoint</Application>
  <PresentationFormat>Widescreen</PresentationFormat>
  <Paragraphs>200</Paragraphs>
  <Slides>36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Arial</vt:lpstr>
      <vt:lpstr>Bookman Old Style</vt:lpstr>
      <vt:lpstr>Calibri</vt:lpstr>
      <vt:lpstr>Calibri Light</vt:lpstr>
      <vt:lpstr>Open Sans</vt:lpstr>
      <vt:lpstr>Times New Roman</vt:lpstr>
      <vt:lpstr>Wingdings</vt:lpstr>
      <vt:lpstr>Office Theme</vt:lpstr>
      <vt:lpstr>UNIT II</vt:lpstr>
      <vt:lpstr>1. Decision Making</vt:lpstr>
      <vt:lpstr>More decision-making Skills</vt:lpstr>
      <vt:lpstr>Decision-making Process</vt:lpstr>
      <vt:lpstr>Types of decision-making</vt:lpstr>
      <vt:lpstr>Factors leading to poor decision-making</vt:lpstr>
      <vt:lpstr>2. Problem Solving Skills</vt:lpstr>
      <vt:lpstr>Problem Solving Skills</vt:lpstr>
      <vt:lpstr>Problem Solving and Associated Skills</vt:lpstr>
      <vt:lpstr>Steps in Problem-Solving Process</vt:lpstr>
      <vt:lpstr>Improving problem-solving skills</vt:lpstr>
      <vt:lpstr>How will employers assess your problem-solving skills? </vt:lpstr>
      <vt:lpstr>Technique</vt:lpstr>
      <vt:lpstr>3. Negotiation Skills</vt:lpstr>
      <vt:lpstr>Negotiation</vt:lpstr>
      <vt:lpstr>Stages of Negotiation</vt:lpstr>
      <vt:lpstr>Professional Skills of a Successful Negotiator </vt:lpstr>
      <vt:lpstr>4. Conflict Resolution</vt:lpstr>
      <vt:lpstr>Causes of Conflict at Work</vt:lpstr>
      <vt:lpstr>Types of Conflict at Workplace</vt:lpstr>
      <vt:lpstr>Why should you resolve conflicts?</vt:lpstr>
      <vt:lpstr>How should you resolve a conflict?</vt:lpstr>
      <vt:lpstr>5. Creative Thinking</vt:lpstr>
      <vt:lpstr>Business Dictionary</vt:lpstr>
      <vt:lpstr>Need for Creative Thinking</vt:lpstr>
      <vt:lpstr>What are the Creative Thinking Skills?</vt:lpstr>
      <vt:lpstr>How to develop Creative Thinking?</vt:lpstr>
      <vt:lpstr>6. Bloom’s Taxonomy</vt:lpstr>
      <vt:lpstr>What is Bloom’s Taxonomy?</vt:lpstr>
      <vt:lpstr>History</vt:lpstr>
      <vt:lpstr>Original Pyramid</vt:lpstr>
      <vt:lpstr>Revised Pyramid</vt:lpstr>
      <vt:lpstr>Levels of Blooms Taxonomy</vt:lpstr>
      <vt:lpstr>PowerPoint Presentation</vt:lpstr>
      <vt:lpstr>Domains of Blooms Taxonomy</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II</dc:title>
  <dc:creator>jahna</dc:creator>
  <cp:lastModifiedBy>tsainikhitareddy@gmail.com</cp:lastModifiedBy>
  <cp:revision>36</cp:revision>
  <dcterms:created xsi:type="dcterms:W3CDTF">2021-05-03T01:21:04Z</dcterms:created>
  <dcterms:modified xsi:type="dcterms:W3CDTF">2025-08-20T04:51:46Z</dcterms:modified>
</cp:coreProperties>
</file>