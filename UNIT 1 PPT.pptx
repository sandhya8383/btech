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315" r:id="rId4"/>
    <p:sldId id="316" r:id="rId5"/>
    <p:sldId id="259" r:id="rId6"/>
    <p:sldId id="257" r:id="rId7"/>
    <p:sldId id="258" r:id="rId8"/>
    <p:sldId id="262" r:id="rId9"/>
    <p:sldId id="266" r:id="rId10"/>
    <p:sldId id="267" r:id="rId11"/>
    <p:sldId id="268" r:id="rId12"/>
    <p:sldId id="270" r:id="rId13"/>
    <p:sldId id="271" r:id="rId14"/>
    <p:sldId id="272" r:id="rId15"/>
    <p:sldId id="273" r:id="rId16"/>
    <p:sldId id="274" r:id="rId17"/>
    <p:sldId id="275" r:id="rId18"/>
    <p:sldId id="276" r:id="rId19"/>
    <p:sldId id="277" r:id="rId20"/>
    <p:sldId id="279" r:id="rId21"/>
    <p:sldId id="280" r:id="rId22"/>
    <p:sldId id="281" r:id="rId23"/>
    <p:sldId id="282" r:id="rId24"/>
    <p:sldId id="283" r:id="rId25"/>
    <p:sldId id="285" r:id="rId26"/>
    <p:sldId id="286" r:id="rId27"/>
    <p:sldId id="287" r:id="rId28"/>
    <p:sldId id="288" r:id="rId29"/>
    <p:sldId id="291" r:id="rId30"/>
    <p:sldId id="293" r:id="rId31"/>
    <p:sldId id="312" r:id="rId32"/>
    <p:sldId id="318" r:id="rId33"/>
    <p:sldId id="31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F634A-FE99-459B-85E3-7339B497B8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8A917F5-CCA7-462F-88E5-53417ED22B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C7738E-C80A-446B-8BE1-9F803EE0046D}"/>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5" name="Footer Placeholder 4">
            <a:extLst>
              <a:ext uri="{FF2B5EF4-FFF2-40B4-BE49-F238E27FC236}">
                <a16:creationId xmlns:a16="http://schemas.microsoft.com/office/drawing/2014/main" id="{29DA85D1-9348-4ABE-9D24-653BA51A35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ECFBE9-55C2-44CB-A0D4-88406E0CD317}"/>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3538303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D6AD7-BCB3-4B5B-B785-B72510B215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3C9707-3E8A-4D4A-A7D4-2A6CC95894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10E88E-0CD5-4F16-A28A-8D7DCABBA253}"/>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5" name="Footer Placeholder 4">
            <a:extLst>
              <a:ext uri="{FF2B5EF4-FFF2-40B4-BE49-F238E27FC236}">
                <a16:creationId xmlns:a16="http://schemas.microsoft.com/office/drawing/2014/main" id="{FBED009E-6FCA-4832-A50B-6F7E809042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63914F-FC18-4AF0-8BC8-13C8C5AB470E}"/>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2394202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22B96-27C8-4ABF-9AAC-08CA263501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D0354B-E362-46C8-8837-2E9A496E44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4C6109-0DFA-4BD9-B84B-1680B6C2CAC0}"/>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5" name="Footer Placeholder 4">
            <a:extLst>
              <a:ext uri="{FF2B5EF4-FFF2-40B4-BE49-F238E27FC236}">
                <a16:creationId xmlns:a16="http://schemas.microsoft.com/office/drawing/2014/main" id="{18DA3A78-3F1F-439B-BC1C-C322BB4806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4E9F69-FFA5-4255-97B5-525C89C20AEF}"/>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2152082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AF122-9082-491E-B04F-CD69CE24F3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EB71A5-CAAE-4ECA-930D-4A589EEA3B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D0DF691-D3A9-4D50-9DD9-6A81718179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C2D3E0-7BC7-49A1-A206-4F1431656C25}"/>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6" name="Footer Placeholder 5">
            <a:extLst>
              <a:ext uri="{FF2B5EF4-FFF2-40B4-BE49-F238E27FC236}">
                <a16:creationId xmlns:a16="http://schemas.microsoft.com/office/drawing/2014/main" id="{779F5444-FB31-43C8-8351-684C1D2F71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295120-BCA2-482E-92AE-45CEC6741635}"/>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3205955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29217-00A5-424D-86CA-BC3270BFD2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5CA1CF-6916-46F1-8F71-7ECFC6E65A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4C0B80-B5B0-4A5E-885D-C4EA73885A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6482738-A3D8-4D0D-91B7-8B0D773B54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646C07-72E9-4CFD-9853-4BB00689AF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FDE252-1312-49E7-A1D7-187F80D964E8}"/>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8" name="Footer Placeholder 7">
            <a:extLst>
              <a:ext uri="{FF2B5EF4-FFF2-40B4-BE49-F238E27FC236}">
                <a16:creationId xmlns:a16="http://schemas.microsoft.com/office/drawing/2014/main" id="{56579F0D-70ED-4C37-8367-7C0804E4CF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BBBF7A8-0A51-4827-983E-5FF8583FF603}"/>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1364974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F82F-9079-4AA5-9AFF-27BE1A2116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3030600-5448-4A84-95F6-53ADC17B0CEB}"/>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4" name="Footer Placeholder 3">
            <a:extLst>
              <a:ext uri="{FF2B5EF4-FFF2-40B4-BE49-F238E27FC236}">
                <a16:creationId xmlns:a16="http://schemas.microsoft.com/office/drawing/2014/main" id="{56623117-85F5-4C7D-AD0D-CB370F5FF5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F1EAC5-EDC8-4E96-8CFD-30F6CF4D1B5B}"/>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197454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E33EB5-1671-4905-8705-812FA8E590F9}"/>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3" name="Footer Placeholder 2">
            <a:extLst>
              <a:ext uri="{FF2B5EF4-FFF2-40B4-BE49-F238E27FC236}">
                <a16:creationId xmlns:a16="http://schemas.microsoft.com/office/drawing/2014/main" id="{D147A944-3C1A-4C1D-82F8-63ED945817A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6CC560-0C0B-4A34-85F5-56A1EEE361E6}"/>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1021323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154E7-494A-4A18-AAC4-F1E211FC9D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695264-4C88-47C1-9726-8324DC6D1C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3B1CBF-24FD-412A-B2D7-362FB372DE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E5249B-A5FD-4047-A5CB-D385445C90B5}"/>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6" name="Footer Placeholder 5">
            <a:extLst>
              <a:ext uri="{FF2B5EF4-FFF2-40B4-BE49-F238E27FC236}">
                <a16:creationId xmlns:a16="http://schemas.microsoft.com/office/drawing/2014/main" id="{058AAC01-BE11-4386-A331-2B8E122E45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4CFCA7-D24D-4E9E-AD10-2D943BDFF514}"/>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2515103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A9BC-C61E-4119-BAE8-6016858B0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F07B17-86DC-4D8C-B5C9-6B16557ECB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B9F7AB-0052-4E20-BA73-B6EC53D947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A7C9D1-48C5-4CEF-9BBE-FB99705863C6}"/>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6" name="Footer Placeholder 5">
            <a:extLst>
              <a:ext uri="{FF2B5EF4-FFF2-40B4-BE49-F238E27FC236}">
                <a16:creationId xmlns:a16="http://schemas.microsoft.com/office/drawing/2014/main" id="{581D26B0-D7EA-49E9-B9AE-A965B14531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41D3B4-E556-445D-90DD-EBD446836235}"/>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1418033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BC4F4-CABD-4CFB-B63B-6B68F069BB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B25C30-195D-4F3A-A9C4-B945D8CB39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4AA85C-9EBE-42DB-9E4B-F988476EDFF0}"/>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5" name="Footer Placeholder 4">
            <a:extLst>
              <a:ext uri="{FF2B5EF4-FFF2-40B4-BE49-F238E27FC236}">
                <a16:creationId xmlns:a16="http://schemas.microsoft.com/office/drawing/2014/main" id="{A0599F36-E3BD-44AF-8D64-5B9ED96CA5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60775D-49AF-4413-BD15-44B13C0FED5E}"/>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608265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B3B0F1-A6F3-4545-9504-7511E58822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ABB269-AC10-44DD-856C-D13AE181DE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65C65E-747A-4A79-B682-BCF4FD1919FB}"/>
              </a:ext>
            </a:extLst>
          </p:cNvPr>
          <p:cNvSpPr>
            <a:spLocks noGrp="1"/>
          </p:cNvSpPr>
          <p:nvPr>
            <p:ph type="dt" sz="half" idx="10"/>
          </p:nvPr>
        </p:nvSpPr>
        <p:spPr/>
        <p:txBody>
          <a:bodyPr/>
          <a:lstStyle/>
          <a:p>
            <a:fld id="{89B845C3-AFBD-4C65-B991-6DBFA4147BD7}" type="datetimeFigureOut">
              <a:rPr lang="en-IN" smtClean="0"/>
              <a:t>29-06-2025</a:t>
            </a:fld>
            <a:endParaRPr lang="en-IN"/>
          </a:p>
        </p:txBody>
      </p:sp>
      <p:sp>
        <p:nvSpPr>
          <p:cNvPr id="5" name="Footer Placeholder 4">
            <a:extLst>
              <a:ext uri="{FF2B5EF4-FFF2-40B4-BE49-F238E27FC236}">
                <a16:creationId xmlns:a16="http://schemas.microsoft.com/office/drawing/2014/main" id="{2DB450B4-4086-41BE-9615-773705B458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442D4A-7F71-481D-B3F0-030EB6D0D5AF}"/>
              </a:ext>
            </a:extLst>
          </p:cNvPr>
          <p:cNvSpPr>
            <a:spLocks noGrp="1"/>
          </p:cNvSpPr>
          <p:nvPr>
            <p:ph type="sldNum" sz="quarter" idx="12"/>
          </p:nvPr>
        </p:nvSpPr>
        <p:spPr/>
        <p:txBody>
          <a:bodyPr/>
          <a:lstStyle/>
          <a:p>
            <a:fld id="{56F8E6E0-FC1D-40EF-9DBB-AB890E8117C4}" type="slidenum">
              <a:rPr lang="en-IN" smtClean="0"/>
              <a:t>‹#›</a:t>
            </a:fld>
            <a:endParaRPr lang="en-IN"/>
          </a:p>
        </p:txBody>
      </p:sp>
    </p:spTree>
    <p:extLst>
      <p:ext uri="{BB962C8B-B14F-4D97-AF65-F5344CB8AC3E}">
        <p14:creationId xmlns:p14="http://schemas.microsoft.com/office/powerpoint/2010/main" val="1368397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2C527B-0BC8-4E5F-A3EB-6B01D83DC4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AF70DC-8C00-4E38-B2C6-558CB5949E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20F5EC-8064-4D3B-B3AA-023A0D9287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45C3-AFBD-4C65-B991-6DBFA4147BD7}" type="datetimeFigureOut">
              <a:rPr lang="en-IN" smtClean="0"/>
              <a:t>29-06-2025</a:t>
            </a:fld>
            <a:endParaRPr lang="en-IN"/>
          </a:p>
        </p:txBody>
      </p:sp>
      <p:sp>
        <p:nvSpPr>
          <p:cNvPr id="5" name="Footer Placeholder 4">
            <a:extLst>
              <a:ext uri="{FF2B5EF4-FFF2-40B4-BE49-F238E27FC236}">
                <a16:creationId xmlns:a16="http://schemas.microsoft.com/office/drawing/2014/main" id="{7EE5C451-E320-4F9E-8A52-1FEFC75CDD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5AFD7FC-2235-46C4-A277-231461CA11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F8E6E0-FC1D-40EF-9DBB-AB890E8117C4}" type="slidenum">
              <a:rPr lang="en-IN" smtClean="0"/>
              <a:t>‹#›</a:t>
            </a:fld>
            <a:endParaRPr lang="en-IN"/>
          </a:p>
        </p:txBody>
      </p:sp>
    </p:spTree>
    <p:extLst>
      <p:ext uri="{BB962C8B-B14F-4D97-AF65-F5344CB8AC3E}">
        <p14:creationId xmlns:p14="http://schemas.microsoft.com/office/powerpoint/2010/main" val="14446289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thoughtco.com/writing-definition-1692616" TargetMode="External"/><Relationship Id="rId2" Type="http://schemas.openxmlformats.org/officeDocument/2006/relationships/hyperlink" Target="https://www.thoughtco.com/listening-communication-term-1691247"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DF2B-6A64-43AE-9B0C-C35D81C99EF9}"/>
              </a:ext>
            </a:extLst>
          </p:cNvPr>
          <p:cNvSpPr>
            <a:spLocks noGrp="1"/>
          </p:cNvSpPr>
          <p:nvPr>
            <p:ph type="ctrTitle"/>
          </p:nvPr>
        </p:nvSpPr>
        <p:spPr>
          <a:xfrm>
            <a:off x="1151137" y="639193"/>
            <a:ext cx="10114625" cy="1411550"/>
          </a:xfrm>
        </p:spPr>
        <p:txBody>
          <a:bodyPr>
            <a:noAutofit/>
          </a:bodyPr>
          <a:lstStyle/>
          <a:p>
            <a:r>
              <a:rPr lang="en-IN" sz="4400" dirty="0">
                <a:latin typeface="Times New Roman" panose="02020603050405020304" pitchFamily="18" charset="0"/>
                <a:cs typeface="Times New Roman" panose="02020603050405020304" pitchFamily="18" charset="0"/>
              </a:rPr>
              <a:t>Behavioural Skills and </a:t>
            </a:r>
            <a:br>
              <a:rPr lang="en-IN" sz="4400" dirty="0">
                <a:latin typeface="Times New Roman" panose="02020603050405020304" pitchFamily="18" charset="0"/>
                <a:cs typeface="Times New Roman" panose="02020603050405020304" pitchFamily="18" charset="0"/>
              </a:rPr>
            </a:br>
            <a:r>
              <a:rPr lang="en-IN" sz="4400" dirty="0">
                <a:latin typeface="Times New Roman" panose="02020603050405020304" pitchFamily="18" charset="0"/>
                <a:cs typeface="Times New Roman" panose="02020603050405020304" pitchFamily="18" charset="0"/>
              </a:rPr>
              <a:t>Professional Communication</a:t>
            </a:r>
          </a:p>
        </p:txBody>
      </p:sp>
      <p:sp>
        <p:nvSpPr>
          <p:cNvPr id="3" name="Subtitle 2">
            <a:extLst>
              <a:ext uri="{FF2B5EF4-FFF2-40B4-BE49-F238E27FC236}">
                <a16:creationId xmlns:a16="http://schemas.microsoft.com/office/drawing/2014/main" id="{7A0BD122-C6CE-4E39-A5FF-1E1EB69A21DF}"/>
              </a:ext>
            </a:extLst>
          </p:cNvPr>
          <p:cNvSpPr>
            <a:spLocks noGrp="1"/>
          </p:cNvSpPr>
          <p:nvPr>
            <p:ph type="subTitle" idx="1"/>
          </p:nvPr>
        </p:nvSpPr>
        <p:spPr>
          <a:xfrm>
            <a:off x="1524000" y="2352675"/>
            <a:ext cx="9144000" cy="3800475"/>
          </a:xfrm>
        </p:spPr>
        <p:txBody>
          <a:bodyPr>
            <a:normAutofit lnSpcReduction="10000"/>
          </a:bodyPr>
          <a:lstStyle/>
          <a:p>
            <a:endParaRPr lang="en-IN" dirty="0"/>
          </a:p>
          <a:p>
            <a:r>
              <a:rPr lang="en-IN" dirty="0">
                <a:latin typeface="Times New Roman" panose="02020603050405020304" pitchFamily="18" charset="0"/>
                <a:cs typeface="Times New Roman" panose="02020603050405020304" pitchFamily="18" charset="0"/>
              </a:rPr>
              <a:t>IV Year B.Tech. I Semester</a:t>
            </a:r>
          </a:p>
          <a:p>
            <a:r>
              <a:rPr lang="en-IN" dirty="0">
                <a:latin typeface="Times New Roman" panose="02020603050405020304" pitchFamily="18" charset="0"/>
                <a:cs typeface="Times New Roman" panose="02020603050405020304" pitchFamily="18" charset="0"/>
              </a:rPr>
              <a:t>Open Elective</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V. Jahnavi</a:t>
            </a:r>
          </a:p>
          <a:p>
            <a:r>
              <a:rPr lang="en-IN" dirty="0">
                <a:latin typeface="Times New Roman" panose="02020603050405020304" pitchFamily="18" charset="0"/>
                <a:cs typeface="Times New Roman" panose="02020603050405020304" pitchFamily="18" charset="0"/>
              </a:rPr>
              <a:t>Senior Assistant Professor, Student Counsellor</a:t>
            </a:r>
          </a:p>
          <a:p>
            <a:r>
              <a:rPr lang="en-IN" dirty="0">
                <a:latin typeface="Times New Roman" panose="02020603050405020304" pitchFamily="18" charset="0"/>
                <a:cs typeface="Times New Roman" panose="02020603050405020304" pitchFamily="18" charset="0"/>
              </a:rPr>
              <a:t>Humanities &amp; Mathematics Department, GNITS</a:t>
            </a:r>
          </a:p>
          <a:p>
            <a:endParaRPr lang="en-IN" dirty="0"/>
          </a:p>
        </p:txBody>
      </p:sp>
    </p:spTree>
    <p:extLst>
      <p:ext uri="{BB962C8B-B14F-4D97-AF65-F5344CB8AC3E}">
        <p14:creationId xmlns:p14="http://schemas.microsoft.com/office/powerpoint/2010/main" val="3874573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2AAFD-E1D5-4802-B018-A637144B0562}"/>
              </a:ext>
            </a:extLst>
          </p:cNvPr>
          <p:cNvSpPr>
            <a:spLocks noGrp="1"/>
          </p:cNvSpPr>
          <p:nvPr>
            <p:ph type="ctrTitle"/>
          </p:nvPr>
        </p:nvSpPr>
        <p:spPr>
          <a:xfrm>
            <a:off x="1524000" y="577049"/>
            <a:ext cx="9144000" cy="1136341"/>
          </a:xfrm>
        </p:spPr>
        <p:txBody>
          <a:bodyPr/>
          <a:lstStyle/>
          <a:p>
            <a:r>
              <a:rPr lang="en-IN" dirty="0">
                <a:latin typeface="Times New Roman" panose="02020603050405020304" pitchFamily="18" charset="0"/>
                <a:cs typeface="Times New Roman" panose="02020603050405020304" pitchFamily="18" charset="0"/>
              </a:rPr>
              <a:t>UNIT 1</a:t>
            </a:r>
          </a:p>
        </p:txBody>
      </p:sp>
      <p:sp>
        <p:nvSpPr>
          <p:cNvPr id="3" name="Subtitle 2">
            <a:extLst>
              <a:ext uri="{FF2B5EF4-FFF2-40B4-BE49-F238E27FC236}">
                <a16:creationId xmlns:a16="http://schemas.microsoft.com/office/drawing/2014/main" id="{A8F3A8C7-2BEE-4478-A261-F8DDCEFBC802}"/>
              </a:ext>
            </a:extLst>
          </p:cNvPr>
          <p:cNvSpPr>
            <a:spLocks noGrp="1"/>
          </p:cNvSpPr>
          <p:nvPr>
            <p:ph type="subTitle" idx="1"/>
          </p:nvPr>
        </p:nvSpPr>
        <p:spPr>
          <a:xfrm>
            <a:off x="1524000" y="2192784"/>
            <a:ext cx="9144000" cy="3065016"/>
          </a:xfrm>
        </p:spPr>
        <p:txBody>
          <a:bodyPr>
            <a:normAutofit/>
          </a:bodyPr>
          <a:lstStyle/>
          <a:p>
            <a:r>
              <a:rPr lang="en-IN" sz="4800" dirty="0">
                <a:latin typeface="Times New Roman" panose="02020603050405020304" pitchFamily="18" charset="0"/>
                <a:cs typeface="Times New Roman" panose="02020603050405020304" pitchFamily="18" charset="0"/>
              </a:rPr>
              <a:t>LIFE SKILLS</a:t>
            </a:r>
          </a:p>
        </p:txBody>
      </p:sp>
    </p:spTree>
    <p:extLst>
      <p:ext uri="{BB962C8B-B14F-4D97-AF65-F5344CB8AC3E}">
        <p14:creationId xmlns:p14="http://schemas.microsoft.com/office/powerpoint/2010/main" val="3150876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F888F-D4D6-4C77-BD96-3E8BA6757255}"/>
              </a:ext>
            </a:extLst>
          </p:cNvPr>
          <p:cNvSpPr>
            <a:spLocks noGrp="1"/>
          </p:cNvSpPr>
          <p:nvPr>
            <p:ph type="ctrTitle"/>
          </p:nvPr>
        </p:nvSpPr>
        <p:spPr>
          <a:xfrm>
            <a:off x="1524000" y="390617"/>
            <a:ext cx="9144000" cy="1209583"/>
          </a:xfrm>
        </p:spPr>
        <p:txBody>
          <a:bodyPr>
            <a:normAutofit/>
          </a:bodyPr>
          <a:lstStyle/>
          <a:p>
            <a:r>
              <a:rPr lang="en-IN" sz="4400" dirty="0">
                <a:latin typeface="Times New Roman" panose="02020603050405020304" pitchFamily="18" charset="0"/>
                <a:cs typeface="Times New Roman" panose="02020603050405020304" pitchFamily="18" charset="0"/>
              </a:rPr>
              <a:t>1. What is Behaviour?</a:t>
            </a:r>
            <a:endParaRPr lang="en-IN" sz="4400" dirty="0"/>
          </a:p>
        </p:txBody>
      </p:sp>
      <p:sp>
        <p:nvSpPr>
          <p:cNvPr id="3" name="Subtitle 2">
            <a:extLst>
              <a:ext uri="{FF2B5EF4-FFF2-40B4-BE49-F238E27FC236}">
                <a16:creationId xmlns:a16="http://schemas.microsoft.com/office/drawing/2014/main" id="{4E756042-C2B5-4FDE-AF39-FB4459B63DC3}"/>
              </a:ext>
            </a:extLst>
          </p:cNvPr>
          <p:cNvSpPr>
            <a:spLocks noGrp="1"/>
          </p:cNvSpPr>
          <p:nvPr>
            <p:ph type="subTitle" idx="1"/>
          </p:nvPr>
        </p:nvSpPr>
        <p:spPr>
          <a:xfrm>
            <a:off x="1524000" y="1908699"/>
            <a:ext cx="9144000" cy="4558684"/>
          </a:xfrm>
        </p:spPr>
        <p:txBody>
          <a:bodyPr/>
          <a:lstStyle/>
          <a:p>
            <a:pPr algn="l">
              <a:lnSpc>
                <a:spcPct val="150000"/>
              </a:lnSpc>
            </a:pPr>
            <a:r>
              <a:rPr lang="en-IN" sz="2400" dirty="0">
                <a:latin typeface="Times New Roman" panose="02020603050405020304" pitchFamily="18" charset="0"/>
                <a:cs typeface="Times New Roman" panose="02020603050405020304" pitchFamily="18" charset="0"/>
              </a:rPr>
              <a:t>It is the way in which an organism behaves as a response towards a particular situation or stimulus</a:t>
            </a:r>
            <a:r>
              <a:rPr lang="en-IN" dirty="0"/>
              <a:t>.</a:t>
            </a:r>
          </a:p>
          <a:p>
            <a:pPr>
              <a:lnSpc>
                <a:spcPct val="150000"/>
              </a:lnSpc>
            </a:pPr>
            <a:r>
              <a:rPr lang="en-IN" sz="4000" dirty="0">
                <a:latin typeface="Times New Roman" panose="02020603050405020304" pitchFamily="18" charset="0"/>
                <a:cs typeface="Times New Roman" panose="02020603050405020304" pitchFamily="18" charset="0"/>
              </a:rPr>
              <a:t>What is Skill?</a:t>
            </a:r>
          </a:p>
          <a:p>
            <a:pPr algn="l">
              <a:lnSpc>
                <a:spcPct val="150000"/>
              </a:lnSpc>
            </a:pPr>
            <a:r>
              <a:rPr lang="en-IN" sz="2400" dirty="0">
                <a:latin typeface="Times New Roman" panose="02020603050405020304" pitchFamily="18" charset="0"/>
                <a:cs typeface="Times New Roman" panose="02020603050405020304" pitchFamily="18" charset="0"/>
              </a:rPr>
              <a:t>It is the ability to coordinate mind, thought and body which can developed through training.</a:t>
            </a:r>
          </a:p>
          <a:p>
            <a:endParaRPr lang="en-IN" dirty="0"/>
          </a:p>
        </p:txBody>
      </p:sp>
    </p:spTree>
    <p:extLst>
      <p:ext uri="{BB962C8B-B14F-4D97-AF65-F5344CB8AC3E}">
        <p14:creationId xmlns:p14="http://schemas.microsoft.com/office/powerpoint/2010/main" val="55250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0E7D7-60EE-46C5-B47B-88518EDF6D87}"/>
              </a:ext>
            </a:extLst>
          </p:cNvPr>
          <p:cNvSpPr>
            <a:spLocks noGrp="1"/>
          </p:cNvSpPr>
          <p:nvPr>
            <p:ph type="ctrTitle"/>
          </p:nvPr>
        </p:nvSpPr>
        <p:spPr>
          <a:xfrm>
            <a:off x="1524000" y="514905"/>
            <a:ext cx="9144000" cy="932155"/>
          </a:xfrm>
        </p:spPr>
        <p:txBody>
          <a:bodyPr>
            <a:normAutofit/>
          </a:bodyPr>
          <a:lstStyle/>
          <a:p>
            <a:r>
              <a:rPr lang="en-IN" sz="4400" dirty="0">
                <a:latin typeface="Times New Roman" panose="02020603050405020304" pitchFamily="18" charset="0"/>
                <a:cs typeface="Times New Roman" panose="02020603050405020304" pitchFamily="18" charset="0"/>
              </a:rPr>
              <a:t>Behavioural Skills</a:t>
            </a:r>
          </a:p>
        </p:txBody>
      </p:sp>
      <p:sp>
        <p:nvSpPr>
          <p:cNvPr id="3" name="Subtitle 2">
            <a:extLst>
              <a:ext uri="{FF2B5EF4-FFF2-40B4-BE49-F238E27FC236}">
                <a16:creationId xmlns:a16="http://schemas.microsoft.com/office/drawing/2014/main" id="{A7F6C1A3-AC73-4C55-81F3-26A090439761}"/>
              </a:ext>
            </a:extLst>
          </p:cNvPr>
          <p:cNvSpPr>
            <a:spLocks noGrp="1"/>
          </p:cNvSpPr>
          <p:nvPr>
            <p:ph type="subTitle" idx="1"/>
          </p:nvPr>
        </p:nvSpPr>
        <p:spPr>
          <a:xfrm>
            <a:off x="1524000" y="1766655"/>
            <a:ext cx="9144000" cy="4438835"/>
          </a:xfrm>
        </p:spPr>
        <p:txBody>
          <a:bodyPr>
            <a:normAutofit lnSpcReduction="10000"/>
          </a:bodyPr>
          <a:lstStyle/>
          <a:p>
            <a:pPr marL="342900" indent="-342900" algn="l">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balanced action or response of a person in different situations that enhances the effectiveness of interpersonal relationships along with organization of lifestyle.</a:t>
            </a:r>
          </a:p>
          <a:p>
            <a:pPr marL="342900" indent="-342900" algn="l">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They are people skills that which include social and emotional skills that allow people to work and perform well in organizations and in the society.</a:t>
            </a:r>
          </a:p>
          <a:p>
            <a:pPr marL="342900" indent="-342900" algn="l">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Based on Behavioural psychology, Social Emotional Learning and Action based experiential learning methodology.</a:t>
            </a:r>
          </a:p>
        </p:txBody>
      </p:sp>
    </p:spTree>
    <p:extLst>
      <p:ext uri="{BB962C8B-B14F-4D97-AF65-F5344CB8AC3E}">
        <p14:creationId xmlns:p14="http://schemas.microsoft.com/office/powerpoint/2010/main" val="3173294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DFBAB-D5B9-4B17-8788-93490B8A6FCE}"/>
              </a:ext>
            </a:extLst>
          </p:cNvPr>
          <p:cNvSpPr>
            <a:spLocks noGrp="1"/>
          </p:cNvSpPr>
          <p:nvPr>
            <p:ph type="ctrTitle"/>
          </p:nvPr>
        </p:nvSpPr>
        <p:spPr>
          <a:xfrm>
            <a:off x="1524000" y="1122363"/>
            <a:ext cx="9144000" cy="1105932"/>
          </a:xfrm>
        </p:spPr>
        <p:txBody>
          <a:bodyPr/>
          <a:lstStyle/>
          <a:p>
            <a:r>
              <a:rPr lang="en-IN" dirty="0"/>
              <a:t>Essential Behavioural Skills</a:t>
            </a:r>
          </a:p>
        </p:txBody>
      </p:sp>
      <p:sp>
        <p:nvSpPr>
          <p:cNvPr id="3" name="Subtitle 2">
            <a:extLst>
              <a:ext uri="{FF2B5EF4-FFF2-40B4-BE49-F238E27FC236}">
                <a16:creationId xmlns:a16="http://schemas.microsoft.com/office/drawing/2014/main" id="{ED56CB87-615C-4AFC-94B9-64BEBE1165B3}"/>
              </a:ext>
            </a:extLst>
          </p:cNvPr>
          <p:cNvSpPr>
            <a:spLocks noGrp="1"/>
          </p:cNvSpPr>
          <p:nvPr>
            <p:ph type="subTitle" idx="1"/>
          </p:nvPr>
        </p:nvSpPr>
        <p:spPr>
          <a:xfrm>
            <a:off x="1524000" y="2556769"/>
            <a:ext cx="9144000" cy="3710866"/>
          </a:xfrm>
        </p:spPr>
        <p:txBody>
          <a:bodyPr>
            <a:normAutofit fontScale="62500" lnSpcReduction="20000"/>
          </a:bodyPr>
          <a:lstStyle/>
          <a:p>
            <a:pPr algn="l">
              <a:lnSpc>
                <a:spcPct val="107000"/>
              </a:lnSpc>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Here are the top 10 behavioral skills for students and employees: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Communication </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Conflict Resolution </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Self Improvement</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Time Management</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Stress Management</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Patience </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Balance Between Professional &amp; Personal Life</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Empathy</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Decision-Making</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tabLst>
                <a:tab pos="457200" algn="l"/>
              </a:tabLst>
            </a:pPr>
            <a:r>
              <a:rPr lang="en-US" sz="2400" b="1" dirty="0">
                <a:solidFill>
                  <a:srgbClr val="121416"/>
                </a:solidFill>
                <a:effectLst/>
                <a:latin typeface="Calibri" panose="020F0502020204030204" pitchFamily="34" charset="0"/>
                <a:ea typeface="Times New Roman" panose="02020603050405020304" pitchFamily="18" charset="0"/>
                <a:cs typeface="Calibri" panose="020F0502020204030204" pitchFamily="34" charset="0"/>
              </a:rPr>
              <a:t>Problem-Solving</a:t>
            </a:r>
            <a:endParaRPr lang="en-IN" sz="2400" dirty="0">
              <a:solidFill>
                <a:srgbClr val="121416"/>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21818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0329B-C406-49C8-B497-D59DF9E3C3EC}"/>
              </a:ext>
            </a:extLst>
          </p:cNvPr>
          <p:cNvSpPr>
            <a:spLocks noGrp="1"/>
          </p:cNvSpPr>
          <p:nvPr>
            <p:ph type="ctrTitle"/>
          </p:nvPr>
        </p:nvSpPr>
        <p:spPr>
          <a:xfrm>
            <a:off x="1524000" y="541539"/>
            <a:ext cx="9144000" cy="941032"/>
          </a:xfrm>
        </p:spPr>
        <p:txBody>
          <a:bodyPr>
            <a:normAutofit/>
          </a:bodyPr>
          <a:lstStyle/>
          <a:p>
            <a:r>
              <a:rPr lang="en-IN" sz="4400" dirty="0">
                <a:latin typeface="Times New Roman" panose="02020603050405020304" pitchFamily="18" charset="0"/>
                <a:cs typeface="Times New Roman" panose="02020603050405020304" pitchFamily="18" charset="0"/>
              </a:rPr>
              <a:t>2. Professional Communication</a:t>
            </a:r>
          </a:p>
        </p:txBody>
      </p:sp>
      <p:sp>
        <p:nvSpPr>
          <p:cNvPr id="3" name="Subtitle 2">
            <a:extLst>
              <a:ext uri="{FF2B5EF4-FFF2-40B4-BE49-F238E27FC236}">
                <a16:creationId xmlns:a16="http://schemas.microsoft.com/office/drawing/2014/main" id="{201F3114-5826-4CA0-A595-DD30BB7D6EE4}"/>
              </a:ext>
            </a:extLst>
          </p:cNvPr>
          <p:cNvSpPr>
            <a:spLocks noGrp="1"/>
          </p:cNvSpPr>
          <p:nvPr>
            <p:ph type="subTitle" idx="1"/>
          </p:nvPr>
        </p:nvSpPr>
        <p:spPr>
          <a:xfrm>
            <a:off x="1524000" y="1811045"/>
            <a:ext cx="9144000" cy="4394446"/>
          </a:xfrm>
        </p:spPr>
        <p:txBody>
          <a:bodyPr/>
          <a:lstStyle/>
          <a:p>
            <a:pPr algn="just">
              <a:lnSpc>
                <a:spcPct val="150000"/>
              </a:lnSpc>
            </a:pPr>
            <a:r>
              <a:rPr lang="en-US" sz="2800" b="0" i="0" dirty="0">
                <a:effectLst/>
                <a:latin typeface="Times New Roman" panose="02020603050405020304" pitchFamily="18" charset="0"/>
                <a:cs typeface="Times New Roman" panose="02020603050405020304" pitchFamily="18" charset="0"/>
              </a:rPr>
              <a:t>The term </a:t>
            </a:r>
            <a:r>
              <a:rPr lang="en-US" sz="2800" b="0" dirty="0">
                <a:effectLst/>
                <a:latin typeface="Times New Roman" panose="02020603050405020304" pitchFamily="18" charset="0"/>
                <a:cs typeface="Times New Roman" panose="02020603050405020304" pitchFamily="18" charset="0"/>
              </a:rPr>
              <a:t>professional communication </a:t>
            </a:r>
            <a:r>
              <a:rPr lang="en-US" sz="2800" b="0" i="0" dirty="0">
                <a:effectLst/>
                <a:latin typeface="Times New Roman" panose="02020603050405020304" pitchFamily="18" charset="0"/>
                <a:cs typeface="Times New Roman" panose="02020603050405020304" pitchFamily="18" charset="0"/>
              </a:rPr>
              <a:t>refers to the various forms of </a:t>
            </a:r>
            <a:r>
              <a:rPr lang="en-US" sz="2800" b="0" i="0" u="sng" dirty="0">
                <a:effectLst/>
                <a:latin typeface="Times New Roman" panose="02020603050405020304" pitchFamily="18" charset="0"/>
                <a:cs typeface="Times New Roman" panose="02020603050405020304" pitchFamily="18" charset="0"/>
              </a:rPr>
              <a:t>speaking</a:t>
            </a:r>
            <a:r>
              <a:rPr lang="en-US" sz="2800" b="0" i="0" dirty="0">
                <a:effectLst/>
                <a:latin typeface="Times New Roman" panose="02020603050405020304" pitchFamily="18" charset="0"/>
                <a:cs typeface="Times New Roman" panose="02020603050405020304" pitchFamily="18" charset="0"/>
              </a:rPr>
              <a:t>, </a:t>
            </a:r>
            <a:r>
              <a:rPr lang="en-US" sz="2800" b="0" i="0" u="sng"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listening</a:t>
            </a:r>
            <a:r>
              <a:rPr lang="en-US" sz="2800" b="0" i="0" dirty="0">
                <a:effectLst/>
                <a:latin typeface="Times New Roman" panose="02020603050405020304" pitchFamily="18" charset="0"/>
                <a:cs typeface="Times New Roman" panose="02020603050405020304" pitchFamily="18" charset="0"/>
              </a:rPr>
              <a:t>, </a:t>
            </a:r>
            <a:r>
              <a:rPr lang="en-US" sz="2800" b="0" i="0" strike="noStrike"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writing</a:t>
            </a:r>
            <a:r>
              <a:rPr lang="en-US" sz="2800" b="0" i="0" dirty="0">
                <a:effectLst/>
                <a:latin typeface="Times New Roman" panose="02020603050405020304" pitchFamily="18" charset="0"/>
                <a:cs typeface="Times New Roman" panose="02020603050405020304" pitchFamily="18" charset="0"/>
              </a:rPr>
              <a:t>, and </a:t>
            </a:r>
            <a:r>
              <a:rPr lang="en-US" sz="2800" b="0" i="0" u="sng" dirty="0">
                <a:effectLst/>
                <a:latin typeface="Times New Roman" panose="02020603050405020304" pitchFamily="18" charset="0"/>
                <a:cs typeface="Times New Roman" panose="02020603050405020304" pitchFamily="18" charset="0"/>
              </a:rPr>
              <a:t>responding</a:t>
            </a:r>
            <a:r>
              <a:rPr lang="en-US" sz="2800" b="0" i="0" dirty="0">
                <a:effectLst/>
                <a:latin typeface="Times New Roman" panose="02020603050405020304" pitchFamily="18" charset="0"/>
                <a:cs typeface="Times New Roman" panose="02020603050405020304" pitchFamily="18" charset="0"/>
              </a:rPr>
              <a:t> carried out both in and beyond the workplace, whether in person or electronically.</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3947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252E1-08B1-4B87-BCA6-9641BBE1B131}"/>
              </a:ext>
            </a:extLst>
          </p:cNvPr>
          <p:cNvSpPr>
            <a:spLocks noGrp="1"/>
          </p:cNvSpPr>
          <p:nvPr>
            <p:ph type="ctrTitle"/>
          </p:nvPr>
        </p:nvSpPr>
        <p:spPr>
          <a:xfrm>
            <a:off x="1524000" y="497151"/>
            <a:ext cx="9144000" cy="1393793"/>
          </a:xfrm>
        </p:spPr>
        <p:txBody>
          <a:bodyPr>
            <a:normAutofit/>
          </a:bodyPr>
          <a:lstStyle/>
          <a:p>
            <a:r>
              <a:rPr lang="en-IN" sz="4400" dirty="0">
                <a:latin typeface="Times New Roman" panose="02020603050405020304" pitchFamily="18" charset="0"/>
                <a:cs typeface="Times New Roman" panose="02020603050405020304" pitchFamily="18" charset="0"/>
              </a:rPr>
              <a:t>Importance of </a:t>
            </a:r>
            <a:br>
              <a:rPr lang="en-IN" sz="4400" dirty="0">
                <a:latin typeface="Times New Roman" panose="02020603050405020304" pitchFamily="18" charset="0"/>
                <a:cs typeface="Times New Roman" panose="02020603050405020304" pitchFamily="18" charset="0"/>
              </a:rPr>
            </a:br>
            <a:r>
              <a:rPr lang="en-IN" sz="4400" dirty="0">
                <a:latin typeface="Times New Roman" panose="02020603050405020304" pitchFamily="18" charset="0"/>
                <a:cs typeface="Times New Roman" panose="02020603050405020304" pitchFamily="18" charset="0"/>
              </a:rPr>
              <a:t>Professional Communication</a:t>
            </a:r>
          </a:p>
        </p:txBody>
      </p:sp>
      <p:sp>
        <p:nvSpPr>
          <p:cNvPr id="3" name="Subtitle 2">
            <a:extLst>
              <a:ext uri="{FF2B5EF4-FFF2-40B4-BE49-F238E27FC236}">
                <a16:creationId xmlns:a16="http://schemas.microsoft.com/office/drawing/2014/main" id="{984170B2-335E-4905-8D48-92BB356816DE}"/>
              </a:ext>
            </a:extLst>
          </p:cNvPr>
          <p:cNvSpPr>
            <a:spLocks noGrp="1"/>
          </p:cNvSpPr>
          <p:nvPr>
            <p:ph type="subTitle" idx="1"/>
          </p:nvPr>
        </p:nvSpPr>
        <p:spPr>
          <a:xfrm>
            <a:off x="1524000" y="2237173"/>
            <a:ext cx="9144000" cy="4057095"/>
          </a:xfrm>
        </p:spPr>
        <p:txBody>
          <a:bodyPr>
            <a:normAutofit/>
          </a:bodyPr>
          <a:lstStyle/>
          <a:p>
            <a:pPr marL="457200" indent="-4572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Building trust</a:t>
            </a:r>
          </a:p>
          <a:p>
            <a:pPr marL="457200" indent="-4572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Preventing or resolving problems</a:t>
            </a:r>
          </a:p>
          <a:p>
            <a:pPr marL="457200" indent="-4572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Providing clarity and direction</a:t>
            </a:r>
          </a:p>
          <a:p>
            <a:pPr marL="457200" indent="-4572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Creates better relationships</a:t>
            </a:r>
          </a:p>
          <a:p>
            <a:pPr marL="457200" indent="-4572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Increases engagement</a:t>
            </a:r>
          </a:p>
          <a:p>
            <a:pPr marL="457200" indent="-4572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Improves productivity</a:t>
            </a:r>
          </a:p>
          <a:p>
            <a:pPr marL="457200" indent="-4572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Promotes team building</a:t>
            </a:r>
          </a:p>
        </p:txBody>
      </p:sp>
    </p:spTree>
    <p:extLst>
      <p:ext uri="{BB962C8B-B14F-4D97-AF65-F5344CB8AC3E}">
        <p14:creationId xmlns:p14="http://schemas.microsoft.com/office/powerpoint/2010/main" val="1904881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F7114-0B9D-4010-9295-938861F840F3}"/>
              </a:ext>
            </a:extLst>
          </p:cNvPr>
          <p:cNvSpPr>
            <a:spLocks noGrp="1"/>
          </p:cNvSpPr>
          <p:nvPr>
            <p:ph type="ctrTitle"/>
          </p:nvPr>
        </p:nvSpPr>
        <p:spPr>
          <a:xfrm>
            <a:off x="1524000" y="426129"/>
            <a:ext cx="9144000" cy="905521"/>
          </a:xfrm>
        </p:spPr>
        <p:txBody>
          <a:bodyPr>
            <a:normAutofit/>
          </a:bodyPr>
          <a:lstStyle/>
          <a:p>
            <a:r>
              <a:rPr lang="en-IN" sz="4000" dirty="0">
                <a:latin typeface="Times New Roman" panose="02020603050405020304" pitchFamily="18" charset="0"/>
                <a:cs typeface="Times New Roman" panose="02020603050405020304" pitchFamily="18" charset="0"/>
              </a:rPr>
              <a:t>Forms of Communication at the Workplace</a:t>
            </a:r>
          </a:p>
        </p:txBody>
      </p:sp>
      <p:sp>
        <p:nvSpPr>
          <p:cNvPr id="3" name="Subtitle 2">
            <a:extLst>
              <a:ext uri="{FF2B5EF4-FFF2-40B4-BE49-F238E27FC236}">
                <a16:creationId xmlns:a16="http://schemas.microsoft.com/office/drawing/2014/main" id="{E8D47561-C484-4CD7-987E-7D4944CA8AAE}"/>
              </a:ext>
            </a:extLst>
          </p:cNvPr>
          <p:cNvSpPr>
            <a:spLocks noGrp="1"/>
          </p:cNvSpPr>
          <p:nvPr>
            <p:ph type="subTitle" idx="1"/>
          </p:nvPr>
        </p:nvSpPr>
        <p:spPr>
          <a:xfrm>
            <a:off x="1524000" y="1740023"/>
            <a:ext cx="9144000" cy="3517777"/>
          </a:xfrm>
        </p:spPr>
        <p:txBody>
          <a:bodyPr>
            <a:normAutofit fontScale="92500"/>
          </a:bodyPr>
          <a:lstStyle/>
          <a:p>
            <a:pPr marL="457200" indent="-457200" algn="l">
              <a:lnSpc>
                <a:spcPct val="150000"/>
              </a:lnSpc>
              <a:buAutoNum type="arabicPeriod"/>
            </a:pPr>
            <a:r>
              <a:rPr lang="en-IN" sz="2800" dirty="0">
                <a:latin typeface="Times New Roman" panose="02020603050405020304" pitchFamily="18" charset="0"/>
                <a:cs typeface="Times New Roman" panose="02020603050405020304" pitchFamily="18" charset="0"/>
              </a:rPr>
              <a:t>Interviews</a:t>
            </a:r>
          </a:p>
          <a:p>
            <a:pPr algn="l">
              <a:lnSpc>
                <a:spcPct val="150000"/>
              </a:lnSpc>
            </a:pPr>
            <a:r>
              <a:rPr lang="en-IN" sz="2800" dirty="0">
                <a:latin typeface="Times New Roman" panose="02020603050405020304" pitchFamily="18" charset="0"/>
                <a:cs typeface="Times New Roman" panose="02020603050405020304" pitchFamily="18" charset="0"/>
              </a:rPr>
              <a:t>2.  Group projects</a:t>
            </a:r>
          </a:p>
          <a:p>
            <a:pPr algn="l">
              <a:lnSpc>
                <a:spcPct val="150000"/>
              </a:lnSpc>
            </a:pPr>
            <a:r>
              <a:rPr lang="en-IN" sz="2800" dirty="0">
                <a:latin typeface="Times New Roman" panose="02020603050405020304" pitchFamily="18" charset="0"/>
                <a:cs typeface="Times New Roman" panose="02020603050405020304" pitchFamily="18" charset="0"/>
              </a:rPr>
              <a:t>3. Writing</a:t>
            </a:r>
          </a:p>
          <a:p>
            <a:pPr algn="l">
              <a:lnSpc>
                <a:spcPct val="150000"/>
              </a:lnSpc>
            </a:pPr>
            <a:r>
              <a:rPr lang="en-IN" sz="2800" dirty="0">
                <a:latin typeface="Times New Roman" panose="02020603050405020304" pitchFamily="18" charset="0"/>
                <a:cs typeface="Times New Roman" panose="02020603050405020304" pitchFamily="18" charset="0"/>
              </a:rPr>
              <a:t>4. Presentations</a:t>
            </a:r>
          </a:p>
          <a:p>
            <a:pPr algn="l">
              <a:lnSpc>
                <a:spcPct val="150000"/>
              </a:lnSpc>
            </a:pPr>
            <a:r>
              <a:rPr lang="en-IN" sz="2800" dirty="0">
                <a:latin typeface="Times New Roman" panose="02020603050405020304" pitchFamily="18" charset="0"/>
                <a:cs typeface="Times New Roman" panose="02020603050405020304" pitchFamily="18" charset="0"/>
              </a:rPr>
              <a:t>5. Communication with Management</a:t>
            </a:r>
          </a:p>
        </p:txBody>
      </p:sp>
    </p:spTree>
    <p:extLst>
      <p:ext uri="{BB962C8B-B14F-4D97-AF65-F5344CB8AC3E}">
        <p14:creationId xmlns:p14="http://schemas.microsoft.com/office/powerpoint/2010/main" val="112885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B6654-D542-41B8-B9CE-872FF38898B4}"/>
              </a:ext>
            </a:extLst>
          </p:cNvPr>
          <p:cNvSpPr>
            <a:spLocks noGrp="1"/>
          </p:cNvSpPr>
          <p:nvPr>
            <p:ph type="ctrTitle"/>
          </p:nvPr>
        </p:nvSpPr>
        <p:spPr>
          <a:xfrm>
            <a:off x="1524000" y="417250"/>
            <a:ext cx="9144000" cy="1003177"/>
          </a:xfrm>
        </p:spPr>
        <p:txBody>
          <a:bodyPr>
            <a:normAutofit fontScale="90000"/>
          </a:bodyPr>
          <a:lstStyle/>
          <a:p>
            <a:r>
              <a:rPr lang="en-IN" sz="4000" dirty="0">
                <a:latin typeface="Times New Roman" panose="02020603050405020304" pitchFamily="18" charset="0"/>
                <a:cs typeface="Times New Roman" panose="02020603050405020304" pitchFamily="18" charset="0"/>
              </a:rPr>
              <a:t>Steps to improve Professional Communication</a:t>
            </a:r>
          </a:p>
        </p:txBody>
      </p:sp>
      <p:sp>
        <p:nvSpPr>
          <p:cNvPr id="3" name="Subtitle 2">
            <a:extLst>
              <a:ext uri="{FF2B5EF4-FFF2-40B4-BE49-F238E27FC236}">
                <a16:creationId xmlns:a16="http://schemas.microsoft.com/office/drawing/2014/main" id="{87A9301A-1EB5-46A0-8455-72CFA7AA8D67}"/>
              </a:ext>
            </a:extLst>
          </p:cNvPr>
          <p:cNvSpPr>
            <a:spLocks noGrp="1"/>
          </p:cNvSpPr>
          <p:nvPr>
            <p:ph type="subTitle" idx="1"/>
          </p:nvPr>
        </p:nvSpPr>
        <p:spPr>
          <a:xfrm>
            <a:off x="1524000" y="1917577"/>
            <a:ext cx="9144000" cy="4225771"/>
          </a:xfrm>
        </p:spPr>
        <p:txBody>
          <a:bodyPr>
            <a:normAutofit/>
          </a:bodyPr>
          <a:lstStyle/>
          <a:p>
            <a:pPr algn="l"/>
            <a:r>
              <a:rPr lang="en-IN" dirty="0">
                <a:latin typeface="Times New Roman" panose="02020603050405020304" pitchFamily="18" charset="0"/>
                <a:cs typeface="Times New Roman" panose="02020603050405020304" pitchFamily="18" charset="0"/>
              </a:rPr>
              <a:t>1. Understanding the Basics of Communication Skills</a:t>
            </a:r>
          </a:p>
          <a:p>
            <a:pPr algn="l"/>
            <a:r>
              <a:rPr lang="en-IN" dirty="0">
                <a:latin typeface="Times New Roman" panose="02020603050405020304" pitchFamily="18" charset="0"/>
                <a:cs typeface="Times New Roman" panose="02020603050405020304" pitchFamily="18" charset="0"/>
              </a:rPr>
              <a:t>2. Have courage say to what you think</a:t>
            </a:r>
          </a:p>
          <a:p>
            <a:pPr algn="l"/>
            <a:r>
              <a:rPr lang="en-IN" dirty="0">
                <a:latin typeface="Times New Roman" panose="02020603050405020304" pitchFamily="18" charset="0"/>
                <a:cs typeface="Times New Roman" panose="02020603050405020304" pitchFamily="18" charset="0"/>
              </a:rPr>
              <a:t>3. Practice</a:t>
            </a:r>
          </a:p>
          <a:p>
            <a:pPr algn="l"/>
            <a:r>
              <a:rPr lang="en-IN" dirty="0">
                <a:latin typeface="Times New Roman" panose="02020603050405020304" pitchFamily="18" charset="0"/>
                <a:cs typeface="Times New Roman" panose="02020603050405020304" pitchFamily="18" charset="0"/>
              </a:rPr>
              <a:t>4. Engaging Your Audience – Make eye contact</a:t>
            </a:r>
          </a:p>
          <a:p>
            <a:pPr algn="l"/>
            <a:r>
              <a:rPr lang="en-IN" dirty="0">
                <a:latin typeface="Times New Roman" panose="02020603050405020304" pitchFamily="18" charset="0"/>
                <a:cs typeface="Times New Roman" panose="02020603050405020304" pitchFamily="18" charset="0"/>
              </a:rPr>
              <a:t>5. Engaging Your Audience – Use gestures</a:t>
            </a:r>
          </a:p>
          <a:p>
            <a:pPr algn="l"/>
            <a:r>
              <a:rPr lang="en-IN" dirty="0">
                <a:latin typeface="Times New Roman" panose="02020603050405020304" pitchFamily="18" charset="0"/>
                <a:cs typeface="Times New Roman" panose="02020603050405020304" pitchFamily="18" charset="0"/>
              </a:rPr>
              <a:t>6. Don’t send mixed messages</a:t>
            </a:r>
          </a:p>
          <a:p>
            <a:pPr algn="l"/>
            <a:r>
              <a:rPr lang="en-IN" dirty="0">
                <a:latin typeface="Times New Roman" panose="02020603050405020304" pitchFamily="18" charset="0"/>
                <a:cs typeface="Times New Roman" panose="02020603050405020304" pitchFamily="18" charset="0"/>
              </a:rPr>
              <a:t>7. Be aware of what your body is saying</a:t>
            </a:r>
          </a:p>
          <a:p>
            <a:pPr algn="l"/>
            <a:r>
              <a:rPr lang="en-IN" dirty="0">
                <a:latin typeface="Times New Roman" panose="02020603050405020304" pitchFamily="18" charset="0"/>
                <a:cs typeface="Times New Roman" panose="02020603050405020304" pitchFamily="18" charset="0"/>
              </a:rPr>
              <a:t>8. Manifest constructive attitudes and beliefs</a:t>
            </a:r>
          </a:p>
        </p:txBody>
      </p:sp>
    </p:spTree>
    <p:extLst>
      <p:ext uri="{BB962C8B-B14F-4D97-AF65-F5344CB8AC3E}">
        <p14:creationId xmlns:p14="http://schemas.microsoft.com/office/powerpoint/2010/main" val="2056854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E4162-9EF2-4F15-813F-4320D4674C16}"/>
              </a:ext>
            </a:extLst>
          </p:cNvPr>
          <p:cNvSpPr>
            <a:spLocks noGrp="1"/>
          </p:cNvSpPr>
          <p:nvPr>
            <p:ph type="ctrTitle"/>
          </p:nvPr>
        </p:nvSpPr>
        <p:spPr>
          <a:xfrm>
            <a:off x="1524000" y="616999"/>
            <a:ext cx="9144000" cy="785673"/>
          </a:xfrm>
        </p:spPr>
        <p:txBody>
          <a:bodyPr>
            <a:normAutofit/>
          </a:bodyPr>
          <a:lstStyle/>
          <a:p>
            <a:r>
              <a:rPr lang="en-IN" sz="4000" dirty="0">
                <a:latin typeface="Times New Roman" panose="02020603050405020304" pitchFamily="18" charset="0"/>
                <a:cs typeface="Times New Roman" panose="02020603050405020304" pitchFamily="18" charset="0"/>
              </a:rPr>
              <a:t>More….</a:t>
            </a:r>
          </a:p>
        </p:txBody>
      </p:sp>
      <p:sp>
        <p:nvSpPr>
          <p:cNvPr id="3" name="Subtitle 2">
            <a:extLst>
              <a:ext uri="{FF2B5EF4-FFF2-40B4-BE49-F238E27FC236}">
                <a16:creationId xmlns:a16="http://schemas.microsoft.com/office/drawing/2014/main" id="{0691FD53-03D7-491D-8C9E-A81D5CCEC9A6}"/>
              </a:ext>
            </a:extLst>
          </p:cNvPr>
          <p:cNvSpPr>
            <a:spLocks noGrp="1"/>
          </p:cNvSpPr>
          <p:nvPr>
            <p:ph type="subTitle" idx="1"/>
          </p:nvPr>
        </p:nvSpPr>
        <p:spPr>
          <a:xfrm>
            <a:off x="1524000" y="1864311"/>
            <a:ext cx="9144000" cy="4376691"/>
          </a:xfrm>
        </p:spPr>
        <p:txBody>
          <a:bodyPr/>
          <a:lstStyle/>
          <a:p>
            <a:pPr algn="l"/>
            <a:r>
              <a:rPr lang="en-IN" dirty="0">
                <a:latin typeface="Times New Roman" panose="02020603050405020304" pitchFamily="18" charset="0"/>
                <a:cs typeface="Times New Roman" panose="02020603050405020304" pitchFamily="18" charset="0"/>
              </a:rPr>
              <a:t>9. Develop effective listening skills</a:t>
            </a:r>
          </a:p>
          <a:p>
            <a:pPr algn="l"/>
            <a:r>
              <a:rPr lang="en-IN" dirty="0">
                <a:latin typeface="Times New Roman" panose="02020603050405020304" pitchFamily="18" charset="0"/>
                <a:cs typeface="Times New Roman" panose="02020603050405020304" pitchFamily="18" charset="0"/>
              </a:rPr>
              <a:t>10. Enunciate your words</a:t>
            </a:r>
          </a:p>
          <a:p>
            <a:pPr algn="l"/>
            <a:r>
              <a:rPr lang="en-IN" dirty="0">
                <a:latin typeface="Times New Roman" panose="02020603050405020304" pitchFamily="18" charset="0"/>
                <a:cs typeface="Times New Roman" panose="02020603050405020304" pitchFamily="18" charset="0"/>
              </a:rPr>
              <a:t>11.Pronounce your words correctly</a:t>
            </a:r>
          </a:p>
          <a:p>
            <a:pPr algn="l"/>
            <a:r>
              <a:rPr lang="en-IN" dirty="0">
                <a:latin typeface="Times New Roman" panose="02020603050405020304" pitchFamily="18" charset="0"/>
                <a:cs typeface="Times New Roman" panose="02020603050405020304" pitchFamily="18" charset="0"/>
              </a:rPr>
              <a:t>12. Use the right words</a:t>
            </a:r>
          </a:p>
          <a:p>
            <a:pPr algn="l"/>
            <a:r>
              <a:rPr lang="en-IN" dirty="0">
                <a:latin typeface="Times New Roman" panose="02020603050405020304" pitchFamily="18" charset="0"/>
                <a:cs typeface="Times New Roman" panose="02020603050405020304" pitchFamily="18" charset="0"/>
              </a:rPr>
              <a:t>13. Slow your speech down</a:t>
            </a:r>
          </a:p>
          <a:p>
            <a:pPr algn="l"/>
            <a:r>
              <a:rPr lang="en-IN" dirty="0">
                <a:latin typeface="Times New Roman" panose="02020603050405020304" pitchFamily="18" charset="0"/>
                <a:cs typeface="Times New Roman" panose="02020603050405020304" pitchFamily="18" charset="0"/>
              </a:rPr>
              <a:t>14. Develop your voice</a:t>
            </a:r>
          </a:p>
          <a:p>
            <a:pPr algn="l"/>
            <a:r>
              <a:rPr lang="en-IN" dirty="0">
                <a:latin typeface="Times New Roman" panose="02020603050405020304" pitchFamily="18" charset="0"/>
                <a:cs typeface="Times New Roman" panose="02020603050405020304" pitchFamily="18" charset="0"/>
              </a:rPr>
              <a:t>15. Animate your voice</a:t>
            </a:r>
          </a:p>
          <a:p>
            <a:pPr algn="l"/>
            <a:r>
              <a:rPr lang="en-IN" dirty="0">
                <a:latin typeface="Times New Roman" panose="02020603050405020304" pitchFamily="18" charset="0"/>
                <a:cs typeface="Times New Roman" panose="02020603050405020304" pitchFamily="18" charset="0"/>
              </a:rPr>
              <a:t>16. Use appropriate volume</a:t>
            </a:r>
          </a:p>
        </p:txBody>
      </p:sp>
    </p:spTree>
    <p:extLst>
      <p:ext uri="{BB962C8B-B14F-4D97-AF65-F5344CB8AC3E}">
        <p14:creationId xmlns:p14="http://schemas.microsoft.com/office/powerpoint/2010/main" val="470078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1F9F3-D099-40DC-87F4-ED6A3D932D8D}"/>
              </a:ext>
            </a:extLst>
          </p:cNvPr>
          <p:cNvSpPr>
            <a:spLocks noGrp="1"/>
          </p:cNvSpPr>
          <p:nvPr>
            <p:ph type="ctrTitle"/>
          </p:nvPr>
        </p:nvSpPr>
        <p:spPr>
          <a:xfrm>
            <a:off x="1524000" y="559294"/>
            <a:ext cx="9144000" cy="914400"/>
          </a:xfrm>
        </p:spPr>
        <p:txBody>
          <a:bodyPr>
            <a:normAutofit/>
          </a:bodyPr>
          <a:lstStyle/>
          <a:p>
            <a:r>
              <a:rPr lang="en-IN" sz="4400" dirty="0">
                <a:latin typeface="Times New Roman" panose="02020603050405020304" pitchFamily="18" charset="0"/>
                <a:cs typeface="Times New Roman" panose="02020603050405020304" pitchFamily="18" charset="0"/>
              </a:rPr>
              <a:t>3. Life Skills</a:t>
            </a:r>
          </a:p>
        </p:txBody>
      </p:sp>
      <p:sp>
        <p:nvSpPr>
          <p:cNvPr id="3" name="Subtitle 2">
            <a:extLst>
              <a:ext uri="{FF2B5EF4-FFF2-40B4-BE49-F238E27FC236}">
                <a16:creationId xmlns:a16="http://schemas.microsoft.com/office/drawing/2014/main" id="{D2B36A20-AF5A-48FC-9833-C58B7B8D790A}"/>
              </a:ext>
            </a:extLst>
          </p:cNvPr>
          <p:cNvSpPr>
            <a:spLocks noGrp="1"/>
          </p:cNvSpPr>
          <p:nvPr>
            <p:ph type="subTitle" idx="1"/>
          </p:nvPr>
        </p:nvSpPr>
        <p:spPr>
          <a:xfrm>
            <a:off x="1524000" y="2547891"/>
            <a:ext cx="9144000" cy="3471169"/>
          </a:xfrm>
        </p:spPr>
        <p:txBody>
          <a:bodyPr>
            <a:normAutofit/>
          </a:bodyPr>
          <a:lstStyle/>
          <a:p>
            <a:r>
              <a:rPr lang="en-IN" sz="4400" dirty="0">
                <a:latin typeface="Times New Roman" panose="02020603050405020304" pitchFamily="18" charset="0"/>
                <a:cs typeface="Times New Roman" panose="02020603050405020304" pitchFamily="18" charset="0"/>
              </a:rPr>
              <a:t>You deserve to be happier than you are</a:t>
            </a:r>
            <a:endParaRPr lang="en-IN" sz="4400" dirty="0"/>
          </a:p>
        </p:txBody>
      </p:sp>
      <p:pic>
        <p:nvPicPr>
          <p:cNvPr id="4" name="Picture 2" descr="Happiness costs 95 000 dollars per year | LGT">
            <a:extLst>
              <a:ext uri="{FF2B5EF4-FFF2-40B4-BE49-F238E27FC236}">
                <a16:creationId xmlns:a16="http://schemas.microsoft.com/office/drawing/2014/main" id="{77129CFF-91B9-47AE-BF9C-67D0A17044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979" y="3622089"/>
            <a:ext cx="3284737" cy="2113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6292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3093-9304-4A9E-A1B3-DA62C602B0F7}"/>
              </a:ext>
            </a:extLst>
          </p:cNvPr>
          <p:cNvSpPr>
            <a:spLocks noGrp="1"/>
          </p:cNvSpPr>
          <p:nvPr>
            <p:ph type="ctrTitle"/>
          </p:nvPr>
        </p:nvSpPr>
        <p:spPr>
          <a:xfrm>
            <a:off x="1524000" y="497150"/>
            <a:ext cx="9144000" cy="870011"/>
          </a:xfrm>
        </p:spPr>
        <p:txBody>
          <a:bodyPr>
            <a:normAutofit/>
          </a:bodyPr>
          <a:lstStyle/>
          <a:p>
            <a:r>
              <a:rPr lang="en-IN" sz="4400" dirty="0">
                <a:latin typeface="Times New Roman" panose="02020603050405020304" pitchFamily="18" charset="0"/>
                <a:cs typeface="Times New Roman" panose="02020603050405020304" pitchFamily="18" charset="0"/>
              </a:rPr>
              <a:t>Life Skills</a:t>
            </a:r>
          </a:p>
        </p:txBody>
      </p:sp>
      <p:sp>
        <p:nvSpPr>
          <p:cNvPr id="3" name="Subtitle 2">
            <a:extLst>
              <a:ext uri="{FF2B5EF4-FFF2-40B4-BE49-F238E27FC236}">
                <a16:creationId xmlns:a16="http://schemas.microsoft.com/office/drawing/2014/main" id="{69A0C6AF-3FEC-4D66-BB5D-7C7B79166984}"/>
              </a:ext>
            </a:extLst>
          </p:cNvPr>
          <p:cNvSpPr>
            <a:spLocks noGrp="1"/>
          </p:cNvSpPr>
          <p:nvPr>
            <p:ph type="subTitle" idx="1"/>
          </p:nvPr>
        </p:nvSpPr>
        <p:spPr>
          <a:xfrm>
            <a:off x="1524000" y="2077375"/>
            <a:ext cx="9144000" cy="3950563"/>
          </a:xfrm>
        </p:spPr>
        <p:txBody>
          <a:bodyPr>
            <a:normAutofit/>
          </a:bodyPr>
          <a:lstStyle/>
          <a:p>
            <a:pPr algn="just">
              <a:lnSpc>
                <a:spcPct val="107000"/>
              </a:lnSpc>
              <a:spcAft>
                <a:spcPts val="800"/>
              </a:spcAft>
            </a:pPr>
            <a:r>
              <a:rPr lang="en-US" sz="1800" b="1" dirty="0">
                <a:effectLst/>
                <a:latin typeface="Bookman Old Style" panose="02050604050505020204" pitchFamily="18" charset="0"/>
                <a:ea typeface="Calibri" panose="020F0502020204030204" pitchFamily="34" charset="0"/>
                <a:cs typeface="Times New Roman" panose="02020603050405020304" pitchFamily="18" charset="0"/>
              </a:rPr>
              <a:t>Examples of Life Skills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1800" dirty="0">
                <a:effectLst/>
                <a:latin typeface="Bookman Old Style" panose="02050604050505020204" pitchFamily="18" charset="0"/>
                <a:ea typeface="Calibri" panose="020F0502020204030204" pitchFamily="34" charset="0"/>
                <a:cs typeface="Times New Roman" panose="02020603050405020304" pitchFamily="18" charset="0"/>
              </a:rPr>
              <a:t>Study Life Skills for the students at school or university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1800" dirty="0">
                <a:effectLst/>
                <a:latin typeface="Bookman Old Style" panose="02050604050505020204" pitchFamily="18" charset="0"/>
                <a:ea typeface="Calibri" panose="020F0502020204030204" pitchFamily="34" charset="0"/>
                <a:cs typeface="Times New Roman" panose="02020603050405020304" pitchFamily="18" charset="0"/>
              </a:rPr>
              <a:t>Negotiation Life Skills while buying a house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1800" dirty="0">
                <a:effectLst/>
                <a:latin typeface="Bookman Old Style" panose="02050604050505020204" pitchFamily="18" charset="0"/>
                <a:ea typeface="Calibri" panose="020F0502020204030204" pitchFamily="34" charset="0"/>
                <a:cs typeface="Times New Roman" panose="02020603050405020304" pitchFamily="18" charset="0"/>
              </a:rPr>
              <a:t>Employability Life Skills to get a job</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1800" dirty="0">
                <a:effectLst/>
                <a:latin typeface="Bookman Old Style" panose="02050604050505020204" pitchFamily="18" charset="0"/>
                <a:ea typeface="Calibri" panose="020F0502020204030204" pitchFamily="34" charset="0"/>
                <a:cs typeface="Times New Roman" panose="02020603050405020304" pitchFamily="18" charset="0"/>
              </a:rPr>
              <a:t>Leadership Life Skills while leading teams or groups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1800" dirty="0">
                <a:effectLst/>
                <a:latin typeface="Bookman Old Style" panose="02050604050505020204" pitchFamily="18" charset="0"/>
                <a:ea typeface="Calibri" panose="020F0502020204030204" pitchFamily="34" charset="0"/>
                <a:cs typeface="Times New Roman" panose="02020603050405020304" pitchFamily="18" charset="0"/>
              </a:rPr>
              <a:t>Parenting Life Skills while starting a new family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1800" dirty="0">
                <a:effectLst/>
                <a:latin typeface="Bookman Old Style" panose="02050604050505020204" pitchFamily="18" charset="0"/>
                <a:ea typeface="Calibri" panose="020F0502020204030204" pitchFamily="34" charset="0"/>
                <a:cs typeface="Times New Roman" panose="02020603050405020304" pitchFamily="18" charset="0"/>
              </a:rPr>
              <a:t>Ability and willingness to learn for improving your lifestyle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57804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EE3B9-C8B6-4792-B5F1-931952DA79E8}"/>
              </a:ext>
            </a:extLst>
          </p:cNvPr>
          <p:cNvSpPr>
            <a:spLocks noGrp="1"/>
          </p:cNvSpPr>
          <p:nvPr>
            <p:ph type="ctrTitle"/>
          </p:nvPr>
        </p:nvSpPr>
        <p:spPr>
          <a:xfrm>
            <a:off x="1524000" y="479394"/>
            <a:ext cx="9144000" cy="949911"/>
          </a:xfrm>
        </p:spPr>
        <p:txBody>
          <a:bodyPr>
            <a:normAutofit/>
          </a:bodyPr>
          <a:lstStyle/>
          <a:p>
            <a:r>
              <a:rPr lang="en-IN" sz="4400" dirty="0">
                <a:latin typeface="Times New Roman" panose="02020603050405020304" pitchFamily="18" charset="0"/>
                <a:cs typeface="Times New Roman" panose="02020603050405020304" pitchFamily="18" charset="0"/>
              </a:rPr>
              <a:t>Types of Life skills</a:t>
            </a:r>
          </a:p>
        </p:txBody>
      </p:sp>
      <p:sp>
        <p:nvSpPr>
          <p:cNvPr id="3" name="Subtitle 2">
            <a:extLst>
              <a:ext uri="{FF2B5EF4-FFF2-40B4-BE49-F238E27FC236}">
                <a16:creationId xmlns:a16="http://schemas.microsoft.com/office/drawing/2014/main" id="{86107DD9-4B81-4415-AB60-E9F30594E263}"/>
              </a:ext>
            </a:extLst>
          </p:cNvPr>
          <p:cNvSpPr>
            <a:spLocks noGrp="1"/>
          </p:cNvSpPr>
          <p:nvPr>
            <p:ph type="subTitle" idx="1"/>
          </p:nvPr>
        </p:nvSpPr>
        <p:spPr>
          <a:xfrm>
            <a:off x="1524000" y="2006353"/>
            <a:ext cx="9144000" cy="4048217"/>
          </a:xfrm>
        </p:spPr>
        <p:txBody>
          <a:bodyPr>
            <a:normAutofit lnSpcReduction="10000"/>
          </a:bodyPr>
          <a:lstStyle/>
          <a:p>
            <a:pPr marL="457200" indent="-457200" algn="l">
              <a:buAutoNum type="arabicPeriod"/>
            </a:pPr>
            <a:r>
              <a:rPr lang="en-IN" dirty="0">
                <a:latin typeface="Times New Roman" panose="02020603050405020304" pitchFamily="18" charset="0"/>
                <a:cs typeface="Times New Roman" panose="02020603050405020304" pitchFamily="18" charset="0"/>
              </a:rPr>
              <a:t>Will to learn</a:t>
            </a:r>
          </a:p>
          <a:p>
            <a:pPr marL="457200" indent="-457200" algn="l">
              <a:buAutoNum type="arabicPeriod"/>
            </a:pPr>
            <a:r>
              <a:rPr lang="en-IN" dirty="0">
                <a:latin typeface="Times New Roman" panose="02020603050405020304" pitchFamily="18" charset="0"/>
                <a:cs typeface="Times New Roman" panose="02020603050405020304" pitchFamily="18" charset="0"/>
              </a:rPr>
              <a:t>To think critically</a:t>
            </a:r>
          </a:p>
          <a:p>
            <a:pPr marL="457200" indent="-457200" algn="l">
              <a:buAutoNum type="arabicPeriod"/>
            </a:pPr>
            <a:r>
              <a:rPr lang="en-IN" dirty="0">
                <a:latin typeface="Times New Roman" panose="02020603050405020304" pitchFamily="18" charset="0"/>
                <a:cs typeface="Times New Roman" panose="02020603050405020304" pitchFamily="18" charset="0"/>
              </a:rPr>
              <a:t>To be self-aware</a:t>
            </a:r>
          </a:p>
          <a:p>
            <a:pPr marL="457200" indent="-457200" algn="l">
              <a:buAutoNum type="arabicPeriod"/>
            </a:pPr>
            <a:r>
              <a:rPr lang="en-IN" dirty="0">
                <a:latin typeface="Times New Roman" panose="02020603050405020304" pitchFamily="18" charset="0"/>
                <a:cs typeface="Times New Roman" panose="02020603050405020304" pitchFamily="18" charset="0"/>
              </a:rPr>
              <a:t>Stress management</a:t>
            </a:r>
          </a:p>
          <a:p>
            <a:pPr marL="457200" indent="-457200" algn="l">
              <a:buAutoNum type="arabicPeriod"/>
            </a:pPr>
            <a:r>
              <a:rPr lang="en-IN" dirty="0">
                <a:latin typeface="Times New Roman" panose="02020603050405020304" pitchFamily="18" charset="0"/>
                <a:cs typeface="Times New Roman" panose="02020603050405020304" pitchFamily="18" charset="0"/>
              </a:rPr>
              <a:t>Decision making</a:t>
            </a:r>
          </a:p>
          <a:p>
            <a:pPr marL="457200" indent="-457200" algn="l">
              <a:buAutoNum type="arabicPeriod"/>
            </a:pPr>
            <a:r>
              <a:rPr lang="en-IN" dirty="0">
                <a:latin typeface="Times New Roman" panose="02020603050405020304" pitchFamily="18" charset="0"/>
                <a:cs typeface="Times New Roman" panose="02020603050405020304" pitchFamily="18" charset="0"/>
              </a:rPr>
              <a:t>Personal skills</a:t>
            </a:r>
          </a:p>
          <a:p>
            <a:pPr marL="457200" indent="-457200" algn="l">
              <a:buAutoNum type="arabicPeriod"/>
            </a:pPr>
            <a:r>
              <a:rPr lang="en-IN" dirty="0">
                <a:latin typeface="Times New Roman" panose="02020603050405020304" pitchFamily="18" charset="0"/>
                <a:cs typeface="Times New Roman" panose="02020603050405020304" pitchFamily="18" charset="0"/>
              </a:rPr>
              <a:t>Emotional intelligence</a:t>
            </a:r>
          </a:p>
          <a:p>
            <a:pPr marL="457200" indent="-457200" algn="l">
              <a:buAutoNum type="arabicPeriod"/>
            </a:pPr>
            <a:r>
              <a:rPr lang="en-IN" dirty="0">
                <a:latin typeface="Times New Roman" panose="02020603050405020304" pitchFamily="18" charset="0"/>
                <a:cs typeface="Times New Roman" panose="02020603050405020304" pitchFamily="18" charset="0"/>
              </a:rPr>
              <a:t>Creativity</a:t>
            </a:r>
          </a:p>
          <a:p>
            <a:pPr marL="457200" indent="-457200" algn="l">
              <a:buAutoNum type="arabicPeriod"/>
            </a:pPr>
            <a:r>
              <a:rPr lang="en-IN" dirty="0">
                <a:latin typeface="Times New Roman" panose="02020603050405020304" pitchFamily="18" charset="0"/>
                <a:cs typeface="Times New Roman" panose="02020603050405020304" pitchFamily="18" charset="0"/>
              </a:rPr>
              <a:t>Problem solving</a:t>
            </a:r>
          </a:p>
        </p:txBody>
      </p:sp>
    </p:spTree>
    <p:extLst>
      <p:ext uri="{BB962C8B-B14F-4D97-AF65-F5344CB8AC3E}">
        <p14:creationId xmlns:p14="http://schemas.microsoft.com/office/powerpoint/2010/main" val="3758147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8DF15-8062-4616-BA61-5B747A1DF151}"/>
              </a:ext>
            </a:extLst>
          </p:cNvPr>
          <p:cNvSpPr>
            <a:spLocks noGrp="1"/>
          </p:cNvSpPr>
          <p:nvPr>
            <p:ph type="ctrTitle"/>
          </p:nvPr>
        </p:nvSpPr>
        <p:spPr>
          <a:xfrm>
            <a:off x="1524000" y="550417"/>
            <a:ext cx="9144000" cy="949909"/>
          </a:xfrm>
        </p:spPr>
        <p:txBody>
          <a:bodyPr>
            <a:normAutofit/>
          </a:bodyPr>
          <a:lstStyle/>
          <a:p>
            <a:r>
              <a:rPr lang="en-IN" sz="4400" dirty="0">
                <a:latin typeface="Times New Roman" panose="02020603050405020304" pitchFamily="18" charset="0"/>
                <a:cs typeface="Times New Roman" panose="02020603050405020304" pitchFamily="18" charset="0"/>
              </a:rPr>
              <a:t>Continued…</a:t>
            </a:r>
          </a:p>
        </p:txBody>
      </p:sp>
      <p:sp>
        <p:nvSpPr>
          <p:cNvPr id="3" name="Subtitle 2">
            <a:extLst>
              <a:ext uri="{FF2B5EF4-FFF2-40B4-BE49-F238E27FC236}">
                <a16:creationId xmlns:a16="http://schemas.microsoft.com/office/drawing/2014/main" id="{B4C8E65D-7102-49EA-A234-BC433DBF6AF4}"/>
              </a:ext>
            </a:extLst>
          </p:cNvPr>
          <p:cNvSpPr>
            <a:spLocks noGrp="1"/>
          </p:cNvSpPr>
          <p:nvPr>
            <p:ph type="subTitle" idx="1"/>
          </p:nvPr>
        </p:nvSpPr>
        <p:spPr>
          <a:xfrm>
            <a:off x="1524000" y="2459115"/>
            <a:ext cx="9144000" cy="3613211"/>
          </a:xfrm>
        </p:spPr>
        <p:txBody>
          <a:bodyPr/>
          <a:lstStyle/>
          <a:p>
            <a:pPr algn="l"/>
            <a:r>
              <a:rPr lang="en-IN" dirty="0"/>
              <a:t>10. Communication</a:t>
            </a:r>
          </a:p>
          <a:p>
            <a:pPr algn="l"/>
            <a:r>
              <a:rPr lang="en-IN" dirty="0"/>
              <a:t>11. Perspective</a:t>
            </a:r>
          </a:p>
          <a:p>
            <a:pPr algn="l"/>
            <a:r>
              <a:rPr lang="en-IN" dirty="0"/>
              <a:t>12. Empathy</a:t>
            </a:r>
          </a:p>
          <a:p>
            <a:pPr algn="l"/>
            <a:r>
              <a:rPr lang="en-IN" dirty="0"/>
              <a:t>13. Study skills</a:t>
            </a:r>
          </a:p>
          <a:p>
            <a:pPr algn="l"/>
            <a:r>
              <a:rPr lang="en-IN" dirty="0"/>
              <a:t>14. Negotiation</a:t>
            </a:r>
          </a:p>
          <a:p>
            <a:pPr algn="l"/>
            <a:r>
              <a:rPr lang="en-IN" dirty="0"/>
              <a:t>15. Relationships</a:t>
            </a:r>
          </a:p>
        </p:txBody>
      </p:sp>
    </p:spTree>
    <p:extLst>
      <p:ext uri="{BB962C8B-B14F-4D97-AF65-F5344CB8AC3E}">
        <p14:creationId xmlns:p14="http://schemas.microsoft.com/office/powerpoint/2010/main" val="11706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B6203-F101-4D47-90BA-6D73F2E54261}"/>
              </a:ext>
            </a:extLst>
          </p:cNvPr>
          <p:cNvSpPr>
            <a:spLocks noGrp="1"/>
          </p:cNvSpPr>
          <p:nvPr>
            <p:ph type="ctrTitle"/>
          </p:nvPr>
        </p:nvSpPr>
        <p:spPr>
          <a:xfrm>
            <a:off x="1524000" y="559293"/>
            <a:ext cx="9144000" cy="1118587"/>
          </a:xfrm>
        </p:spPr>
        <p:txBody>
          <a:bodyPr>
            <a:normAutofit/>
          </a:bodyPr>
          <a:lstStyle/>
          <a:p>
            <a:r>
              <a:rPr lang="en-IN" sz="4400" dirty="0">
                <a:latin typeface="Times New Roman" panose="02020603050405020304" pitchFamily="18" charset="0"/>
                <a:cs typeface="Times New Roman" panose="02020603050405020304" pitchFamily="18" charset="0"/>
              </a:rPr>
              <a:t>4. Social Skills</a:t>
            </a:r>
          </a:p>
        </p:txBody>
      </p:sp>
      <p:sp>
        <p:nvSpPr>
          <p:cNvPr id="3" name="Subtitle 2">
            <a:extLst>
              <a:ext uri="{FF2B5EF4-FFF2-40B4-BE49-F238E27FC236}">
                <a16:creationId xmlns:a16="http://schemas.microsoft.com/office/drawing/2014/main" id="{F1A26499-6F51-4C74-BABC-D0DC7EE5987A}"/>
              </a:ext>
            </a:extLst>
          </p:cNvPr>
          <p:cNvSpPr>
            <a:spLocks noGrp="1"/>
          </p:cNvSpPr>
          <p:nvPr>
            <p:ph type="subTitle" idx="1"/>
          </p:nvPr>
        </p:nvSpPr>
        <p:spPr>
          <a:xfrm>
            <a:off x="3548109" y="4780508"/>
            <a:ext cx="3655380" cy="1353961"/>
          </a:xfrm>
        </p:spPr>
        <p:txBody>
          <a:bodyPr/>
          <a:lstStyle/>
          <a:p>
            <a:endParaRPr lang="en-IN" dirty="0"/>
          </a:p>
        </p:txBody>
      </p:sp>
      <p:pic>
        <p:nvPicPr>
          <p:cNvPr id="1026" name="Picture 2" descr="Social Skills - YouTube">
            <a:extLst>
              <a:ext uri="{FF2B5EF4-FFF2-40B4-BE49-F238E27FC236}">
                <a16:creationId xmlns:a16="http://schemas.microsoft.com/office/drawing/2014/main" id="{FCEC8197-E1C4-49B4-960E-35BD99CC6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596" y="2299317"/>
            <a:ext cx="7488807" cy="4212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344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C03DF-445D-43E3-9A06-E52B688E7CF3}"/>
              </a:ext>
            </a:extLst>
          </p:cNvPr>
          <p:cNvSpPr>
            <a:spLocks noGrp="1"/>
          </p:cNvSpPr>
          <p:nvPr>
            <p:ph type="ctrTitle"/>
          </p:nvPr>
        </p:nvSpPr>
        <p:spPr>
          <a:xfrm>
            <a:off x="1524000" y="519344"/>
            <a:ext cx="9144000" cy="1282823"/>
          </a:xfrm>
        </p:spPr>
        <p:txBody>
          <a:bodyPr>
            <a:noAutofit/>
          </a:bodyPr>
          <a:lstStyle/>
          <a:p>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Why social skills are important?</a:t>
            </a:r>
            <a:br>
              <a:rPr lang="en-IN"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34BA1F0-BEA0-4D24-9268-A844B338F472}"/>
              </a:ext>
            </a:extLst>
          </p:cNvPr>
          <p:cNvSpPr>
            <a:spLocks noGrp="1"/>
          </p:cNvSpPr>
          <p:nvPr>
            <p:ph type="subTitle" idx="1"/>
          </p:nvPr>
        </p:nvSpPr>
        <p:spPr>
          <a:xfrm>
            <a:off x="1524000" y="1802167"/>
            <a:ext cx="9144000" cy="4536489"/>
          </a:xfrm>
        </p:spPr>
        <p:txBody>
          <a:bodyPr/>
          <a:lstStyle/>
          <a:p>
            <a:pPr marL="342900" lvl="0" indent="-342900" algn="just">
              <a:lnSpc>
                <a:spcPct val="107000"/>
              </a:lnSpc>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Gaining ideas, information, techniques and perspectives from people with different areas of expertise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Providing your own perspective for the benefit of others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Accomplishing tasks and collaborating with others toward a shared goal</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Providing mutual support for difficult or hard-to-navigate situations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Expanding your network to learn about and pursue new opportunities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Gaining feedback and referrals from people who can personally attest to your work, skills and qualities (and for whom you can do the same)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Making the workplace more enjoyable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b="1" dirty="0"/>
          </a:p>
        </p:txBody>
      </p:sp>
    </p:spTree>
    <p:extLst>
      <p:ext uri="{BB962C8B-B14F-4D97-AF65-F5344CB8AC3E}">
        <p14:creationId xmlns:p14="http://schemas.microsoft.com/office/powerpoint/2010/main" val="1071942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BC358-1921-4F99-A9FF-A35C2A5C90B1}"/>
              </a:ext>
            </a:extLst>
          </p:cNvPr>
          <p:cNvSpPr>
            <a:spLocks noGrp="1"/>
          </p:cNvSpPr>
          <p:nvPr>
            <p:ph type="ctrTitle"/>
          </p:nvPr>
        </p:nvSpPr>
        <p:spPr>
          <a:xfrm>
            <a:off x="1524000" y="634677"/>
            <a:ext cx="9144000" cy="1291777"/>
          </a:xfrm>
        </p:spPr>
        <p:txBody>
          <a:bodyPr>
            <a:noAutofit/>
          </a:bodyPr>
          <a:lstStyle/>
          <a:p>
            <a:r>
              <a:rPr lang="en-US" sz="4400" dirty="0">
                <a:effectLst/>
                <a:latin typeface="Times New Roman" panose="02020603050405020304" pitchFamily="18" charset="0"/>
                <a:ea typeface="Calibri" panose="020F0502020204030204" pitchFamily="34" charset="0"/>
                <a:cs typeface="Times New Roman" panose="02020603050405020304" pitchFamily="18" charset="0"/>
              </a:rPr>
              <a:t>Six examples of useful social skills</a:t>
            </a:r>
            <a:br>
              <a:rPr lang="en-IN" sz="44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66E1DB0-6880-4D7C-A7F0-EC6976783B2F}"/>
              </a:ext>
            </a:extLst>
          </p:cNvPr>
          <p:cNvSpPr>
            <a:spLocks noGrp="1"/>
          </p:cNvSpPr>
          <p:nvPr>
            <p:ph type="subTitle" idx="1"/>
          </p:nvPr>
        </p:nvSpPr>
        <p:spPr>
          <a:xfrm>
            <a:off x="1524000" y="2015231"/>
            <a:ext cx="9144000" cy="3808520"/>
          </a:xfrm>
        </p:spPr>
        <p:txBody>
          <a:bodyPr/>
          <a:lstStyle/>
          <a:p>
            <a:pPr algn="l"/>
            <a:r>
              <a:rPr lang="en-IN" dirty="0">
                <a:latin typeface="Times New Roman" panose="02020603050405020304" pitchFamily="18" charset="0"/>
                <a:cs typeface="Times New Roman" panose="02020603050405020304" pitchFamily="18" charset="0"/>
              </a:rPr>
              <a:t>1. Effective Communication</a:t>
            </a:r>
          </a:p>
          <a:p>
            <a:pPr algn="l"/>
            <a:r>
              <a:rPr lang="en-IN" dirty="0">
                <a:latin typeface="Times New Roman" panose="02020603050405020304" pitchFamily="18" charset="0"/>
                <a:cs typeface="Times New Roman" panose="02020603050405020304" pitchFamily="18" charset="0"/>
              </a:rPr>
              <a:t>2. Conflict Resolution</a:t>
            </a:r>
          </a:p>
          <a:p>
            <a:pPr algn="l"/>
            <a:r>
              <a:rPr lang="en-IN" dirty="0">
                <a:latin typeface="Times New Roman" panose="02020603050405020304" pitchFamily="18" charset="0"/>
                <a:cs typeface="Times New Roman" panose="02020603050405020304" pitchFamily="18" charset="0"/>
              </a:rPr>
              <a:t>3. Active listening</a:t>
            </a:r>
          </a:p>
          <a:p>
            <a:pPr algn="l"/>
            <a:r>
              <a:rPr lang="en-IN" dirty="0">
                <a:latin typeface="Times New Roman" panose="02020603050405020304" pitchFamily="18" charset="0"/>
                <a:cs typeface="Times New Roman" panose="02020603050405020304" pitchFamily="18" charset="0"/>
              </a:rPr>
              <a:t>4. Empathy</a:t>
            </a:r>
          </a:p>
          <a:p>
            <a:pPr algn="l"/>
            <a:r>
              <a:rPr lang="en-IN" dirty="0">
                <a:latin typeface="Times New Roman" panose="02020603050405020304" pitchFamily="18" charset="0"/>
                <a:cs typeface="Times New Roman" panose="02020603050405020304" pitchFamily="18" charset="0"/>
              </a:rPr>
              <a:t>5. Relationship management</a:t>
            </a:r>
          </a:p>
          <a:p>
            <a:pPr algn="l"/>
            <a:r>
              <a:rPr lang="en-IN" dirty="0">
                <a:latin typeface="Times New Roman" panose="02020603050405020304" pitchFamily="18" charset="0"/>
                <a:cs typeface="Times New Roman" panose="02020603050405020304" pitchFamily="18" charset="0"/>
              </a:rPr>
              <a:t>6. Respect</a:t>
            </a:r>
          </a:p>
        </p:txBody>
      </p:sp>
    </p:spTree>
    <p:extLst>
      <p:ext uri="{BB962C8B-B14F-4D97-AF65-F5344CB8AC3E}">
        <p14:creationId xmlns:p14="http://schemas.microsoft.com/office/powerpoint/2010/main" val="2695359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0D12B-0A70-4C24-A205-11C75052BCD0}"/>
              </a:ext>
            </a:extLst>
          </p:cNvPr>
          <p:cNvSpPr>
            <a:spLocks noGrp="1"/>
          </p:cNvSpPr>
          <p:nvPr>
            <p:ph type="ctrTitle"/>
          </p:nvPr>
        </p:nvSpPr>
        <p:spPr>
          <a:xfrm>
            <a:off x="1524000" y="719091"/>
            <a:ext cx="9144000" cy="798991"/>
          </a:xfrm>
        </p:spPr>
        <p:txBody>
          <a:bodyPr>
            <a:normAutofit/>
          </a:bodyPr>
          <a:lstStyle/>
          <a:p>
            <a:r>
              <a:rPr lang="en-IN" sz="4400" dirty="0">
                <a:latin typeface="Times New Roman" panose="02020603050405020304" pitchFamily="18" charset="0"/>
                <a:cs typeface="Times New Roman" panose="02020603050405020304" pitchFamily="18" charset="0"/>
              </a:rPr>
              <a:t>How to improve Social Skills?</a:t>
            </a:r>
          </a:p>
        </p:txBody>
      </p:sp>
      <p:sp>
        <p:nvSpPr>
          <p:cNvPr id="3" name="Subtitle 2">
            <a:extLst>
              <a:ext uri="{FF2B5EF4-FFF2-40B4-BE49-F238E27FC236}">
                <a16:creationId xmlns:a16="http://schemas.microsoft.com/office/drawing/2014/main" id="{C16F9967-9DC7-44AF-9A31-C74B042D8A23}"/>
              </a:ext>
            </a:extLst>
          </p:cNvPr>
          <p:cNvSpPr>
            <a:spLocks noGrp="1"/>
          </p:cNvSpPr>
          <p:nvPr>
            <p:ph type="subTitle" idx="1"/>
          </p:nvPr>
        </p:nvSpPr>
        <p:spPr>
          <a:xfrm>
            <a:off x="1524000" y="2050742"/>
            <a:ext cx="9144000" cy="4088167"/>
          </a:xfrm>
        </p:spPr>
        <p:txBody>
          <a:bodyPr>
            <a:normAutofit/>
          </a:bodyPr>
          <a:lstStyle/>
          <a:p>
            <a:pPr marL="457200" indent="-457200" algn="l">
              <a:lnSpc>
                <a:spcPct val="150000"/>
              </a:lnSpc>
              <a:buFont typeface="+mj-lt"/>
              <a:buAutoNum type="arabicPeriod"/>
            </a:pPr>
            <a:r>
              <a:rPr lang="en-IN" sz="2800" dirty="0">
                <a:latin typeface="Times New Roman" panose="02020603050405020304" pitchFamily="18" charset="0"/>
                <a:cs typeface="Times New Roman" panose="02020603050405020304" pitchFamily="18" charset="0"/>
              </a:rPr>
              <a:t>Get feedback</a:t>
            </a:r>
          </a:p>
          <a:p>
            <a:pPr marL="457200" indent="-457200" algn="l">
              <a:lnSpc>
                <a:spcPct val="150000"/>
              </a:lnSpc>
              <a:buFont typeface="+mj-lt"/>
              <a:buAutoNum type="arabicPeriod"/>
            </a:pPr>
            <a:r>
              <a:rPr lang="en-IN" sz="2800" dirty="0">
                <a:latin typeface="Times New Roman" panose="02020603050405020304" pitchFamily="18" charset="0"/>
                <a:cs typeface="Times New Roman" panose="02020603050405020304" pitchFamily="18" charset="0"/>
              </a:rPr>
              <a:t>Set goals</a:t>
            </a:r>
          </a:p>
          <a:p>
            <a:pPr marL="457200" indent="-457200" algn="l">
              <a:lnSpc>
                <a:spcPct val="150000"/>
              </a:lnSpc>
              <a:buFont typeface="+mj-lt"/>
              <a:buAutoNum type="arabicPeriod"/>
            </a:pPr>
            <a:r>
              <a:rPr lang="en-IN" sz="2800" dirty="0">
                <a:latin typeface="Times New Roman" panose="02020603050405020304" pitchFamily="18" charset="0"/>
                <a:cs typeface="Times New Roman" panose="02020603050405020304" pitchFamily="18" charset="0"/>
              </a:rPr>
              <a:t>Find resources</a:t>
            </a:r>
          </a:p>
          <a:p>
            <a:pPr marL="457200" indent="-457200" algn="l">
              <a:lnSpc>
                <a:spcPct val="150000"/>
              </a:lnSpc>
              <a:buFont typeface="+mj-lt"/>
              <a:buAutoNum type="arabicPeriod"/>
            </a:pPr>
            <a:r>
              <a:rPr lang="en-IN" sz="2800" dirty="0">
                <a:latin typeface="Times New Roman" panose="02020603050405020304" pitchFamily="18" charset="0"/>
                <a:cs typeface="Times New Roman" panose="02020603050405020304" pitchFamily="18" charset="0"/>
              </a:rPr>
              <a:t>Identify areas for practice</a:t>
            </a:r>
          </a:p>
        </p:txBody>
      </p:sp>
    </p:spTree>
    <p:extLst>
      <p:ext uri="{BB962C8B-B14F-4D97-AF65-F5344CB8AC3E}">
        <p14:creationId xmlns:p14="http://schemas.microsoft.com/office/powerpoint/2010/main" val="2366466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C8037-44A1-49E6-A6CF-18B0BA352A2B}"/>
              </a:ext>
            </a:extLst>
          </p:cNvPr>
          <p:cNvSpPr>
            <a:spLocks noGrp="1"/>
          </p:cNvSpPr>
          <p:nvPr>
            <p:ph type="ctrTitle"/>
          </p:nvPr>
        </p:nvSpPr>
        <p:spPr>
          <a:xfrm>
            <a:off x="1524000" y="621437"/>
            <a:ext cx="9144000" cy="807868"/>
          </a:xfrm>
        </p:spPr>
        <p:txBody>
          <a:bodyPr>
            <a:normAutofit/>
          </a:bodyPr>
          <a:lstStyle/>
          <a:p>
            <a:r>
              <a:rPr lang="en-IN" sz="4400" dirty="0">
                <a:latin typeface="Times New Roman" panose="02020603050405020304" pitchFamily="18" charset="0"/>
                <a:cs typeface="Times New Roman" panose="02020603050405020304" pitchFamily="18" charset="0"/>
              </a:rPr>
              <a:t>5. Confidence Building</a:t>
            </a:r>
          </a:p>
        </p:txBody>
      </p:sp>
      <p:sp>
        <p:nvSpPr>
          <p:cNvPr id="3" name="Subtitle 2">
            <a:extLst>
              <a:ext uri="{FF2B5EF4-FFF2-40B4-BE49-F238E27FC236}">
                <a16:creationId xmlns:a16="http://schemas.microsoft.com/office/drawing/2014/main" id="{8002516C-A5C6-4888-8943-10AEBEA45570}"/>
              </a:ext>
            </a:extLst>
          </p:cNvPr>
          <p:cNvSpPr>
            <a:spLocks noGrp="1"/>
          </p:cNvSpPr>
          <p:nvPr>
            <p:ph type="subTitle" idx="1"/>
          </p:nvPr>
        </p:nvSpPr>
        <p:spPr>
          <a:xfrm>
            <a:off x="1524000" y="1988598"/>
            <a:ext cx="9144000" cy="4412202"/>
          </a:xfrm>
        </p:spPr>
        <p:txBody>
          <a:bodyPr>
            <a:normAutofit fontScale="92500" lnSpcReduction="20000"/>
          </a:bodyPr>
          <a:lstStyle/>
          <a:p>
            <a:r>
              <a:rPr lang="en-IN" b="1" u="sng" dirty="0">
                <a:latin typeface="Times New Roman" panose="02020603050405020304" pitchFamily="18" charset="0"/>
                <a:cs typeface="Times New Roman" panose="02020603050405020304" pitchFamily="18" charset="0"/>
              </a:rPr>
              <a:t>Self Confidence</a:t>
            </a:r>
          </a:p>
          <a:p>
            <a:endParaRPr lang="en-IN" b="1" u="sng" dirty="0">
              <a:latin typeface="Times New Roman" panose="02020603050405020304" pitchFamily="18" charset="0"/>
              <a:cs typeface="Times New Roman" panose="02020603050405020304" pitchFamily="18" charset="0"/>
            </a:endParaRPr>
          </a:p>
          <a:p>
            <a:pPr marL="342900" indent="-342900" algn="l">
              <a:lnSpc>
                <a:spcPct val="150000"/>
              </a:lnSpc>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Self-confidence is an attitude about your skills and abilities.</a:t>
            </a:r>
          </a:p>
          <a:p>
            <a:pPr marL="342900" indent="-342900" algn="l">
              <a:lnSpc>
                <a:spcPct val="150000"/>
              </a:lnSpc>
              <a:buFont typeface="Arial" panose="020B0604020202020204" pitchFamily="34" charset="0"/>
              <a:buChar char="•"/>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l">
              <a:lnSpc>
                <a:spcPct val="150000"/>
              </a:lnSpc>
              <a:buFont typeface="Arial" panose="020B0604020202020204" pitchFamily="34" charset="0"/>
              <a:buChar char="•"/>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You know your strengths and weakness well, and have a positive view of yourself. You set realistic expectations and goals, communicate assertively, and can handle criticism.</a:t>
            </a:r>
          </a:p>
          <a:p>
            <a:pPr marL="342900" indent="-342900" algn="l">
              <a:lnSpc>
                <a:spcPct val="150000"/>
              </a:lnSpc>
              <a:buFont typeface="Arial" panose="020B0604020202020204" pitchFamily="34" charset="0"/>
              <a:buChar char="•"/>
            </a:pPr>
            <a:endPar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50000"/>
              </a:lnSpc>
              <a:buFont typeface="Arial" panose="020B0604020202020204" pitchFamily="34" charset="0"/>
              <a:buChar char="•"/>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Self-confidence is understanding that you trust your own judgment and abilities, and that you value yourself and feel worthy, regardless of any imperfections or of what others may believe about you.</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8119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75C2-5D5A-453B-AF56-C69DF54FBE72}"/>
              </a:ext>
            </a:extLst>
          </p:cNvPr>
          <p:cNvSpPr>
            <a:spLocks noGrp="1"/>
          </p:cNvSpPr>
          <p:nvPr>
            <p:ph type="title"/>
          </p:nvPr>
        </p:nvSpPr>
        <p:spPr>
          <a:xfrm>
            <a:off x="838200" y="365125"/>
            <a:ext cx="10515600" cy="6177718"/>
          </a:xfrm>
        </p:spPr>
        <p:txBody>
          <a:bodyPr/>
          <a:lstStyle/>
          <a:p>
            <a:endParaRPr lang="en-IN" dirty="0"/>
          </a:p>
        </p:txBody>
      </p:sp>
      <p:graphicFrame>
        <p:nvGraphicFramePr>
          <p:cNvPr id="3" name="Table 2">
            <a:extLst>
              <a:ext uri="{FF2B5EF4-FFF2-40B4-BE49-F238E27FC236}">
                <a16:creationId xmlns:a16="http://schemas.microsoft.com/office/drawing/2014/main" id="{CC16D5FD-5065-4BD1-B395-70BA10F1860A}"/>
              </a:ext>
            </a:extLst>
          </p:cNvPr>
          <p:cNvGraphicFramePr>
            <a:graphicFrameLocks noGrp="1"/>
          </p:cNvGraphicFramePr>
          <p:nvPr>
            <p:extLst>
              <p:ext uri="{D42A27DB-BD31-4B8C-83A1-F6EECF244321}">
                <p14:modId xmlns:p14="http://schemas.microsoft.com/office/powerpoint/2010/main" val="2488295346"/>
              </p:ext>
            </p:extLst>
          </p:nvPr>
        </p:nvGraphicFramePr>
        <p:xfrm>
          <a:off x="838200" y="435006"/>
          <a:ext cx="10515600" cy="6057868"/>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2112771874"/>
                    </a:ext>
                  </a:extLst>
                </a:gridCol>
                <a:gridCol w="5257800">
                  <a:extLst>
                    <a:ext uri="{9D8B030D-6E8A-4147-A177-3AD203B41FA5}">
                      <a16:colId xmlns:a16="http://schemas.microsoft.com/office/drawing/2014/main" val="1138885725"/>
                    </a:ext>
                  </a:extLst>
                </a:gridCol>
              </a:tblGrid>
              <a:tr h="1059879">
                <a:tc>
                  <a:txBody>
                    <a:bodyPr/>
                    <a:lstStyle/>
                    <a:p>
                      <a:pPr>
                        <a:lnSpc>
                          <a:spcPct val="107000"/>
                        </a:lnSpc>
                        <a:spcAft>
                          <a:spcPts val="800"/>
                        </a:spcAft>
                      </a:pPr>
                      <a:r>
                        <a:rPr lang="en-US" sz="1200">
                          <a:effectLst/>
                        </a:rPr>
                        <a:t>Confident Behaviour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143510" marB="143510" anchor="ctr"/>
                </a:tc>
                <a:tc>
                  <a:txBody>
                    <a:bodyPr/>
                    <a:lstStyle/>
                    <a:p>
                      <a:pPr>
                        <a:lnSpc>
                          <a:spcPct val="107000"/>
                        </a:lnSpc>
                        <a:spcAft>
                          <a:spcPts val="800"/>
                        </a:spcAft>
                      </a:pPr>
                      <a:r>
                        <a:rPr lang="en-US" sz="1200">
                          <a:effectLst/>
                        </a:rPr>
                        <a:t>Behaviour Associated with Low Self-Confidence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143510" marB="143510" anchor="ctr"/>
                </a:tc>
                <a:extLst>
                  <a:ext uri="{0D108BD9-81ED-4DB2-BD59-A6C34878D82A}">
                    <a16:rowId xmlns:a16="http://schemas.microsoft.com/office/drawing/2014/main" val="2827199900"/>
                  </a:ext>
                </a:extLst>
              </a:tr>
              <a:tr h="829791">
                <a:tc>
                  <a:txBody>
                    <a:bodyPr/>
                    <a:lstStyle/>
                    <a:p>
                      <a:pPr>
                        <a:lnSpc>
                          <a:spcPts val="1500"/>
                        </a:lnSpc>
                        <a:spcAft>
                          <a:spcPts val="800"/>
                        </a:spcAft>
                      </a:pPr>
                      <a:r>
                        <a:rPr lang="en-US" sz="1200">
                          <a:effectLst/>
                        </a:rPr>
                        <a:t>Doing what you believe to be right, even if others mock or criticize you for 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tc>
                  <a:txBody>
                    <a:bodyPr/>
                    <a:lstStyle/>
                    <a:p>
                      <a:pPr>
                        <a:lnSpc>
                          <a:spcPts val="1500"/>
                        </a:lnSpc>
                        <a:spcAft>
                          <a:spcPts val="800"/>
                        </a:spcAft>
                      </a:pPr>
                      <a:r>
                        <a:rPr lang="en-US" sz="1200">
                          <a:effectLst/>
                        </a:rPr>
                        <a:t>Governing your behavior based on what other people think.</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extLst>
                  <a:ext uri="{0D108BD9-81ED-4DB2-BD59-A6C34878D82A}">
                    <a16:rowId xmlns:a16="http://schemas.microsoft.com/office/drawing/2014/main" val="3326429808"/>
                  </a:ext>
                </a:extLst>
              </a:tr>
              <a:tr h="829791">
                <a:tc>
                  <a:txBody>
                    <a:bodyPr/>
                    <a:lstStyle/>
                    <a:p>
                      <a:pPr>
                        <a:lnSpc>
                          <a:spcPts val="1500"/>
                        </a:lnSpc>
                        <a:spcAft>
                          <a:spcPts val="800"/>
                        </a:spcAft>
                      </a:pPr>
                      <a:r>
                        <a:rPr lang="en-US" sz="1200">
                          <a:effectLst/>
                        </a:rPr>
                        <a:t>Being willing to take risks and to go the extra mile to achieve better things.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tc>
                  <a:txBody>
                    <a:bodyPr/>
                    <a:lstStyle/>
                    <a:p>
                      <a:pPr>
                        <a:lnSpc>
                          <a:spcPts val="1500"/>
                        </a:lnSpc>
                        <a:spcAft>
                          <a:spcPts val="800"/>
                        </a:spcAft>
                      </a:pPr>
                      <a:r>
                        <a:rPr lang="en-US" sz="1200">
                          <a:effectLst/>
                        </a:rPr>
                        <a:t>Staying in your comfort zone, fearing failure, and avoiding risk.</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extLst>
                  <a:ext uri="{0D108BD9-81ED-4DB2-BD59-A6C34878D82A}">
                    <a16:rowId xmlns:a16="http://schemas.microsoft.com/office/drawing/2014/main" val="1485448353"/>
                  </a:ext>
                </a:extLst>
              </a:tr>
              <a:tr h="1254308">
                <a:tc>
                  <a:txBody>
                    <a:bodyPr/>
                    <a:lstStyle/>
                    <a:p>
                      <a:pPr>
                        <a:lnSpc>
                          <a:spcPts val="1500"/>
                        </a:lnSpc>
                        <a:spcAft>
                          <a:spcPts val="800"/>
                        </a:spcAft>
                      </a:pPr>
                      <a:r>
                        <a:rPr lang="en-US" sz="1200">
                          <a:effectLst/>
                        </a:rPr>
                        <a:t>Admitting your mistakes, and learning from them.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tc>
                  <a:txBody>
                    <a:bodyPr/>
                    <a:lstStyle/>
                    <a:p>
                      <a:pPr>
                        <a:lnSpc>
                          <a:spcPts val="1500"/>
                        </a:lnSpc>
                        <a:spcAft>
                          <a:spcPts val="800"/>
                        </a:spcAft>
                      </a:pPr>
                      <a:r>
                        <a:rPr lang="en-US" sz="1200">
                          <a:effectLst/>
                        </a:rPr>
                        <a:t>Working hard to cover up mistakes, and hoping that you can fix the problem before anyone notices.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extLst>
                  <a:ext uri="{0D108BD9-81ED-4DB2-BD59-A6C34878D82A}">
                    <a16:rowId xmlns:a16="http://schemas.microsoft.com/office/drawing/2014/main" val="3886666348"/>
                  </a:ext>
                </a:extLst>
              </a:tr>
              <a:tr h="829791">
                <a:tc>
                  <a:txBody>
                    <a:bodyPr/>
                    <a:lstStyle/>
                    <a:p>
                      <a:pPr>
                        <a:lnSpc>
                          <a:spcPts val="1500"/>
                        </a:lnSpc>
                        <a:spcAft>
                          <a:spcPts val="800"/>
                        </a:spcAft>
                      </a:pPr>
                      <a:r>
                        <a:rPr lang="en-US" sz="1200">
                          <a:effectLst/>
                        </a:rPr>
                        <a:t>Waiting for others to congratulate you on your accomplishments.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tc>
                  <a:txBody>
                    <a:bodyPr/>
                    <a:lstStyle/>
                    <a:p>
                      <a:pPr>
                        <a:lnSpc>
                          <a:spcPts val="1500"/>
                        </a:lnSpc>
                        <a:spcAft>
                          <a:spcPts val="800"/>
                        </a:spcAft>
                      </a:pPr>
                      <a:r>
                        <a:rPr lang="en-US" sz="1200">
                          <a:effectLst/>
                        </a:rPr>
                        <a:t>Extolling your own virtues as often as possible to as many people as possible.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extLst>
                  <a:ext uri="{0D108BD9-81ED-4DB2-BD59-A6C34878D82A}">
                    <a16:rowId xmlns:a16="http://schemas.microsoft.com/office/drawing/2014/main" val="275022220"/>
                  </a:ext>
                </a:extLst>
              </a:tr>
              <a:tr h="1254308">
                <a:tc>
                  <a:txBody>
                    <a:bodyPr/>
                    <a:lstStyle/>
                    <a:p>
                      <a:pPr>
                        <a:lnSpc>
                          <a:spcPts val="1500"/>
                        </a:lnSpc>
                        <a:spcAft>
                          <a:spcPts val="800"/>
                        </a:spcAft>
                      </a:pPr>
                      <a:r>
                        <a:rPr lang="en-US" sz="1200">
                          <a:effectLst/>
                        </a:rPr>
                        <a:t>Accepting compliments graciously. "Thanks, I really worked hard on that prospectus. I'm pleased you recognize my efforts."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tc>
                  <a:txBody>
                    <a:bodyPr/>
                    <a:lstStyle/>
                    <a:p>
                      <a:pPr>
                        <a:lnSpc>
                          <a:spcPts val="1500"/>
                        </a:lnSpc>
                        <a:spcAft>
                          <a:spcPts val="800"/>
                        </a:spcAft>
                      </a:pPr>
                      <a:r>
                        <a:rPr lang="en-US" sz="1200" dirty="0">
                          <a:effectLst/>
                        </a:rPr>
                        <a:t>Dismissing compliments offhandedly. "Oh that prospectus was nothing really, anyone could have done it."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43510" marR="143510" marT="94615" marB="94615" anchor="b"/>
                </a:tc>
                <a:extLst>
                  <a:ext uri="{0D108BD9-81ED-4DB2-BD59-A6C34878D82A}">
                    <a16:rowId xmlns:a16="http://schemas.microsoft.com/office/drawing/2014/main" val="2993622154"/>
                  </a:ext>
                </a:extLst>
              </a:tr>
            </a:tbl>
          </a:graphicData>
        </a:graphic>
      </p:graphicFrame>
    </p:spTree>
    <p:extLst>
      <p:ext uri="{BB962C8B-B14F-4D97-AF65-F5344CB8AC3E}">
        <p14:creationId xmlns:p14="http://schemas.microsoft.com/office/powerpoint/2010/main" val="252974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603A-A1E3-4D43-AC99-66574BEE2398}"/>
              </a:ext>
            </a:extLst>
          </p:cNvPr>
          <p:cNvSpPr>
            <a:spLocks noGrp="1"/>
          </p:cNvSpPr>
          <p:nvPr>
            <p:ph type="ctrTitle"/>
          </p:nvPr>
        </p:nvSpPr>
        <p:spPr>
          <a:xfrm>
            <a:off x="1524000" y="532661"/>
            <a:ext cx="9144000" cy="1067539"/>
          </a:xfrm>
        </p:spPr>
        <p:txBody>
          <a:bodyPr>
            <a:normAutofit/>
          </a:bodyPr>
          <a:lstStyle/>
          <a:p>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How Do You Gain Self-Confidence, and Keep It?</a:t>
            </a:r>
            <a:br>
              <a:rPr lang="en-IN" sz="3200" b="1"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6C2B991-D233-4BFE-B504-BF834DDB1CA2}"/>
              </a:ext>
            </a:extLst>
          </p:cNvPr>
          <p:cNvSpPr>
            <a:spLocks noGrp="1"/>
          </p:cNvSpPr>
          <p:nvPr>
            <p:ph type="subTitle" idx="1"/>
          </p:nvPr>
        </p:nvSpPr>
        <p:spPr>
          <a:xfrm>
            <a:off x="1524000" y="1740024"/>
            <a:ext cx="9144000" cy="4376692"/>
          </a:xfrm>
        </p:spPr>
        <p:txBody>
          <a:bodyPr/>
          <a:lstStyle/>
          <a:p>
            <a:endParaRPr lang="en-US" sz="1800" b="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endParaRPr>
          </a:p>
          <a:p>
            <a:pPr marL="342900" indent="-342900" algn="l">
              <a:buFont typeface="+mj-lt"/>
              <a:buAutoNum type="arabicPeriod"/>
            </a:pPr>
            <a:r>
              <a:rPr lang="en-US"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Building Confident Habits</a:t>
            </a:r>
          </a:p>
          <a:p>
            <a:pPr marL="342900" indent="-342900" algn="l">
              <a:buFont typeface="+mj-lt"/>
              <a:buAutoNum type="arabicPeriod"/>
            </a:pPr>
            <a:endParaRPr lang="en-IN" sz="2800"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buFont typeface="+mj-lt"/>
              <a:buAutoNum type="arabicPeriod"/>
            </a:pPr>
            <a:r>
              <a:rPr lang="en-US"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Reviewing Past Achievements</a:t>
            </a:r>
          </a:p>
          <a:p>
            <a:pPr marL="342900" indent="-342900" algn="l">
              <a:buFont typeface="+mj-lt"/>
              <a:buAutoNum type="arabicPeriod"/>
            </a:pPr>
            <a:endParaRPr lang="en-IN" sz="2800"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buFont typeface="+mj-lt"/>
              <a:buAutoNum type="arabicPeriod"/>
            </a:pPr>
            <a:r>
              <a:rPr lang="en-US"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Setting Confidence-Boosting Goals</a:t>
            </a:r>
            <a:endParaRPr lang="en-IN" sz="2800"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27600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4417F-9BED-48F6-9189-A1391A75AF34}"/>
              </a:ext>
            </a:extLst>
          </p:cNvPr>
          <p:cNvSpPr>
            <a:spLocks noGrp="1"/>
          </p:cNvSpPr>
          <p:nvPr>
            <p:ph type="title"/>
          </p:nvPr>
        </p:nvSpPr>
        <p:spPr>
          <a:xfrm>
            <a:off x="838200" y="365125"/>
            <a:ext cx="10515600" cy="6222106"/>
          </a:xfrm>
        </p:spPr>
        <p:txBody>
          <a:bodyPr/>
          <a:lstStyle/>
          <a:p>
            <a:pPr fontAlgn="base">
              <a:lnSpc>
                <a:spcPts val="1465"/>
              </a:lnSpc>
              <a:spcAft>
                <a:spcPts val="1330"/>
              </a:spcAft>
            </a:pPr>
            <a:r>
              <a:rPr lang="en-US" sz="1800" b="1" dirty="0">
                <a:solidFill>
                  <a:srgbClr val="000000"/>
                </a:solidFill>
                <a:effectLst/>
                <a:latin typeface="Bookman Old Style" panose="02050604050505020204" pitchFamily="18" charset="0"/>
                <a:ea typeface="Times New Roman" panose="02020603050405020304" pitchFamily="18" charset="0"/>
              </a:rPr>
              <a:t>Further……</a:t>
            </a:r>
            <a:br>
              <a:rPr lang="en-US" sz="1800" b="1" dirty="0">
                <a:solidFill>
                  <a:srgbClr val="000000"/>
                </a:solidFill>
                <a:effectLst/>
                <a:latin typeface="Bookman Old Style" panose="02050604050505020204" pitchFamily="18" charset="0"/>
                <a:ea typeface="Times New Roman" panose="02020603050405020304" pitchFamily="18" charset="0"/>
              </a:rPr>
            </a:br>
            <a:br>
              <a:rPr lang="en-US" sz="1800" b="1" dirty="0">
                <a:solidFill>
                  <a:srgbClr val="000000"/>
                </a:solidFill>
                <a:effectLst/>
                <a:latin typeface="Bookman Old Style" panose="02050604050505020204" pitchFamily="18" charset="0"/>
                <a:ea typeface="Times New Roman" panose="02020603050405020304" pitchFamily="18" charset="0"/>
              </a:rPr>
            </a:br>
            <a:br>
              <a:rPr lang="en-US" sz="1800" b="1" dirty="0">
                <a:solidFill>
                  <a:srgbClr val="000000"/>
                </a:solidFill>
                <a:effectLst/>
                <a:latin typeface="Bookman Old Style" panose="02050604050505020204" pitchFamily="18" charset="0"/>
                <a:ea typeface="Times New Roman" panose="02020603050405020304" pitchFamily="18" charset="0"/>
              </a:rPr>
            </a:br>
            <a:br>
              <a:rPr lang="en-US" sz="1800" b="1" dirty="0">
                <a:solidFill>
                  <a:srgbClr val="000000"/>
                </a:solidFill>
                <a:effectLst/>
                <a:latin typeface="Bookman Old Style" panose="020506040505050202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Recognize and emphasize your strengths. Reward and praise yourself for your efforts and progress.</a:t>
            </a: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2000" dirty="0">
                <a:effectLst/>
                <a:latin typeface="Times New Roman" panose="02020603050405020304" pitchFamily="18" charset="0"/>
                <a:ea typeface="Calibri" panose="020F0502020204030204" pitchFamily="34" charset="0"/>
                <a:cs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When you stumble on an obstacle, treat yourself with kindness and compassion. Don't dwell on failure.</a:t>
            </a: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2000" dirty="0">
                <a:effectLst/>
                <a:latin typeface="Times New Roman" panose="02020603050405020304" pitchFamily="18" charset="0"/>
                <a:ea typeface="Calibri" panose="020F0502020204030204" pitchFamily="34" charset="0"/>
                <a:cs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Set realistic and achievable goals. Do not expect perfection; it is impossible to be perfect in every aspect of life.</a:t>
            </a: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2000" dirty="0">
                <a:effectLst/>
                <a:latin typeface="Times New Roman" panose="02020603050405020304" pitchFamily="18" charset="0"/>
                <a:ea typeface="Calibri" panose="020F0502020204030204" pitchFamily="34" charset="0"/>
                <a:cs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Slow down when you are feeling intense emotions and think logically about the situation.</a:t>
            </a: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2000" dirty="0">
                <a:effectLst/>
                <a:latin typeface="Times New Roman" panose="02020603050405020304" pitchFamily="18" charset="0"/>
                <a:ea typeface="Calibri" panose="020F0502020204030204" pitchFamily="34" charset="0"/>
                <a:cs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Challenge making assumptions about yourself, people and situations.</a:t>
            </a: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2000" dirty="0">
                <a:effectLst/>
                <a:latin typeface="Times New Roman" panose="02020603050405020304" pitchFamily="18" charset="0"/>
                <a:ea typeface="Calibri" panose="020F0502020204030204" pitchFamily="34" charset="0"/>
                <a:cs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Recognize that past negative life experiences do not dictate your future.</a:t>
            </a: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2000" dirty="0">
                <a:effectLst/>
                <a:latin typeface="Times New Roman" panose="02020603050405020304" pitchFamily="18" charset="0"/>
                <a:ea typeface="Calibri" panose="020F0502020204030204" pitchFamily="34" charset="0"/>
                <a:cs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Express your feelings, beliefs and needs directly and respectfully</a:t>
            </a: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2000" dirty="0">
                <a:effectLst/>
                <a:latin typeface="Times New Roman" panose="02020603050405020304" pitchFamily="18" charset="0"/>
                <a:ea typeface="Calibri" panose="020F0502020204030204" pitchFamily="34" charset="0"/>
                <a:cs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Learn to say no to unreasonable requests.</a:t>
            </a:r>
            <a:br>
              <a:rPr lang="en-IN" sz="20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6101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81C6A-CF00-40A7-ABE5-57951BA443B3}"/>
              </a:ext>
            </a:extLst>
          </p:cNvPr>
          <p:cNvSpPr>
            <a:spLocks noGrp="1"/>
          </p:cNvSpPr>
          <p:nvPr>
            <p:ph type="ctrTitle"/>
          </p:nvPr>
        </p:nvSpPr>
        <p:spPr>
          <a:xfrm>
            <a:off x="1524000" y="568171"/>
            <a:ext cx="9144000" cy="1032029"/>
          </a:xfrm>
        </p:spPr>
        <p:txBody>
          <a:bodyPr>
            <a:normAutofit/>
          </a:bodyPr>
          <a:lstStyle/>
          <a:p>
            <a:r>
              <a:rPr lang="en-IN" sz="4400" dirty="0">
                <a:latin typeface="Times New Roman" panose="02020603050405020304" pitchFamily="18" charset="0"/>
                <a:cs typeface="Times New Roman" panose="02020603050405020304" pitchFamily="18" charset="0"/>
              </a:rPr>
              <a:t>Self Esteem</a:t>
            </a:r>
          </a:p>
        </p:txBody>
      </p:sp>
      <p:sp>
        <p:nvSpPr>
          <p:cNvPr id="3" name="Subtitle 2">
            <a:extLst>
              <a:ext uri="{FF2B5EF4-FFF2-40B4-BE49-F238E27FC236}">
                <a16:creationId xmlns:a16="http://schemas.microsoft.com/office/drawing/2014/main" id="{7BBA5DE9-1FF6-45B2-AE2A-154D8D96915B}"/>
              </a:ext>
            </a:extLst>
          </p:cNvPr>
          <p:cNvSpPr>
            <a:spLocks noGrp="1"/>
          </p:cNvSpPr>
          <p:nvPr>
            <p:ph type="subTitle" idx="1"/>
          </p:nvPr>
        </p:nvSpPr>
        <p:spPr>
          <a:xfrm>
            <a:off x="1524000" y="2068497"/>
            <a:ext cx="9144000" cy="4092606"/>
          </a:xfrm>
        </p:spPr>
        <p:txBody>
          <a:bodyPr/>
          <a:lstStyle/>
          <a:p>
            <a:endParaRPr lang="en-IN" dirty="0"/>
          </a:p>
        </p:txBody>
      </p:sp>
      <p:pic>
        <p:nvPicPr>
          <p:cNvPr id="1026" name="Picture 2" descr="Free Vector | High self-esteem with woman and mirror">
            <a:extLst>
              <a:ext uri="{FF2B5EF4-FFF2-40B4-BE49-F238E27FC236}">
                <a16:creationId xmlns:a16="http://schemas.microsoft.com/office/drawing/2014/main" id="{745C86BF-D6DE-4EC6-B7D7-674A58792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5165" y="2357438"/>
            <a:ext cx="2716567" cy="2649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824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9D78C-B25B-4CD6-8D37-F572AC24F0E5}"/>
              </a:ext>
            </a:extLst>
          </p:cNvPr>
          <p:cNvSpPr>
            <a:spLocks noGrp="1"/>
          </p:cNvSpPr>
          <p:nvPr>
            <p:ph type="ctrTitle"/>
          </p:nvPr>
        </p:nvSpPr>
        <p:spPr>
          <a:xfrm>
            <a:off x="1524000" y="497151"/>
            <a:ext cx="9144000" cy="1103049"/>
          </a:xfrm>
        </p:spPr>
        <p:txBody>
          <a:bodyPr>
            <a:normAutofit/>
          </a:bodyPr>
          <a:lstStyle/>
          <a:p>
            <a:r>
              <a:rPr lang="en-IN" sz="4400" dirty="0">
                <a:latin typeface="Times New Roman" panose="02020603050405020304" pitchFamily="18" charset="0"/>
                <a:cs typeface="Times New Roman" panose="02020603050405020304" pitchFamily="18" charset="0"/>
              </a:rPr>
              <a:t>Self Esteem</a:t>
            </a:r>
          </a:p>
        </p:txBody>
      </p:sp>
      <p:sp>
        <p:nvSpPr>
          <p:cNvPr id="3" name="Subtitle 2">
            <a:extLst>
              <a:ext uri="{FF2B5EF4-FFF2-40B4-BE49-F238E27FC236}">
                <a16:creationId xmlns:a16="http://schemas.microsoft.com/office/drawing/2014/main" id="{BADF3C5C-2EC9-48B4-924D-9E68CA36CB46}"/>
              </a:ext>
            </a:extLst>
          </p:cNvPr>
          <p:cNvSpPr>
            <a:spLocks noGrp="1"/>
          </p:cNvSpPr>
          <p:nvPr>
            <p:ph type="subTitle" idx="1"/>
          </p:nvPr>
        </p:nvSpPr>
        <p:spPr>
          <a:xfrm>
            <a:off x="1524000" y="1793289"/>
            <a:ext cx="9144000" cy="4376691"/>
          </a:xfrm>
        </p:spPr>
        <p:txBody>
          <a:bodyPr>
            <a:normAutofit fontScale="92500" lnSpcReduction="20000"/>
          </a:bodyPr>
          <a:lstStyle/>
          <a:p>
            <a:pPr algn="l">
              <a:lnSpc>
                <a:spcPct val="150000"/>
              </a:lnSpc>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Self-esteem has to do with how worthwhile you feel. </a:t>
            </a:r>
          </a:p>
          <a:p>
            <a:pPr algn="l">
              <a:lnSpc>
                <a:spcPct val="150000"/>
              </a:lnSpc>
            </a:pPr>
            <a:endPar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l">
              <a:lnSpc>
                <a:spcPct val="150000"/>
              </a:lnSpc>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It’s different than the idea of self-confidence, which has more to do with your ability to do something successfully. </a:t>
            </a:r>
          </a:p>
          <a:p>
            <a:pPr algn="l">
              <a:lnSpc>
                <a:spcPct val="150000"/>
              </a:lnSpc>
            </a:pPr>
            <a:endPar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l">
              <a:lnSpc>
                <a:spcPct val="150000"/>
              </a:lnSpc>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Self-esteem has to do with your ideas about yourself. </a:t>
            </a:r>
          </a:p>
          <a:p>
            <a:pPr algn="l">
              <a:lnSpc>
                <a:spcPct val="150000"/>
              </a:lnSpc>
            </a:pPr>
            <a:endPar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l">
              <a:lnSpc>
                <a:spcPct val="150000"/>
              </a:lnSpc>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is based on how much you value yourself.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7741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14506-44A3-4AAF-A654-E800F00CB9BC}"/>
              </a:ext>
            </a:extLst>
          </p:cNvPr>
          <p:cNvSpPr>
            <a:spLocks noGrp="1"/>
          </p:cNvSpPr>
          <p:nvPr>
            <p:ph type="ctrTitle"/>
          </p:nvPr>
        </p:nvSpPr>
        <p:spPr>
          <a:xfrm>
            <a:off x="1524000" y="550417"/>
            <a:ext cx="9144000" cy="816744"/>
          </a:xfrm>
        </p:spPr>
        <p:txBody>
          <a:bodyPr>
            <a:normAutofit/>
          </a:bodyPr>
          <a:lstStyle/>
          <a:p>
            <a:r>
              <a:rPr lang="en-IN" sz="4400" dirty="0">
                <a:latin typeface="Times New Roman" panose="02020603050405020304" pitchFamily="18" charset="0"/>
                <a:cs typeface="Times New Roman" panose="02020603050405020304" pitchFamily="18" charset="0"/>
              </a:rPr>
              <a:t>Self Esteem Issues</a:t>
            </a:r>
          </a:p>
        </p:txBody>
      </p:sp>
      <p:sp>
        <p:nvSpPr>
          <p:cNvPr id="3" name="Subtitle 2">
            <a:extLst>
              <a:ext uri="{FF2B5EF4-FFF2-40B4-BE49-F238E27FC236}">
                <a16:creationId xmlns:a16="http://schemas.microsoft.com/office/drawing/2014/main" id="{5A97D357-A085-4C07-B93B-9D84955D76BA}"/>
              </a:ext>
            </a:extLst>
          </p:cNvPr>
          <p:cNvSpPr>
            <a:spLocks noGrp="1"/>
          </p:cNvSpPr>
          <p:nvPr>
            <p:ph type="subTitle" idx="1"/>
          </p:nvPr>
        </p:nvSpPr>
        <p:spPr>
          <a:xfrm>
            <a:off x="1390835" y="1571348"/>
            <a:ext cx="9144000" cy="4873840"/>
          </a:xfrm>
        </p:spPr>
        <p:txBody>
          <a:bodyPr>
            <a:noAutofit/>
          </a:bodyPr>
          <a:lstStyle/>
          <a:p>
            <a:pPr>
              <a:lnSpc>
                <a:spcPct val="107000"/>
              </a:lnSpc>
              <a:spcAft>
                <a:spcPts val="800"/>
              </a:spcAft>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Some common examples of low self-esteem might include:</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Hating yourself or feeling angry or frustrated about who you are.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Being obsessed with being perfect.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Hating your body.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Feeling worthless.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Being overly sensitive.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Feeling anxious and fearful.</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Constantly feeling angry.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Trying to be a people pleaser.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96497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6449C-FBE6-4E4F-BA1C-58D7C08A1F6B}"/>
              </a:ext>
            </a:extLst>
          </p:cNvPr>
          <p:cNvSpPr>
            <a:spLocks noGrp="1"/>
          </p:cNvSpPr>
          <p:nvPr>
            <p:ph type="ctrTitle"/>
          </p:nvPr>
        </p:nvSpPr>
        <p:spPr>
          <a:xfrm>
            <a:off x="1524000" y="470517"/>
            <a:ext cx="9144000" cy="834500"/>
          </a:xfrm>
        </p:spPr>
        <p:txBody>
          <a:bodyPr>
            <a:normAutofit/>
          </a:bodyPr>
          <a:lstStyle/>
          <a:p>
            <a:r>
              <a:rPr lang="en-IN" sz="4400" dirty="0">
                <a:latin typeface="Times New Roman" panose="02020603050405020304" pitchFamily="18" charset="0"/>
                <a:cs typeface="Times New Roman" panose="02020603050405020304" pitchFamily="18" charset="0"/>
              </a:rPr>
              <a:t>Building Self Esteem</a:t>
            </a:r>
          </a:p>
        </p:txBody>
      </p:sp>
      <p:sp>
        <p:nvSpPr>
          <p:cNvPr id="3" name="Subtitle 2">
            <a:extLst>
              <a:ext uri="{FF2B5EF4-FFF2-40B4-BE49-F238E27FC236}">
                <a16:creationId xmlns:a16="http://schemas.microsoft.com/office/drawing/2014/main" id="{E88575B0-E179-4EF9-9C71-6ADD6FC367EF}"/>
              </a:ext>
            </a:extLst>
          </p:cNvPr>
          <p:cNvSpPr>
            <a:spLocks noGrp="1"/>
          </p:cNvSpPr>
          <p:nvPr>
            <p:ph type="subTitle" idx="1"/>
          </p:nvPr>
        </p:nvSpPr>
        <p:spPr>
          <a:xfrm>
            <a:off x="1524000" y="1589104"/>
            <a:ext cx="9144000" cy="4696286"/>
          </a:xfrm>
        </p:spPr>
        <p:txBody>
          <a:bodyPr>
            <a:normAutofit/>
          </a:bodyPr>
          <a:lstStyle/>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Practice mindfulness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Change your story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Don’t compare yourself to others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Channel that inner rock star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Move your body more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Volunteer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Practice forgiveness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Realize that you are not your circumstances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12680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37263-8F09-42C3-B66B-61FE0FBCFBF0}"/>
              </a:ext>
            </a:extLst>
          </p:cNvPr>
          <p:cNvSpPr>
            <a:spLocks noGrp="1"/>
          </p:cNvSpPr>
          <p:nvPr>
            <p:ph type="ctrTitle"/>
          </p:nvPr>
        </p:nvSpPr>
        <p:spPr>
          <a:xfrm>
            <a:off x="1524000" y="452761"/>
            <a:ext cx="9144000" cy="878889"/>
          </a:xfrm>
        </p:spPr>
        <p:txBody>
          <a:bodyPr>
            <a:normAutofit/>
          </a:bodyPr>
          <a:lstStyle/>
          <a:p>
            <a:r>
              <a:rPr lang="en-IN" sz="4400" dirty="0">
                <a:latin typeface="Times New Roman" panose="02020603050405020304" pitchFamily="18" charset="0"/>
                <a:cs typeface="Times New Roman" panose="02020603050405020304" pitchFamily="18" charset="0"/>
              </a:rPr>
              <a:t>6. Attitude</a:t>
            </a:r>
          </a:p>
        </p:txBody>
      </p:sp>
      <p:sp>
        <p:nvSpPr>
          <p:cNvPr id="3" name="Subtitle 2">
            <a:extLst>
              <a:ext uri="{FF2B5EF4-FFF2-40B4-BE49-F238E27FC236}">
                <a16:creationId xmlns:a16="http://schemas.microsoft.com/office/drawing/2014/main" id="{6B4CA18B-A393-4385-AE32-02C4F33CF008}"/>
              </a:ext>
            </a:extLst>
          </p:cNvPr>
          <p:cNvSpPr>
            <a:spLocks noGrp="1"/>
          </p:cNvSpPr>
          <p:nvPr>
            <p:ph type="subTitle" idx="1"/>
          </p:nvPr>
        </p:nvSpPr>
        <p:spPr>
          <a:xfrm>
            <a:off x="1524000" y="1819921"/>
            <a:ext cx="9144000" cy="4456591"/>
          </a:xfrm>
        </p:spPr>
        <p:txBody>
          <a:bodyPr/>
          <a:lstStyle/>
          <a:p>
            <a:pPr algn="just">
              <a:lnSpc>
                <a:spcPct val="107000"/>
              </a:lnSpc>
              <a:spcBef>
                <a:spcPts val="1500"/>
              </a:spcBef>
              <a:spcAft>
                <a:spcPts val="15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According to Gordon Allport</a:t>
            </a:r>
            <a:r>
              <a:rPr lang="en-US" sz="2000" b="1" i="1" dirty="0">
                <a:effectLst/>
                <a:latin typeface="Times New Roman" panose="02020603050405020304" pitchFamily="18" charset="0"/>
                <a:ea typeface="Times New Roman" panose="02020603050405020304" pitchFamily="18" charset="0"/>
                <a:cs typeface="Times New Roman" panose="02020603050405020304" pitchFamily="18" charset="0"/>
              </a:rPr>
              <a:t>, “An attitude is a mental and neural state of readiness, organized through experience, exerting a directive or dynamic influence upon the individual’s response to all objects and situations with which it is related.”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500"/>
              </a:spcBef>
              <a:spcAft>
                <a:spcPts val="15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Frank Freeman said, </a:t>
            </a:r>
            <a:r>
              <a:rPr lang="en-US" sz="2000" b="1" i="1" dirty="0">
                <a:effectLst/>
                <a:latin typeface="Times New Roman" panose="02020603050405020304" pitchFamily="18" charset="0"/>
                <a:ea typeface="Times New Roman" panose="02020603050405020304" pitchFamily="18" charset="0"/>
                <a:cs typeface="Times New Roman" panose="02020603050405020304" pitchFamily="18" charset="0"/>
              </a:rPr>
              <a:t>“An attitude is a dispositional readiness to respond to certain institutions, persons or objects in a consistent manner which has been learned and has become one’s typical mode of response.”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l"/>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Thurstone said, </a:t>
            </a:r>
            <a:r>
              <a:rPr lang="en-US" sz="2000" b="1" i="1" dirty="0">
                <a:effectLst/>
                <a:latin typeface="Times New Roman" panose="02020603050405020304" pitchFamily="18" charset="0"/>
                <a:ea typeface="Times New Roman" panose="02020603050405020304" pitchFamily="18" charset="0"/>
                <a:cs typeface="Times New Roman" panose="02020603050405020304" pitchFamily="18" charset="0"/>
              </a:rPr>
              <a:t>“An attitude denotes the total of man’s inclinations and feelings, prejudice or bias, preconceived notions, ideas, fears, threats, and other any specific topic.”</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71154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41E59-119A-48DF-BC9F-0ED7EABCB053}"/>
              </a:ext>
            </a:extLst>
          </p:cNvPr>
          <p:cNvSpPr>
            <a:spLocks noGrp="1"/>
          </p:cNvSpPr>
          <p:nvPr>
            <p:ph type="ctrTitle"/>
          </p:nvPr>
        </p:nvSpPr>
        <p:spPr>
          <a:xfrm>
            <a:off x="1524000" y="449581"/>
            <a:ext cx="9144000" cy="1341119"/>
          </a:xfrm>
        </p:spPr>
        <p:txBody>
          <a:bodyPr>
            <a:normAutofit/>
          </a:bodyPr>
          <a:lstStyle/>
          <a:p>
            <a:r>
              <a:rPr lang="en-US" sz="4400" dirty="0">
                <a:effectLst/>
                <a:latin typeface="Times New Roman" panose="02020603050405020304" pitchFamily="18" charset="0"/>
                <a:ea typeface="Times New Roman" panose="02020603050405020304" pitchFamily="18" charset="0"/>
                <a:cs typeface="Times New Roman" panose="02020603050405020304" pitchFamily="18" charset="0"/>
              </a:rPr>
              <a:t>Factors influencing attitude</a:t>
            </a:r>
            <a:br>
              <a:rPr lang="en-IN" sz="4400" dirty="0">
                <a:effectLst/>
                <a:latin typeface="Times New Roman" panose="02020603050405020304" pitchFamily="18" charset="0"/>
                <a:ea typeface="Times New Roman" panose="02020603050405020304" pitchFamily="18" charset="0"/>
              </a:rPr>
            </a:br>
            <a:endParaRPr lang="en-IN" sz="4400" dirty="0"/>
          </a:p>
        </p:txBody>
      </p:sp>
      <p:sp>
        <p:nvSpPr>
          <p:cNvPr id="3" name="Subtitle 2">
            <a:extLst>
              <a:ext uri="{FF2B5EF4-FFF2-40B4-BE49-F238E27FC236}">
                <a16:creationId xmlns:a16="http://schemas.microsoft.com/office/drawing/2014/main" id="{1E02161D-B29E-4D0F-A310-919EFCE449BE}"/>
              </a:ext>
            </a:extLst>
          </p:cNvPr>
          <p:cNvSpPr>
            <a:spLocks noGrp="1"/>
          </p:cNvSpPr>
          <p:nvPr>
            <p:ph type="subTitle" idx="1"/>
          </p:nvPr>
        </p:nvSpPr>
        <p:spPr>
          <a:xfrm>
            <a:off x="1524000" y="1539240"/>
            <a:ext cx="9144000" cy="4533086"/>
          </a:xfrm>
        </p:spPr>
        <p:txBody>
          <a:bodyPr>
            <a:normAutofit fontScale="77500" lnSpcReduction="20000"/>
          </a:bodyPr>
          <a:lstStyle/>
          <a:p>
            <a:pPr marL="342900" lvl="0" indent="-342900" algn="just">
              <a:lnSpc>
                <a:spcPct val="107000"/>
              </a:lnSpc>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Social Factors.</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Direct Instruction.</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Family.</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Prejudices.</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Personal Experience.</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Media.</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Educational and Religious Institutions.</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Physical Factors.</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Economic Status and Occupations.</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4652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30412-559F-40A2-B921-51BD98BD3003}"/>
              </a:ext>
            </a:extLst>
          </p:cNvPr>
          <p:cNvSpPr>
            <a:spLocks noGrp="1"/>
          </p:cNvSpPr>
          <p:nvPr>
            <p:ph type="ctrTitle"/>
          </p:nvPr>
        </p:nvSpPr>
        <p:spPr>
          <a:xfrm>
            <a:off x="1524000" y="386103"/>
            <a:ext cx="9144000" cy="830138"/>
          </a:xfrm>
        </p:spPr>
        <p:txBody>
          <a:bodyPr>
            <a:normAutofit/>
          </a:bodyPr>
          <a:lstStyle/>
          <a:p>
            <a:r>
              <a:rPr lang="en-US" sz="4400" dirty="0">
                <a:latin typeface="Times New Roman" panose="02020603050405020304" pitchFamily="18" charset="0"/>
                <a:cs typeface="Times New Roman" panose="02020603050405020304" pitchFamily="18" charset="0"/>
              </a:rPr>
              <a:t>Components of Attitude</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6CE21C0-DCB5-40B6-8445-D9430184330A}"/>
              </a:ext>
            </a:extLst>
          </p:cNvPr>
          <p:cNvSpPr>
            <a:spLocks noGrp="1"/>
          </p:cNvSpPr>
          <p:nvPr>
            <p:ph type="subTitle" idx="1"/>
          </p:nvPr>
        </p:nvSpPr>
        <p:spPr>
          <a:xfrm>
            <a:off x="1524000" y="2032985"/>
            <a:ext cx="9144000" cy="4225771"/>
          </a:xfrm>
        </p:spPr>
        <p:txBody>
          <a:bodyPr/>
          <a:lstStyle/>
          <a:p>
            <a:pPr marL="342900" lvl="0" indent="-342900" algn="just">
              <a:lnSpc>
                <a:spcPct val="107000"/>
              </a:lnSpc>
              <a:spcAft>
                <a:spcPts val="8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Cognitive Component.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Affective Component.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Behavioral Component.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pic>
        <p:nvPicPr>
          <p:cNvPr id="4" name="Picture 3" descr="Components of Attitude">
            <a:extLst>
              <a:ext uri="{FF2B5EF4-FFF2-40B4-BE49-F238E27FC236}">
                <a16:creationId xmlns:a16="http://schemas.microsoft.com/office/drawing/2014/main" id="{F9FB4673-B5C6-4BCA-8913-91CD8D1BF1D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6662" y="3630967"/>
            <a:ext cx="4638675" cy="2379215"/>
          </a:xfrm>
          <a:prstGeom prst="rect">
            <a:avLst/>
          </a:prstGeom>
          <a:noFill/>
          <a:ln>
            <a:noFill/>
          </a:ln>
        </p:spPr>
      </p:pic>
    </p:spTree>
    <p:extLst>
      <p:ext uri="{BB962C8B-B14F-4D97-AF65-F5344CB8AC3E}">
        <p14:creationId xmlns:p14="http://schemas.microsoft.com/office/powerpoint/2010/main" val="2028098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AF57A-0AA9-43E5-B2BE-A3666A38F1D6}"/>
              </a:ext>
            </a:extLst>
          </p:cNvPr>
          <p:cNvSpPr>
            <a:spLocks noGrp="1"/>
          </p:cNvSpPr>
          <p:nvPr>
            <p:ph type="ctrTitle"/>
          </p:nvPr>
        </p:nvSpPr>
        <p:spPr>
          <a:xfrm>
            <a:off x="1524000" y="648071"/>
            <a:ext cx="9144000" cy="952129"/>
          </a:xfrm>
        </p:spPr>
        <p:txBody>
          <a:bodyPr>
            <a:normAutofit/>
          </a:bodyPr>
          <a:lstStyle/>
          <a:p>
            <a:r>
              <a:rPr lang="en-US" sz="4400" dirty="0">
                <a:latin typeface="Times New Roman" panose="02020603050405020304" pitchFamily="18" charset="0"/>
                <a:cs typeface="Times New Roman" panose="02020603050405020304" pitchFamily="18" charset="0"/>
              </a:rPr>
              <a:t>Barriers to change Attitudes</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5BC0450-5027-4D9C-9ED5-889C8C5717D9}"/>
              </a:ext>
            </a:extLst>
          </p:cNvPr>
          <p:cNvSpPr>
            <a:spLocks noGrp="1"/>
          </p:cNvSpPr>
          <p:nvPr>
            <p:ph type="subTitle" idx="1"/>
          </p:nvPr>
        </p:nvSpPr>
        <p:spPr>
          <a:xfrm>
            <a:off x="1524000" y="1953087"/>
            <a:ext cx="9144000" cy="4154750"/>
          </a:xfrm>
        </p:spPr>
        <p:txBody>
          <a:bodyPr>
            <a:normAutofit/>
          </a:bodyPr>
          <a:lstStyle/>
          <a:p>
            <a:pPr algn="just"/>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Barriers to Change Attitudes are:</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Prior Commitment.</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Insufficient Information.</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Balance and Consistency.</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Lack of Resources.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Improper Reward System.</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Resistance to Change.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59266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2745-7F77-42BB-9D23-4028B70051FC}"/>
              </a:ext>
            </a:extLst>
          </p:cNvPr>
          <p:cNvSpPr>
            <a:spLocks noGrp="1"/>
          </p:cNvSpPr>
          <p:nvPr>
            <p:ph type="ctrTitle"/>
          </p:nvPr>
        </p:nvSpPr>
        <p:spPr>
          <a:xfrm>
            <a:off x="1524000" y="506027"/>
            <a:ext cx="9144000" cy="834501"/>
          </a:xfrm>
        </p:spPr>
        <p:txBody>
          <a:bodyPr>
            <a:normAutofit fontScale="90000"/>
          </a:bodyPr>
          <a:lstStyle/>
          <a:p>
            <a:r>
              <a:rPr lang="en-IN" sz="4000" dirty="0">
                <a:latin typeface="Times New Roman" panose="02020603050405020304" pitchFamily="18" charset="0"/>
                <a:cs typeface="Times New Roman" panose="02020603050405020304" pitchFamily="18" charset="0"/>
              </a:rPr>
              <a:t>7. Basic Professional Etiquette and Manners</a:t>
            </a:r>
          </a:p>
        </p:txBody>
      </p:sp>
      <p:sp>
        <p:nvSpPr>
          <p:cNvPr id="3" name="Subtitle 2">
            <a:extLst>
              <a:ext uri="{FF2B5EF4-FFF2-40B4-BE49-F238E27FC236}">
                <a16:creationId xmlns:a16="http://schemas.microsoft.com/office/drawing/2014/main" id="{93303DAC-B4A2-4F90-BF67-E5FB71291046}"/>
              </a:ext>
            </a:extLst>
          </p:cNvPr>
          <p:cNvSpPr>
            <a:spLocks noGrp="1"/>
          </p:cNvSpPr>
          <p:nvPr>
            <p:ph type="subTitle" idx="1"/>
          </p:nvPr>
        </p:nvSpPr>
        <p:spPr>
          <a:xfrm>
            <a:off x="1524000" y="1775533"/>
            <a:ext cx="9144000" cy="4492101"/>
          </a:xfrm>
        </p:spPr>
        <p:txBody>
          <a:bodyPr>
            <a:normAutofit/>
          </a:bodyPr>
          <a:lstStyle/>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Make a good first impression</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Avoid gossip</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Communication is key</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Understand your work environment</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Be personal yet professional</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Small talk</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 shake</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Lunch meetings / Interviews</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Your online presence</a:t>
            </a:r>
          </a:p>
        </p:txBody>
      </p:sp>
    </p:spTree>
    <p:extLst>
      <p:ext uri="{BB962C8B-B14F-4D97-AF65-F5344CB8AC3E}">
        <p14:creationId xmlns:p14="http://schemas.microsoft.com/office/powerpoint/2010/main" val="23136091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1359D-D1CC-40FB-9158-FA46985BD226}"/>
              </a:ext>
            </a:extLst>
          </p:cNvPr>
          <p:cNvSpPr>
            <a:spLocks noGrp="1"/>
          </p:cNvSpPr>
          <p:nvPr>
            <p:ph type="title"/>
          </p:nvPr>
        </p:nvSpPr>
        <p:spPr>
          <a:xfrm>
            <a:off x="838200" y="1074198"/>
            <a:ext cx="10515600" cy="4722920"/>
          </a:xfrm>
        </p:spPr>
        <p:txBody>
          <a:bodyPr/>
          <a:lstStyle/>
          <a:p>
            <a:pPr algn="ctr"/>
            <a:r>
              <a:rPr lang="en-IN" dirty="0">
                <a:latin typeface="Times New Roman" panose="02020603050405020304" pitchFamily="18" charset="0"/>
                <a:cs typeface="Times New Roman" panose="02020603050405020304" pitchFamily="18" charset="0"/>
              </a:rPr>
              <a:t>8. Johari Window</a:t>
            </a:r>
          </a:p>
        </p:txBody>
      </p:sp>
    </p:spTree>
    <p:extLst>
      <p:ext uri="{BB962C8B-B14F-4D97-AF65-F5344CB8AC3E}">
        <p14:creationId xmlns:p14="http://schemas.microsoft.com/office/powerpoint/2010/main" val="3749365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8AE1A-7FE0-429F-A225-46A803C2A7BE}"/>
              </a:ext>
            </a:extLst>
          </p:cNvPr>
          <p:cNvSpPr>
            <a:spLocks noGrp="1"/>
          </p:cNvSpPr>
          <p:nvPr>
            <p:ph type="title"/>
          </p:nvPr>
        </p:nvSpPr>
        <p:spPr>
          <a:xfrm>
            <a:off x="838200" y="1544715"/>
            <a:ext cx="10515600" cy="4216893"/>
          </a:xfrm>
        </p:spPr>
        <p:txBody>
          <a:bodyPr/>
          <a:lstStyle/>
          <a:p>
            <a:pPr algn="ctr"/>
            <a:r>
              <a:rPr lang="en-IN"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143615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700</TotalTime>
  <Words>1407</Words>
  <Application>Microsoft Office PowerPoint</Application>
  <PresentationFormat>Widescreen</PresentationFormat>
  <Paragraphs>208</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Bookman Old Style</vt:lpstr>
      <vt:lpstr>Calibri</vt:lpstr>
      <vt:lpstr>Calibri Light</vt:lpstr>
      <vt:lpstr>Symbol</vt:lpstr>
      <vt:lpstr>Times New Roman</vt:lpstr>
      <vt:lpstr>Office Theme</vt:lpstr>
      <vt:lpstr>Behavioural Skills and  Professional Communication</vt:lpstr>
      <vt:lpstr>UNIT 1</vt:lpstr>
      <vt:lpstr>1. What is Behaviour?</vt:lpstr>
      <vt:lpstr>Behavioural Skills</vt:lpstr>
      <vt:lpstr>Essential Behavioural Skills</vt:lpstr>
      <vt:lpstr>2. Professional Communication</vt:lpstr>
      <vt:lpstr>Importance of  Professional Communication</vt:lpstr>
      <vt:lpstr>Forms of Communication at the Workplace</vt:lpstr>
      <vt:lpstr>Steps to improve Professional Communication</vt:lpstr>
      <vt:lpstr>More….</vt:lpstr>
      <vt:lpstr>3. Life Skills</vt:lpstr>
      <vt:lpstr>Life Skills</vt:lpstr>
      <vt:lpstr>Types of Life skills</vt:lpstr>
      <vt:lpstr>Continued…</vt:lpstr>
      <vt:lpstr>4. Social Skills</vt:lpstr>
      <vt:lpstr>Why social skills are important? </vt:lpstr>
      <vt:lpstr>Six examples of useful social skills </vt:lpstr>
      <vt:lpstr>How to improve Social Skills?</vt:lpstr>
      <vt:lpstr>5. Confidence Building</vt:lpstr>
      <vt:lpstr>PowerPoint Presentation</vt:lpstr>
      <vt:lpstr>How Do You Gain Self-Confidence, and Keep It? </vt:lpstr>
      <vt:lpstr>Further……     Recognize and emphasize your strengths. Reward and praise yourself for your efforts and progress.   When you stumble on an obstacle, treat yourself with kindness and compassion. Don't dwell on failure.   Set realistic and achievable goals. Do not expect perfection; it is impossible to be perfect in every aspect of life.   Slow down when you are feeling intense emotions and think logically about the situation.   Challenge making assumptions about yourself, people and situations.   Recognize that past negative life experiences do not dictate your future.   Express your feelings, beliefs and needs directly and respectfully   Learn to say no to unreasonable requests. </vt:lpstr>
      <vt:lpstr>Self Esteem</vt:lpstr>
      <vt:lpstr>Self Esteem</vt:lpstr>
      <vt:lpstr>Self Esteem Issues</vt:lpstr>
      <vt:lpstr>Building Self Esteem</vt:lpstr>
      <vt:lpstr>6. Attitude</vt:lpstr>
      <vt:lpstr>Factors influencing attitude </vt:lpstr>
      <vt:lpstr>Components of Attitude</vt:lpstr>
      <vt:lpstr>Barriers to change Attitudes</vt:lpstr>
      <vt:lpstr>7. Basic Professional Etiquette and Manners</vt:lpstr>
      <vt:lpstr>8. Johari Window</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 Behaviour Skills</dc:title>
  <dc:creator>jahna</dc:creator>
  <cp:lastModifiedBy>tsainikhitareddy@gmail.com</cp:lastModifiedBy>
  <cp:revision>48</cp:revision>
  <dcterms:created xsi:type="dcterms:W3CDTF">2021-04-01T04:10:56Z</dcterms:created>
  <dcterms:modified xsi:type="dcterms:W3CDTF">2025-06-29T15:00:22Z</dcterms:modified>
</cp:coreProperties>
</file>